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9" r:id="rId15"/>
    <p:sldId id="270"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0BC6E1-89EF-3385-2EC3-072CCFDD1C5C}" v="434" dt="2026-06-04T06:46:44.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1233"/>
                </a:solidFill>
                <a:latin typeface="Segoe UI Semibold"/>
              </a:defRPr>
            </a:pPr>
            <a:r>
              <a:rPr lang="en-US" sz="1200" b="0" i="0" u="none" strike="noStrike">
                <a:solidFill>
                  <a:srgbClr val="0B1233"/>
                </a:solidFill>
                <a:latin typeface="Segoe UI Semibold"/>
              </a:rPr>
              <a:t>Records retained through the pipeline</a:t>
            </a:r>
          </a:p>
        </c:rich>
      </c:tx>
      <c:overlay val="0"/>
    </c:title>
    <c:autoTitleDeleted val="0"/>
    <c:plotArea>
      <c:layout/>
      <c:barChart>
        <c:barDir val="col"/>
        <c:grouping val="clustered"/>
        <c:varyColors val="0"/>
        <c:ser>
          <c:idx val="0"/>
          <c:order val="0"/>
          <c:tx>
            <c:strRef>
              <c:f>Sheet1!$B$1</c:f>
              <c:strCache>
                <c:ptCount val="1"/>
                <c:pt idx="0">
                  <c:v>Records</c:v>
                </c:pt>
              </c:strCache>
            </c:strRef>
          </c:tx>
          <c:spPr>
            <a:solidFill>
              <a:srgbClr val="0091C2"/>
            </a:solidFill>
            <a:effectLst/>
          </c:spPr>
          <c:invertIfNegative val="0"/>
          <c:dPt>
            <c:idx val="0"/>
            <c:invertIfNegative val="0"/>
            <c:bubble3D val="0"/>
            <c:extLst>
              <c:ext xmlns:c16="http://schemas.microsoft.com/office/drawing/2014/chart" uri="{C3380CC4-5D6E-409C-BE32-E72D297353CC}">
                <c16:uniqueId val="{00000001-2D24-496F-A43B-9348471998E0}"/>
              </c:ext>
            </c:extLst>
          </c:dPt>
          <c:dPt>
            <c:idx val="1"/>
            <c:invertIfNegative val="0"/>
            <c:bubble3D val="0"/>
            <c:spPr>
              <a:solidFill>
                <a:srgbClr val="D98A00"/>
              </a:solidFill>
              <a:effectLst/>
            </c:spPr>
            <c:extLst>
              <c:ext xmlns:c16="http://schemas.microsoft.com/office/drawing/2014/chart" uri="{C3380CC4-5D6E-409C-BE32-E72D297353CC}">
                <c16:uniqueId val="{00000003-2D24-496F-A43B-9348471998E0}"/>
              </c:ext>
            </c:extLst>
          </c:dPt>
          <c:dPt>
            <c:idx val="2"/>
            <c:invertIfNegative val="0"/>
            <c:bubble3D val="0"/>
            <c:spPr>
              <a:solidFill>
                <a:srgbClr val="12936A"/>
              </a:solidFill>
              <a:effectLst/>
            </c:spPr>
            <c:extLst>
              <c:ext xmlns:c16="http://schemas.microsoft.com/office/drawing/2014/chart" uri="{C3380CC4-5D6E-409C-BE32-E72D297353CC}">
                <c16:uniqueId val="{00000005-2D24-496F-A43B-9348471998E0}"/>
              </c:ext>
            </c:extLst>
          </c:dPt>
          <c:dLbls>
            <c:numFmt formatCode="#,##0" sourceLinked="0"/>
            <c:spPr>
              <a:noFill/>
              <a:ln>
                <a:noFill/>
              </a:ln>
              <a:effectLst/>
            </c:spPr>
            <c:txPr>
              <a:bodyPr/>
              <a:lstStyle/>
              <a:p>
                <a:pPr>
                  <a:defRPr sz="900" b="0" i="0" u="none" strike="noStrike">
                    <a:solidFill>
                      <a:srgbClr val="3340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Raw scrape</c:v>
                </c:pt>
                <c:pt idx="1">
                  <c:v>After cleaning</c:v>
                </c:pt>
                <c:pt idx="2">
                  <c:v>With RSI</c:v>
                </c:pt>
              </c:strCache>
            </c:strRef>
          </c:cat>
          <c:val>
            <c:numRef>
              <c:f>Sheet1!$B$2:$B$4</c:f>
              <c:numCache>
                <c:formatCode>General</c:formatCode>
                <c:ptCount val="3"/>
                <c:pt idx="0">
                  <c:v>749460</c:v>
                </c:pt>
                <c:pt idx="1">
                  <c:v>463378</c:v>
                </c:pt>
                <c:pt idx="2">
                  <c:v>463378</c:v>
                </c:pt>
              </c:numCache>
            </c:numRef>
          </c:val>
          <c:extLst>
            <c:ext xmlns:c16="http://schemas.microsoft.com/office/drawing/2014/chart" uri="{C3380CC4-5D6E-409C-BE32-E72D297353CC}">
              <c16:uniqueId val="{00000006-2D24-496F-A43B-9348471998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796"/>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1233"/>
                </a:solidFill>
                <a:latin typeface="Segoe UI Semibold"/>
              </a:defRPr>
            </a:pPr>
            <a:r>
              <a:rPr lang="en-US" sz="1200" b="0" i="0" u="none" strike="noStrike">
                <a:solidFill>
                  <a:srgbClr val="0B1233"/>
                </a:solidFill>
                <a:latin typeface="Segoe UI Semibold"/>
              </a:rPr>
              <a:t>Out-of-sample portfolio ROI (%)</a:t>
            </a:r>
          </a:p>
        </c:rich>
      </c:tx>
      <c:overlay val="0"/>
    </c:title>
    <c:autoTitleDeleted val="0"/>
    <c:plotArea>
      <c:layout/>
      <c:barChart>
        <c:barDir val="col"/>
        <c:grouping val="clustered"/>
        <c:varyColors val="0"/>
        <c:ser>
          <c:idx val="0"/>
          <c:order val="0"/>
          <c:tx>
            <c:strRef>
              <c:f>Sheet1!$B$1</c:f>
              <c:strCache>
                <c:ptCount val="1"/>
                <c:pt idx="0">
                  <c:v>Portfolio ROI %</c:v>
                </c:pt>
              </c:strCache>
            </c:strRef>
          </c:tx>
          <c:spPr>
            <a:solidFill>
              <a:srgbClr val="0091C2"/>
            </a:solidFill>
            <a:effectLst/>
          </c:spPr>
          <c:invertIfNegative val="0"/>
          <c:dPt>
            <c:idx val="0"/>
            <c:invertIfNegative val="0"/>
            <c:bubble3D val="0"/>
            <c:extLst>
              <c:ext xmlns:c16="http://schemas.microsoft.com/office/drawing/2014/chart" uri="{C3380CC4-5D6E-409C-BE32-E72D297353CC}">
                <c16:uniqueId val="{00000001-CFDC-44C7-8BE3-CE8D6F21FF50}"/>
              </c:ext>
            </c:extLst>
          </c:dPt>
          <c:dPt>
            <c:idx val="1"/>
            <c:invertIfNegative val="0"/>
            <c:bubble3D val="0"/>
            <c:spPr>
              <a:solidFill>
                <a:srgbClr val="D98A00"/>
              </a:solidFill>
              <a:effectLst/>
            </c:spPr>
            <c:extLst>
              <c:ext xmlns:c16="http://schemas.microsoft.com/office/drawing/2014/chart" uri="{C3380CC4-5D6E-409C-BE32-E72D297353CC}">
                <c16:uniqueId val="{00000003-CFDC-44C7-8BE3-CE8D6F21FF50}"/>
              </c:ext>
            </c:extLst>
          </c:dPt>
          <c:dLbls>
            <c:numFmt formatCode="#,##0.0&quot;%&quot;" sourceLinked="0"/>
            <c:spPr>
              <a:noFill/>
              <a:ln>
                <a:noFill/>
              </a:ln>
              <a:effectLst/>
            </c:spPr>
            <c:txPr>
              <a:bodyPr/>
              <a:lstStyle/>
              <a:p>
                <a:pPr>
                  <a:defRPr sz="1100" b="0" i="0" u="none" strike="noStrike">
                    <a:solidFill>
                      <a:srgbClr val="3340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Random Forest</c:v>
                </c:pt>
                <c:pt idx="1">
                  <c:v>LightGBM</c:v>
                </c:pt>
              </c:strCache>
            </c:strRef>
          </c:cat>
          <c:val>
            <c:numRef>
              <c:f>Sheet1!$B$2:$B$3</c:f>
              <c:numCache>
                <c:formatCode>General</c:formatCode>
                <c:ptCount val="2"/>
                <c:pt idx="0">
                  <c:v>139.30000000000001</c:v>
                </c:pt>
                <c:pt idx="1">
                  <c:v>14.8</c:v>
                </c:pt>
              </c:numCache>
            </c:numRef>
          </c:val>
          <c:extLst>
            <c:ext xmlns:c16="http://schemas.microsoft.com/office/drawing/2014/chart" uri="{C3380CC4-5D6E-409C-BE32-E72D297353CC}">
              <c16:uniqueId val="{00000004-CFDC-44C7-8BE3-CE8D6F21FF5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05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0180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final-year project is the PSX Stock Buy/Sell Signal Prediction System — a complete machine-learning pipeline for the Pakistan Stock Exchange. It scrapes five years of historical price data, engineers technical indicators, trains two models (Random Forest and LightGBM) to predict short-term up-moves, converts those probabilities into Buy/Sell signals under strict risk rules, and presents everything in an interactive Streamlit dashboard. The team is Muhammad Abdullah (team lead — scraping, RSI, both ML models and integration), Sheeraz (data cleaning and preparation), and Rabia (the Streamlit dashboard, visualization and UI). The whole stack is Python: Selenium, scikit-learn, LightGBM, Streamlit and Plotly.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retail investors on the Pakistan Stock Exchange mostly act on tips and emotion, with no repeatable, data-backed method for timing entries and exits. The business value of our system is three-fold — it produces objective Buy/Sell/Hold calls for every stock each day, every signal is validated through a risk-managed backtest, and each call is explainable (an ML probability plus technical confirmations). PSX matters because it has hundreds of liquid tickers and is highly volatile, yet has far fewer free analytical tools than developed markets and offers no clean public API. The four engineering challenges we solved are shown on the right: getting clean data, controlling overfitting via out-of-sample testing, handling class imbalance with balanced weights, and capping downside risk with ATR stops and a hard loss cap.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comes from the official PSX Data Portal at dps.psx.com.pk/historical. We wrote an automated scraper using Selenium to drive the page and BeautifulSoup with pandas to parse each day's table. It iterates over every business day across roughly five years, paginates through each day's results, and de-duplicates by stock symbol before saving. In total we scraped 749,460 raw daily records covering 3,768 unique tickers. After removing derivative/futures symbols containing a hyphen, 463,378 clean rows remain. Each record carries 13 columns — the raw market fields (OHLC, volume, LDCP, change) plus three engineered RSI columns at 1, 7 and 30-day horizons. The bar chart shows how many rows survive each pipeline stage; cleaning removes about 38% of rows, and the RSI step preserves the row count while adding indicator columns. Coverage runs from March 2021 to March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Scoping kept the project focused and achievable. In scope: the full offline pipeline — scraping, cleaning, RSI and technical feature engineering, two machine-learning models (Random Forest and LightGBM), generation of Buy / Strong Buy / Hold signals, a risk-managed backtest, and the Streamlit dashboard with a paper-trading simulator. Deliberately out of scope: anything touching real money or live markets — automated trade execution, portfolio advisory, brokerage integration, international exchanges, real-time intraday data, deep-learning models, and fundamental or news-sentiment analysis. This is an educational research and simulation system, not a trading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follows the pipeline on the left, top to bottom. We start at the PSX data source, scrape it with Selenium and BeautifulSoup, clean and de-duplicate it, then engineer technical features including multi-period RSI, MACD, ATR and Bollinger Bands. The same feature set feeds two models — Random Forest and LightGBM. Each predicts the probability of a short-term up-move, which is turned into Buy/Sell signals and finally surfaced in the Streamlit dashboard. On the right we explain model choice: Random Forest is our robust, interpretable baseline using bagged trees with balanced class weights; LightGBM is a gradient-boosting model with a higher accuracy ceiling thanks to leaf-wise growth, L1/L2 regularization and subsampling. The bottom panel summarizes the data flow in one line — from raw prices, through cleaning and feature engineering, a time-based train/test split, probability scoring, quant filters, signal generation, backtesting, and finally the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was divided cleanly by module. Muhammad Abdullah, the team lead, owned the data scraper, the RSI calculator, both machine-learning models — Random Forest and LightGBM — and the overall integration. Sheeraz owned data cleaning and preparation, implemented in clean_existing_data.py: de-duplication, removing hyphenated derivative symbols, and normalizing data types. Rabia built the Streamlit dashboard and the orchestration entry point — app.py and run_pipeline.py — covering all visualization, the paper-trading simulator and the UI. The whole pipeline is wired together by run_pipeline.py, which runs the four stages in sequence with a single command.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clean five-layer pipeline, orchestrated end-to-end by run_pipeline.py in four steps. Layer one is data acquisition — the Selenium and BeautifulSoup scraper pulling from the PSX portal. Layer two is processing — cleaning in clean_existing_data.py and indicator computation in rsi_calculator.py, plus the technical feature engineering done inside the model scripts. Layer three is machine learning — random_forest.py and light_gbm.py, each of which trains the model, tests out-of-sample, generates signals and runs the backtest. Layer four is the output artifacts — the signal, trade-log, portfolio-history and position-sensitivity CSVs for both models. Layer five is presentation — app.py, the Streamlit dashboard with seven pages, Plotly charts and the paper simulator, which simply reads those CSVs. The layers are decoupled through CSV files, so each can be developed and tested independently.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share the same eight engineered features, shown on the left — two RSI horizons, a volume ratio, the MACD histogram, ATR as a percentage of price, distance from the 20-day EMA and 200-day SMA, and Bollinger Band width. These are computed from standard indicators: RSI, MACD, ATR, Bollinger Bands and moving averages. The prediction targets differ slightly by model: Random Forest predicts whether price rises more than 1.5% within five days; LightGBM uses a longer, stronger move — over 3% within ten days — to match swing-trade execution. We validate with a strict time-based split: train on the earliest four years, test only on the most recent twelve months, so there is no look-ahead. We score with ROC-AUC and use balanced class weights because up-moves are the minority class. The table on the right gives the exact configuration: Random Forest is 100 trees at depth 6; LightGBM is 300 boosting rounds at learning rate 0.05 with leaf-wise growth and L1/L2 regularization. Both use a fixed random seed for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probability alone is not a trade — it has to pass several filters. The decision framework, on the left, works as a funnel. First, a probability gate: Random Forest needs at least 0.55 (0.65 for a strong buy); LightGBM uses dynamic 90th-95th percentile thresholds with floors. Then quant confirmations must agree — an uptrend with close above the 50-day EMA, a positive MACD histogram, and above-average volume; two confirmations give a BUY, three give a STRONG BUY. A regime filter requires minimum liquidity and volatility, and we reject overbought names where RSI is very high. Everything else is HOLD. On the right is the backtest engine that turns signals into trades: Rs. 100,000 of starting capital, a small number of concurrent positions, ATR-based trailing stops with a hard 8-10% loss cap, reward targets, break-even lock-in, a time stop, and risk-based position sizing. Every trade, the equity curve and a position-count sensitivity sweep are exported to CSV. The strip at the bottom shows that funnel end to 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out-of-sample results — the models never saw this last year during training. On the same Rs. 100,000 starting capital and a maximum of two concurrent positions, Random Forest turned 100,000 into about 239,000, a 139% portfolio ROI across 39 trades, with a 46% win rate and an average trade of plus 5.3%. LightGBM was more conservative — about 15% ROI over 51 trades at a 43% win rate. Both have similar best trades near plus 47%, but Random Forest's risk rules let winners run further. Two honest caveats: first, the position-sensitivity sweep shows results depend on how many positions you allow — Random Forest peaks around 144% at three positions, while LightGBM improves steadily as you add slots. Second, and most importantly, this is a historical backtest and an educational simulation, not financial advice; real trading would face costs, slippage and changing market regimes.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Streamlit app and it never re-runs the models — it simply reads the CSV artifacts the pipeline produced. On the left is the load path: it finds the Random Forest and LightGBM output CSVs, loads them through a cached loader so the app stays fast, computes a unified set of metrics per model — ROI, win rate, profit factor — and exposes everything through seven pages. Those pages, on the right, are: a main Dashboard with KPI cards and the equity curve; a side-by-side Model Comparison; a Position Sensitivity explorer; a Recommendations page with model-overlap analysis; an interactive two-stock paper-trading Simulator with a 10% stop and 8% target rule; a Trade History page with exit-reason breakdowns; and a Search page across all historical signals and trades. It's built with Streamlit, Plotly, pandas and NumPy, with a custom dark glassmorphism theme.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faithful mock-up of the actual running dashboard, recreated from the Streamlit code in app.py. On the left is the navigation sidebar with all seven pages and a loaded-models indicator. The main area opens with a hero banner, then four KPI cards — final equity, net profit, win rate and the latest buy calls — followed by the headline visual: the portfolio equity curve comparing both models. You can clearly see Random Forest, in cyan, climbing far above LightGBM in gold over the test year, peaking near 390,000 before settling around 239,000. To the right is the model scoreboard summarizing ROI and win rate. The real app uses a dark glassmorphism theme with Plotly charts, and every number here is pulled live from the generated CSV files. A footer reminds users it's an educational paper simulator capped at two stocks with rule-controlled sells.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780B-DB97-CC48-4317-06739BD01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486F0-01E5-D21D-5616-AF52DDD1E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BA42F-D61A-28BB-A83B-6FDA8E472012}"/>
              </a:ext>
            </a:extLst>
          </p:cNvPr>
          <p:cNvSpPr>
            <a:spLocks noGrp="1"/>
          </p:cNvSpPr>
          <p:nvPr>
            <p:ph type="body" idx="1"/>
          </p:nvPr>
        </p:nvSpPr>
        <p:spPr/>
        <p:txBody>
          <a:bodyPr/>
          <a:lstStyle/>
          <a:p>
            <a:r>
              <a:rPr lang="en-US" dirty="0"/>
              <a:t>This is a faithful mock-up of the actual running dashboard, recreated from the Streamlit code in app.py. On the left is the navigation sidebar with all seven pages and a loaded-models indicator. The main area opens with a hero banner, then four KPI cards — final equity, net profit, win rate and the latest buy calls — followed by the headline visual: the portfolio equity curve comparing both models. You can clearly see Random Forest, in cyan, climbing far above LightGBM in gold over the test year, peaking near 390,000 before settling around 239,000. To the right is the model scoreboard summarizing ROI and win rate. The real app uses a dark glassmorphism theme with Plotly charts, and every number here is pulled live from the generated CSV files. A footer reminds users it's an educational paper simulator capped at two stocks with rule-controlled sells.</a:t>
            </a:r>
          </a:p>
        </p:txBody>
      </p:sp>
      <p:sp>
        <p:nvSpPr>
          <p:cNvPr id="4" name="Slide Number Placeholder 3">
            <a:extLst>
              <a:ext uri="{FF2B5EF4-FFF2-40B4-BE49-F238E27FC236}">
                <a16:creationId xmlns:a16="http://schemas.microsoft.com/office/drawing/2014/main" id="{F8852F03-E330-6A8D-E923-728222213D7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66850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8BD70-1D48-FE00-0D37-AEF3AFA98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758E4-FFF3-A6B7-C658-FCA622DC40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28508-DC39-CC64-72DE-A3AA7C7362D1}"/>
              </a:ext>
            </a:extLst>
          </p:cNvPr>
          <p:cNvSpPr>
            <a:spLocks noGrp="1"/>
          </p:cNvSpPr>
          <p:nvPr>
            <p:ph type="body" idx="1"/>
          </p:nvPr>
        </p:nvSpPr>
        <p:spPr/>
        <p:txBody>
          <a:bodyPr/>
          <a:lstStyle/>
          <a:p>
            <a:r>
              <a:rPr lang="en-US" dirty="0"/>
              <a:t>This is a faithful mock-up of the actual running dashboard, recreated from the Streamlit code in app.py. On the left is the navigation sidebar with all seven pages and a loaded-models indicator. The main area opens with a hero banner, then four KPI cards — final equity, net profit, win rate and the latest buy calls — followed by the headline visual: the portfolio equity curve comparing both models. You can clearly see Random Forest, in cyan, climbing far above LightGBM in gold over the test year, peaking near 390,000 before settling around 239,000. To the right is the model scoreboard summarizing ROI and win rate. The real app uses a dark glassmorphism theme with Plotly charts, and every number here is pulled live from the generated CSV files. A footer reminds users it's an educational paper simulator capped at two stocks with rule-controlled sells.</a:t>
            </a:r>
          </a:p>
        </p:txBody>
      </p:sp>
      <p:sp>
        <p:nvSpPr>
          <p:cNvPr id="4" name="Slide Number Placeholder 3">
            <a:extLst>
              <a:ext uri="{FF2B5EF4-FFF2-40B4-BE49-F238E27FC236}">
                <a16:creationId xmlns:a16="http://schemas.microsoft.com/office/drawing/2014/main" id="{26D0F8E0-2A85-B398-B35F-18F329446BF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62288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675AE-8B66-311E-C05B-F97C7832D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B92E1-10E7-E956-ACA3-B15644D8F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7ACCE-B4CA-5B83-9B40-71128C8D457E}"/>
              </a:ext>
            </a:extLst>
          </p:cNvPr>
          <p:cNvSpPr>
            <a:spLocks noGrp="1"/>
          </p:cNvSpPr>
          <p:nvPr>
            <p:ph type="body" idx="1"/>
          </p:nvPr>
        </p:nvSpPr>
        <p:spPr/>
        <p:txBody>
          <a:bodyPr/>
          <a:lstStyle/>
          <a:p>
            <a:r>
              <a:rPr lang="en-US" dirty="0"/>
              <a:t>This is a faithful mock-up of the actual running dashboard, recreated from the Streamlit code in app.py. On the left is the navigation sidebar with all seven pages and a loaded-models indicator. The main area opens with a hero banner, then four KPI cards — final equity, net profit, win rate and the latest buy calls — followed by the headline visual: the portfolio equity curve comparing both models. You can clearly see Random Forest, in cyan, climbing far above LightGBM in gold over the test year, peaking near 390,000 before settling around 239,000. To the right is the model scoreboard summarizing ROI and win rate. The real app uses a dark glassmorphism theme with Plotly charts, and every number here is pulled live from the generated CSV files. A footer reminds users it's an educational paper simulator capped at two stocks with rule-controlled sells.</a:t>
            </a:r>
          </a:p>
        </p:txBody>
      </p:sp>
      <p:sp>
        <p:nvSpPr>
          <p:cNvPr id="4" name="Slide Number Placeholder 3">
            <a:extLst>
              <a:ext uri="{FF2B5EF4-FFF2-40B4-BE49-F238E27FC236}">
                <a16:creationId xmlns:a16="http://schemas.microsoft.com/office/drawing/2014/main" id="{74DDAA79-81E0-5AA3-4F4F-44044903743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80362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delivered a complete, automated machine-learning pipeline for the Pakistan Stock Exchange — from scraping five years of data across nearly 3,800 tickers, through feature engineering, two trained models, explainable risk-managed signals, a full backtest, and an interactive seven-page dashboard, all runnable with a single command. We're honest about limitations: the results are in-sample to one historical year and don't yet model trading costs. Our next steps are walk-forward validation, adding transaction costs and slippage, exploring deep-learning sequence models like LSTMs, wiring in a live data feed with alerts, and adding fundamental and news-sentiment features. Thank you — Abdullah, Sheeraz and Rabia — and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33"/>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00D4FF">
              <a:alpha val="14000"/>
            </a:srgbClr>
          </a:solidFill>
          <a:ln w="12700">
            <a:solidFill>
              <a:srgbClr val="333333"/>
            </a:solidFill>
            <a:prstDash val="solid"/>
          </a:ln>
        </p:spPr>
      </p:sp>
      <p:sp>
        <p:nvSpPr>
          <p:cNvPr id="3" name="Shape 1"/>
          <p:cNvSpPr/>
          <p:nvPr/>
        </p:nvSpPr>
        <p:spPr>
          <a:xfrm>
            <a:off x="9448495" y="4023360"/>
            <a:ext cx="4297680" cy="4297680"/>
          </a:xfrm>
          <a:prstGeom prst="ellipse">
            <a:avLst/>
          </a:prstGeom>
          <a:solidFill>
            <a:srgbClr val="D81E7A">
              <a:alpha val="12000"/>
            </a:srgbClr>
          </a:solidFill>
          <a:ln w="12700">
            <a:solidFill>
              <a:srgbClr val="333333"/>
            </a:solidFill>
            <a:prstDash val="solid"/>
          </a:ln>
        </p:spPr>
      </p:sp>
      <p:sp>
        <p:nvSpPr>
          <p:cNvPr id="4" name="Shape 2"/>
          <p:cNvSpPr/>
          <p:nvPr/>
        </p:nvSpPr>
        <p:spPr>
          <a:xfrm>
            <a:off x="7985455" y="-2011680"/>
            <a:ext cx="3657600" cy="3657600"/>
          </a:xfrm>
          <a:prstGeom prst="ellipse">
            <a:avLst/>
          </a:prstGeom>
          <a:solidFill>
            <a:srgbClr val="FFB703">
              <a:alpha val="10000"/>
            </a:srgbClr>
          </a:solidFill>
          <a:ln w="12700">
            <a:solidFill>
              <a:srgbClr val="333333"/>
            </a:solidFill>
            <a:prstDash val="solid"/>
          </a:ln>
        </p:spPr>
      </p:sp>
      <p:sp>
        <p:nvSpPr>
          <p:cNvPr id="5" name="Text 3"/>
          <p:cNvSpPr/>
          <p:nvPr/>
        </p:nvSpPr>
        <p:spPr>
          <a:xfrm>
            <a:off x="914400" y="868680"/>
            <a:ext cx="10058400" cy="274320"/>
          </a:xfrm>
          <a:prstGeom prst="rect">
            <a:avLst/>
          </a:prstGeom>
          <a:noFill/>
          <a:ln/>
        </p:spPr>
        <p:txBody>
          <a:bodyPr wrap="square" lIns="0" tIns="0" rIns="0" bIns="0" rtlCol="0" anchor="ctr"/>
          <a:lstStyle/>
          <a:p>
            <a:pPr marL="0" indent="0">
              <a:buNone/>
            </a:pPr>
            <a:r>
              <a:rPr lang="en-US" sz="1250" b="1" kern="0" spc="300" dirty="0">
                <a:solidFill>
                  <a:srgbClr val="00D4FF"/>
                </a:solidFill>
                <a:latin typeface="Segoe UI Semibold" pitchFamily="34" charset="0"/>
                <a:ea typeface="Segoe UI Semibold" pitchFamily="34" charset="-122"/>
                <a:cs typeface="Segoe UI Semibold" pitchFamily="34" charset="-120"/>
              </a:rPr>
              <a:t>MACHINE LEARNING  ·  FINTECH</a:t>
            </a:r>
            <a:endParaRPr lang="en-US" sz="1250" dirty="0"/>
          </a:p>
        </p:txBody>
      </p:sp>
      <p:sp>
        <p:nvSpPr>
          <p:cNvPr id="6" name="Text 4"/>
          <p:cNvSpPr/>
          <p:nvPr/>
        </p:nvSpPr>
        <p:spPr>
          <a:xfrm>
            <a:off x="914400" y="1298448"/>
            <a:ext cx="10424160" cy="1691640"/>
          </a:xfrm>
          <a:prstGeom prst="rect">
            <a:avLst/>
          </a:prstGeom>
          <a:noFill/>
          <a:ln/>
        </p:spPr>
        <p:txBody>
          <a:bodyPr wrap="square" lIns="0" tIns="0" rIns="0" bIns="0" rtlCol="0" anchor="ctr"/>
          <a:lstStyle/>
          <a:p>
            <a:pPr marL="0" indent="0">
              <a:lnSpc>
                <a:spcPct val="98000"/>
              </a:lnSpc>
              <a:buNone/>
            </a:pPr>
            <a:r>
              <a:rPr lang="en-US" sz="4600" b="1" dirty="0">
                <a:solidFill>
                  <a:srgbClr val="FFFFFF"/>
                </a:solidFill>
                <a:latin typeface="Segoe UI Black" pitchFamily="34" charset="0"/>
                <a:ea typeface="Segoe UI Black" pitchFamily="34" charset="-122"/>
                <a:cs typeface="Segoe UI Black" pitchFamily="34" charset="-120"/>
              </a:rPr>
              <a:t>PSX Stock Buy / Sell Signal</a:t>
            </a:r>
            <a:endParaRPr lang="en-US" sz="4600" dirty="0"/>
          </a:p>
          <a:p>
            <a:pPr marL="0" indent="0">
              <a:lnSpc>
                <a:spcPct val="98000"/>
              </a:lnSpc>
              <a:buNone/>
            </a:pPr>
            <a:r>
              <a:rPr lang="en-US" sz="4600" b="1" dirty="0">
                <a:solidFill>
                  <a:srgbClr val="FFFFFF"/>
                </a:solidFill>
                <a:latin typeface="Segoe UI Black" pitchFamily="34" charset="0"/>
                <a:ea typeface="Segoe UI Black" pitchFamily="34" charset="-122"/>
                <a:cs typeface="Segoe UI Black" pitchFamily="34" charset="-120"/>
              </a:rPr>
              <a:t>Prediction System</a:t>
            </a:r>
            <a:endParaRPr lang="en-US" sz="4600" dirty="0"/>
          </a:p>
        </p:txBody>
      </p:sp>
      <p:sp>
        <p:nvSpPr>
          <p:cNvPr id="7" name="Text 5"/>
          <p:cNvSpPr/>
          <p:nvPr/>
        </p:nvSpPr>
        <p:spPr>
          <a:xfrm>
            <a:off x="914400" y="3063240"/>
            <a:ext cx="9784080" cy="777240"/>
          </a:xfrm>
          <a:prstGeom prst="rect">
            <a:avLst/>
          </a:prstGeom>
          <a:noFill/>
          <a:ln/>
        </p:spPr>
        <p:txBody>
          <a:bodyPr wrap="square" lIns="0" tIns="0" rIns="0" bIns="0" rtlCol="0" anchor="ctr"/>
          <a:lstStyle/>
          <a:p>
            <a:pPr marL="0" indent="0">
              <a:lnSpc>
                <a:spcPct val="105000"/>
              </a:lnSpc>
              <a:buNone/>
            </a:pPr>
            <a:r>
              <a:rPr lang="en-US" sz="1500" dirty="0">
                <a:solidFill>
                  <a:srgbClr val="C8D6F4"/>
                </a:solidFill>
                <a:latin typeface="Segoe UI" pitchFamily="34" charset="0"/>
                <a:ea typeface="Segoe UI" pitchFamily="34" charset="-122"/>
                <a:cs typeface="Segoe UI" pitchFamily="34" charset="-120"/>
              </a:rPr>
              <a:t>An end-to-end Machine Learning pipeline for the Pakistan Stock Exchange — from automated data scraping and technical feature engineering to risk-managed Buy / Sell signals and an interactive Streamlit dashboard.</a:t>
            </a:r>
            <a:endParaRPr lang="en-US" sz="1500" dirty="0"/>
          </a:p>
        </p:txBody>
      </p:sp>
      <p:sp>
        <p:nvSpPr>
          <p:cNvPr id="8" name="Shape 6"/>
          <p:cNvSpPr/>
          <p:nvPr/>
        </p:nvSpPr>
        <p:spPr>
          <a:xfrm>
            <a:off x="914400" y="3968496"/>
            <a:ext cx="729691" cy="347472"/>
          </a:xfrm>
          <a:prstGeom prst="roundRect">
            <a:avLst>
              <a:gd name="adj" fmla="val 23684"/>
            </a:avLst>
          </a:prstGeom>
          <a:solidFill>
            <a:srgbClr val="18244C"/>
          </a:solidFill>
          <a:ln w="12700">
            <a:solidFill>
              <a:srgbClr val="333333"/>
            </a:solidFill>
            <a:prstDash val="solid"/>
          </a:ln>
        </p:spPr>
      </p:sp>
      <p:sp>
        <p:nvSpPr>
          <p:cNvPr id="9" name="Text 7"/>
          <p:cNvSpPr/>
          <p:nvPr/>
        </p:nvSpPr>
        <p:spPr>
          <a:xfrm>
            <a:off x="914400" y="3968496"/>
            <a:ext cx="729691"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Python</a:t>
            </a:r>
            <a:endParaRPr lang="en-US" sz="1100" dirty="0"/>
          </a:p>
        </p:txBody>
      </p:sp>
      <p:sp>
        <p:nvSpPr>
          <p:cNvPr id="10" name="Shape 8"/>
          <p:cNvSpPr/>
          <p:nvPr/>
        </p:nvSpPr>
        <p:spPr>
          <a:xfrm>
            <a:off x="1762963" y="3968496"/>
            <a:ext cx="881482" cy="347472"/>
          </a:xfrm>
          <a:prstGeom prst="roundRect">
            <a:avLst>
              <a:gd name="adj" fmla="val 23684"/>
            </a:avLst>
          </a:prstGeom>
          <a:solidFill>
            <a:srgbClr val="18244C"/>
          </a:solidFill>
          <a:ln w="12700">
            <a:solidFill>
              <a:srgbClr val="333333"/>
            </a:solidFill>
            <a:prstDash val="solid"/>
          </a:ln>
        </p:spPr>
      </p:sp>
      <p:sp>
        <p:nvSpPr>
          <p:cNvPr id="11" name="Text 9"/>
          <p:cNvSpPr/>
          <p:nvPr/>
        </p:nvSpPr>
        <p:spPr>
          <a:xfrm>
            <a:off x="1762963" y="3968496"/>
            <a:ext cx="881482"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Selenium</a:t>
            </a:r>
            <a:endParaRPr lang="en-US" sz="1100" dirty="0"/>
          </a:p>
        </p:txBody>
      </p:sp>
      <p:sp>
        <p:nvSpPr>
          <p:cNvPr id="12" name="Shape 10"/>
          <p:cNvSpPr/>
          <p:nvPr/>
        </p:nvSpPr>
        <p:spPr>
          <a:xfrm>
            <a:off x="2763317" y="3968496"/>
            <a:ext cx="1185062" cy="347472"/>
          </a:xfrm>
          <a:prstGeom prst="roundRect">
            <a:avLst>
              <a:gd name="adj" fmla="val 23684"/>
            </a:avLst>
          </a:prstGeom>
          <a:solidFill>
            <a:srgbClr val="18244C"/>
          </a:solidFill>
          <a:ln w="12700">
            <a:solidFill>
              <a:srgbClr val="333333"/>
            </a:solidFill>
            <a:prstDash val="solid"/>
          </a:ln>
        </p:spPr>
      </p:sp>
      <p:sp>
        <p:nvSpPr>
          <p:cNvPr id="13" name="Text 11"/>
          <p:cNvSpPr/>
          <p:nvPr/>
        </p:nvSpPr>
        <p:spPr>
          <a:xfrm>
            <a:off x="2763317" y="3968496"/>
            <a:ext cx="1185062"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scikit-learn</a:t>
            </a:r>
            <a:endParaRPr lang="en-US" sz="1100" dirty="0"/>
          </a:p>
        </p:txBody>
      </p:sp>
      <p:sp>
        <p:nvSpPr>
          <p:cNvPr id="14" name="Shape 12"/>
          <p:cNvSpPr/>
          <p:nvPr/>
        </p:nvSpPr>
        <p:spPr>
          <a:xfrm>
            <a:off x="4067251" y="3968496"/>
            <a:ext cx="881482" cy="347472"/>
          </a:xfrm>
          <a:prstGeom prst="roundRect">
            <a:avLst>
              <a:gd name="adj" fmla="val 23684"/>
            </a:avLst>
          </a:prstGeom>
          <a:solidFill>
            <a:srgbClr val="18244C"/>
          </a:solidFill>
          <a:ln w="12700">
            <a:solidFill>
              <a:srgbClr val="333333"/>
            </a:solidFill>
            <a:prstDash val="solid"/>
          </a:ln>
        </p:spPr>
      </p:sp>
      <p:sp>
        <p:nvSpPr>
          <p:cNvPr id="15" name="Text 13"/>
          <p:cNvSpPr/>
          <p:nvPr/>
        </p:nvSpPr>
        <p:spPr>
          <a:xfrm>
            <a:off x="4067251" y="3968496"/>
            <a:ext cx="881482"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LightGBM</a:t>
            </a:r>
            <a:endParaRPr lang="en-US" sz="1100" dirty="0"/>
          </a:p>
        </p:txBody>
      </p:sp>
      <p:sp>
        <p:nvSpPr>
          <p:cNvPr id="16" name="Shape 14"/>
          <p:cNvSpPr/>
          <p:nvPr/>
        </p:nvSpPr>
        <p:spPr>
          <a:xfrm>
            <a:off x="5067605" y="3968496"/>
            <a:ext cx="957377" cy="347472"/>
          </a:xfrm>
          <a:prstGeom prst="roundRect">
            <a:avLst>
              <a:gd name="adj" fmla="val 23684"/>
            </a:avLst>
          </a:prstGeom>
          <a:solidFill>
            <a:srgbClr val="18244C"/>
          </a:solidFill>
          <a:ln w="12700">
            <a:solidFill>
              <a:srgbClr val="333333"/>
            </a:solidFill>
            <a:prstDash val="solid"/>
          </a:ln>
        </p:spPr>
      </p:sp>
      <p:sp>
        <p:nvSpPr>
          <p:cNvPr id="17" name="Text 15"/>
          <p:cNvSpPr/>
          <p:nvPr/>
        </p:nvSpPr>
        <p:spPr>
          <a:xfrm>
            <a:off x="5067605" y="3968496"/>
            <a:ext cx="957377"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Streamlit</a:t>
            </a:r>
            <a:endParaRPr lang="en-US" sz="1100" dirty="0"/>
          </a:p>
        </p:txBody>
      </p:sp>
      <p:sp>
        <p:nvSpPr>
          <p:cNvPr id="18" name="Shape 16"/>
          <p:cNvSpPr/>
          <p:nvPr/>
        </p:nvSpPr>
        <p:spPr>
          <a:xfrm>
            <a:off x="6143854" y="3968496"/>
            <a:ext cx="729691" cy="347472"/>
          </a:xfrm>
          <a:prstGeom prst="roundRect">
            <a:avLst>
              <a:gd name="adj" fmla="val 23684"/>
            </a:avLst>
          </a:prstGeom>
          <a:solidFill>
            <a:srgbClr val="18244C"/>
          </a:solidFill>
          <a:ln w="12700">
            <a:solidFill>
              <a:srgbClr val="333333"/>
            </a:solidFill>
            <a:prstDash val="solid"/>
          </a:ln>
        </p:spPr>
      </p:sp>
      <p:sp>
        <p:nvSpPr>
          <p:cNvPr id="19" name="Text 17"/>
          <p:cNvSpPr/>
          <p:nvPr/>
        </p:nvSpPr>
        <p:spPr>
          <a:xfrm>
            <a:off x="6143854" y="3968496"/>
            <a:ext cx="729691"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Plotly</a:t>
            </a:r>
            <a:endParaRPr lang="en-US" sz="1100" dirty="0"/>
          </a:p>
        </p:txBody>
      </p:sp>
      <p:sp>
        <p:nvSpPr>
          <p:cNvPr id="20" name="Shape 18"/>
          <p:cNvSpPr/>
          <p:nvPr/>
        </p:nvSpPr>
        <p:spPr>
          <a:xfrm>
            <a:off x="6992417" y="3968496"/>
            <a:ext cx="729691" cy="347472"/>
          </a:xfrm>
          <a:prstGeom prst="roundRect">
            <a:avLst>
              <a:gd name="adj" fmla="val 23684"/>
            </a:avLst>
          </a:prstGeom>
          <a:solidFill>
            <a:srgbClr val="18244C"/>
          </a:solidFill>
          <a:ln w="12700">
            <a:solidFill>
              <a:srgbClr val="333333"/>
            </a:solidFill>
            <a:prstDash val="solid"/>
          </a:ln>
        </p:spPr>
      </p:sp>
      <p:sp>
        <p:nvSpPr>
          <p:cNvPr id="21" name="Text 19"/>
          <p:cNvSpPr/>
          <p:nvPr/>
        </p:nvSpPr>
        <p:spPr>
          <a:xfrm>
            <a:off x="6992417" y="3968496"/>
            <a:ext cx="729691" cy="347472"/>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pandas</a:t>
            </a:r>
            <a:endParaRPr lang="en-US" sz="1100" dirty="0"/>
          </a:p>
        </p:txBody>
      </p:sp>
      <p:sp>
        <p:nvSpPr>
          <p:cNvPr id="22" name="Text 20"/>
          <p:cNvSpPr/>
          <p:nvPr/>
        </p:nvSpPr>
        <p:spPr>
          <a:xfrm>
            <a:off x="914400" y="4572000"/>
            <a:ext cx="5486400" cy="256032"/>
          </a:xfrm>
          <a:prstGeom prst="rect">
            <a:avLst/>
          </a:prstGeom>
          <a:noFill/>
          <a:ln/>
        </p:spPr>
        <p:txBody>
          <a:bodyPr wrap="square" lIns="0" tIns="0" rIns="0" bIns="0" rtlCol="0" anchor="ctr"/>
          <a:lstStyle/>
          <a:p>
            <a:pPr marL="0" indent="0">
              <a:buNone/>
            </a:pPr>
            <a:r>
              <a:rPr lang="en-US" sz="1150" b="1" kern="0" spc="250" dirty="0">
                <a:solidFill>
                  <a:srgbClr val="FFB703"/>
                </a:solidFill>
                <a:latin typeface="Segoe UI Semibold" pitchFamily="34" charset="0"/>
                <a:ea typeface="Segoe UI Semibold" pitchFamily="34" charset="-122"/>
                <a:cs typeface="Segoe UI Semibold" pitchFamily="34" charset="-120"/>
              </a:rPr>
              <a:t>PROJECT TEAM</a:t>
            </a:r>
            <a:endParaRPr lang="en-US" sz="1150" dirty="0"/>
          </a:p>
        </p:txBody>
      </p:sp>
      <p:sp>
        <p:nvSpPr>
          <p:cNvPr id="23" name="Shape 21"/>
          <p:cNvSpPr/>
          <p:nvPr/>
        </p:nvSpPr>
        <p:spPr>
          <a:xfrm>
            <a:off x="914400" y="4937760"/>
            <a:ext cx="3383280" cy="1325880"/>
          </a:xfrm>
          <a:prstGeom prst="roundRect">
            <a:avLst>
              <a:gd name="adj" fmla="val 8276"/>
            </a:avLst>
          </a:prstGeom>
          <a:solidFill>
            <a:srgbClr val="16224A"/>
          </a:solidFill>
          <a:ln w="12700">
            <a:solidFill>
              <a:srgbClr val="2B3A66"/>
            </a:solidFill>
            <a:prstDash val="solid"/>
          </a:ln>
          <a:effectLst>
            <a:outerShdw blurRad="88900" dist="25400" dir="5400000" algn="bl" rotWithShape="0">
              <a:srgbClr val="5B6B92">
                <a:alpha val="18000"/>
              </a:srgbClr>
            </a:outerShdw>
          </a:effectLst>
        </p:spPr>
      </p:sp>
      <p:sp>
        <p:nvSpPr>
          <p:cNvPr id="24" name="Shape 22"/>
          <p:cNvSpPr/>
          <p:nvPr/>
        </p:nvSpPr>
        <p:spPr>
          <a:xfrm>
            <a:off x="914400" y="5138928"/>
            <a:ext cx="64008" cy="923544"/>
          </a:xfrm>
          <a:prstGeom prst="rect">
            <a:avLst/>
          </a:prstGeom>
          <a:solidFill>
            <a:srgbClr val="00D4FF"/>
          </a:solidFill>
          <a:ln w="12700">
            <a:solidFill>
              <a:srgbClr val="333333"/>
            </a:solidFill>
            <a:prstDash val="solid"/>
          </a:ln>
        </p:spPr>
      </p:sp>
      <p:sp>
        <p:nvSpPr>
          <p:cNvPr id="25" name="Shape 23"/>
          <p:cNvSpPr/>
          <p:nvPr/>
        </p:nvSpPr>
        <p:spPr>
          <a:xfrm>
            <a:off x="2880360" y="5120640"/>
            <a:ext cx="1207008" cy="292608"/>
          </a:xfrm>
          <a:prstGeom prst="roundRect">
            <a:avLst>
              <a:gd name="adj" fmla="val 50000"/>
            </a:avLst>
          </a:prstGeom>
          <a:solidFill>
            <a:srgbClr val="0091C2"/>
          </a:solidFill>
          <a:ln w="12700">
            <a:solidFill>
              <a:srgbClr val="333333"/>
            </a:solidFill>
            <a:prstDash val="solid"/>
          </a:ln>
        </p:spPr>
      </p:sp>
      <p:sp>
        <p:nvSpPr>
          <p:cNvPr id="26" name="Text 24"/>
          <p:cNvSpPr/>
          <p:nvPr/>
        </p:nvSpPr>
        <p:spPr>
          <a:xfrm>
            <a:off x="2880360" y="5120640"/>
            <a:ext cx="1207008" cy="292608"/>
          </a:xfrm>
          <a:prstGeom prst="rect">
            <a:avLst/>
          </a:prstGeom>
          <a:noFill/>
          <a:ln/>
        </p:spPr>
        <p:txBody>
          <a:bodyPr wrap="square" lIns="0" tIns="0" rIns="0" bIns="0" rtlCol="0" anchor="ctr"/>
          <a:lstStyle/>
          <a:p>
            <a:pPr marL="0" indent="0" algn="ctr">
              <a:buNone/>
            </a:pPr>
            <a:r>
              <a:rPr lang="en-US" sz="950" b="1" kern="0" spc="150" dirty="0">
                <a:solidFill>
                  <a:srgbClr val="FFFFFF"/>
                </a:solidFill>
                <a:latin typeface="Segoe UI Semibold" pitchFamily="34" charset="0"/>
                <a:ea typeface="Segoe UI Semibold" pitchFamily="34" charset="-122"/>
                <a:cs typeface="Segoe UI Semibold" pitchFamily="34" charset="-120"/>
              </a:rPr>
              <a:t>TEAM LEAD</a:t>
            </a:r>
            <a:endParaRPr lang="en-US" sz="950" dirty="0"/>
          </a:p>
        </p:txBody>
      </p:sp>
      <p:sp>
        <p:nvSpPr>
          <p:cNvPr id="27" name="Text 25"/>
          <p:cNvSpPr/>
          <p:nvPr/>
        </p:nvSpPr>
        <p:spPr>
          <a:xfrm>
            <a:off x="1170432" y="5440680"/>
            <a:ext cx="2926080" cy="365760"/>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Muhammad Abdullah</a:t>
            </a:r>
            <a:endParaRPr lang="en-US" sz="1700" dirty="0"/>
          </a:p>
        </p:txBody>
      </p:sp>
      <p:sp>
        <p:nvSpPr>
          <p:cNvPr id="28" name="Text 26"/>
          <p:cNvSpPr/>
          <p:nvPr/>
        </p:nvSpPr>
        <p:spPr>
          <a:xfrm>
            <a:off x="1170432" y="5815584"/>
            <a:ext cx="2926080" cy="384048"/>
          </a:xfrm>
          <a:prstGeom prst="rect">
            <a:avLst/>
          </a:prstGeom>
          <a:noFill/>
          <a:ln/>
        </p:spPr>
        <p:txBody>
          <a:bodyPr wrap="square" lIns="0" tIns="0" rIns="0" bIns="0" rtlCol="0" anchor="ctr"/>
          <a:lstStyle/>
          <a:p>
            <a:pPr marL="0" indent="0">
              <a:lnSpc>
                <a:spcPct val="98000"/>
              </a:lnSpc>
              <a:buNone/>
            </a:pPr>
            <a:r>
              <a:rPr lang="en-US" sz="1100" dirty="0">
                <a:solidFill>
                  <a:srgbClr val="C8D6F4"/>
                </a:solidFill>
                <a:latin typeface="Segoe UI" pitchFamily="34" charset="0"/>
                <a:ea typeface="Segoe UI" pitchFamily="34" charset="-122"/>
                <a:cs typeface="Segoe UI" pitchFamily="34" charset="-120"/>
              </a:rPr>
              <a:t>Data scraping · RSI · ML models · Integration</a:t>
            </a:r>
            <a:endParaRPr lang="en-US" sz="1100" dirty="0"/>
          </a:p>
        </p:txBody>
      </p:sp>
      <p:sp>
        <p:nvSpPr>
          <p:cNvPr id="29" name="Shape 27"/>
          <p:cNvSpPr/>
          <p:nvPr/>
        </p:nvSpPr>
        <p:spPr>
          <a:xfrm>
            <a:off x="4617720" y="4937760"/>
            <a:ext cx="3383280" cy="1325880"/>
          </a:xfrm>
          <a:prstGeom prst="roundRect">
            <a:avLst>
              <a:gd name="adj" fmla="val 8276"/>
            </a:avLst>
          </a:prstGeom>
          <a:solidFill>
            <a:srgbClr val="16224A"/>
          </a:solidFill>
          <a:ln w="12700">
            <a:solidFill>
              <a:srgbClr val="2B3A66"/>
            </a:solidFill>
            <a:prstDash val="solid"/>
          </a:ln>
          <a:effectLst>
            <a:outerShdw blurRad="88900" dist="25400" dir="5400000" algn="bl" rotWithShape="0">
              <a:srgbClr val="5B6B92">
                <a:alpha val="18000"/>
              </a:srgbClr>
            </a:outerShdw>
          </a:effectLst>
        </p:spPr>
      </p:sp>
      <p:sp>
        <p:nvSpPr>
          <p:cNvPr id="30" name="Shape 28"/>
          <p:cNvSpPr/>
          <p:nvPr/>
        </p:nvSpPr>
        <p:spPr>
          <a:xfrm>
            <a:off x="4617720" y="5138928"/>
            <a:ext cx="64008" cy="923544"/>
          </a:xfrm>
          <a:prstGeom prst="rect">
            <a:avLst/>
          </a:prstGeom>
          <a:solidFill>
            <a:srgbClr val="FFB703"/>
          </a:solidFill>
          <a:ln w="12700">
            <a:solidFill>
              <a:srgbClr val="333333"/>
            </a:solidFill>
            <a:prstDash val="solid"/>
          </a:ln>
        </p:spPr>
      </p:sp>
      <p:sp>
        <p:nvSpPr>
          <p:cNvPr id="31" name="Text 29"/>
          <p:cNvSpPr/>
          <p:nvPr/>
        </p:nvSpPr>
        <p:spPr>
          <a:xfrm>
            <a:off x="4873752" y="5440680"/>
            <a:ext cx="2926080" cy="365760"/>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Sheeraz</a:t>
            </a:r>
            <a:endParaRPr lang="en-US" sz="1700" dirty="0"/>
          </a:p>
        </p:txBody>
      </p:sp>
      <p:sp>
        <p:nvSpPr>
          <p:cNvPr id="32" name="Text 30"/>
          <p:cNvSpPr/>
          <p:nvPr/>
        </p:nvSpPr>
        <p:spPr>
          <a:xfrm>
            <a:off x="4873752" y="5815584"/>
            <a:ext cx="2926080" cy="384048"/>
          </a:xfrm>
          <a:prstGeom prst="rect">
            <a:avLst/>
          </a:prstGeom>
          <a:noFill/>
          <a:ln/>
        </p:spPr>
        <p:txBody>
          <a:bodyPr wrap="square" lIns="0" tIns="0" rIns="0" bIns="0" rtlCol="0" anchor="ctr"/>
          <a:lstStyle/>
          <a:p>
            <a:pPr marL="0" indent="0">
              <a:lnSpc>
                <a:spcPct val="98000"/>
              </a:lnSpc>
              <a:buNone/>
            </a:pPr>
            <a:r>
              <a:rPr lang="en-US" sz="1100" dirty="0">
                <a:solidFill>
                  <a:srgbClr val="C8D6F4"/>
                </a:solidFill>
                <a:latin typeface="Segoe UI" pitchFamily="34" charset="0"/>
                <a:ea typeface="Segoe UI" pitchFamily="34" charset="-122"/>
                <a:cs typeface="Segoe UI" pitchFamily="34" charset="-120"/>
              </a:rPr>
              <a:t>Data cleaning &amp; preparation</a:t>
            </a:r>
            <a:endParaRPr lang="en-US" sz="1100" dirty="0"/>
          </a:p>
        </p:txBody>
      </p:sp>
      <p:sp>
        <p:nvSpPr>
          <p:cNvPr id="33" name="Shape 31"/>
          <p:cNvSpPr/>
          <p:nvPr/>
        </p:nvSpPr>
        <p:spPr>
          <a:xfrm>
            <a:off x="8321040" y="4937760"/>
            <a:ext cx="3383280" cy="1325880"/>
          </a:xfrm>
          <a:prstGeom prst="roundRect">
            <a:avLst>
              <a:gd name="adj" fmla="val 8276"/>
            </a:avLst>
          </a:prstGeom>
          <a:solidFill>
            <a:srgbClr val="16224A"/>
          </a:solidFill>
          <a:ln w="12700">
            <a:solidFill>
              <a:srgbClr val="2B3A66"/>
            </a:solidFill>
            <a:prstDash val="solid"/>
          </a:ln>
          <a:effectLst>
            <a:outerShdw blurRad="88900" dist="25400" dir="5400000" algn="bl" rotWithShape="0">
              <a:srgbClr val="5B6B92">
                <a:alpha val="18000"/>
              </a:srgbClr>
            </a:outerShdw>
          </a:effectLst>
        </p:spPr>
      </p:sp>
      <p:sp>
        <p:nvSpPr>
          <p:cNvPr id="34" name="Shape 32"/>
          <p:cNvSpPr/>
          <p:nvPr/>
        </p:nvSpPr>
        <p:spPr>
          <a:xfrm>
            <a:off x="8321040" y="5138928"/>
            <a:ext cx="64008" cy="923544"/>
          </a:xfrm>
          <a:prstGeom prst="rect">
            <a:avLst/>
          </a:prstGeom>
          <a:solidFill>
            <a:srgbClr val="D81E7A"/>
          </a:solidFill>
          <a:ln w="12700">
            <a:solidFill>
              <a:srgbClr val="333333"/>
            </a:solidFill>
            <a:prstDash val="solid"/>
          </a:ln>
        </p:spPr>
      </p:sp>
      <p:sp>
        <p:nvSpPr>
          <p:cNvPr id="35" name="Text 33"/>
          <p:cNvSpPr/>
          <p:nvPr/>
        </p:nvSpPr>
        <p:spPr>
          <a:xfrm>
            <a:off x="8577072" y="5440680"/>
            <a:ext cx="2926080" cy="365760"/>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Rabia</a:t>
            </a:r>
            <a:endParaRPr lang="en-US" sz="1700" dirty="0"/>
          </a:p>
        </p:txBody>
      </p:sp>
      <p:sp>
        <p:nvSpPr>
          <p:cNvPr id="36" name="Text 34"/>
          <p:cNvSpPr/>
          <p:nvPr/>
        </p:nvSpPr>
        <p:spPr>
          <a:xfrm>
            <a:off x="8577072" y="5815584"/>
            <a:ext cx="2926080" cy="384048"/>
          </a:xfrm>
          <a:prstGeom prst="rect">
            <a:avLst/>
          </a:prstGeom>
          <a:noFill/>
          <a:ln/>
        </p:spPr>
        <p:txBody>
          <a:bodyPr wrap="square" lIns="0" tIns="0" rIns="0" bIns="0" rtlCol="0" anchor="ctr"/>
          <a:lstStyle/>
          <a:p>
            <a:pPr marL="0" indent="0">
              <a:lnSpc>
                <a:spcPct val="98000"/>
              </a:lnSpc>
              <a:buNone/>
            </a:pPr>
            <a:r>
              <a:rPr lang="en-US" sz="1100" dirty="0">
                <a:solidFill>
                  <a:srgbClr val="C8D6F4"/>
                </a:solidFill>
                <a:latin typeface="Segoe UI" pitchFamily="34" charset="0"/>
                <a:ea typeface="Segoe UI" pitchFamily="34" charset="-122"/>
                <a:cs typeface="Segoe UI" pitchFamily="34" charset="-120"/>
              </a:rPr>
              <a:t>Streamlit dashboard · Visualization · UI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01</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PROBLEM STATEMENT</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Why a data-driven signal engine for PSX?</a:t>
            </a:r>
            <a:endParaRPr lang="en-US" sz="2700" dirty="0"/>
          </a:p>
        </p:txBody>
      </p:sp>
      <p:sp>
        <p:nvSpPr>
          <p:cNvPr id="6" name="Text 4"/>
          <p:cNvSpPr/>
          <p:nvPr/>
        </p:nvSpPr>
        <p:spPr>
          <a:xfrm>
            <a:off x="548640" y="1417320"/>
            <a:ext cx="5257800" cy="237744"/>
          </a:xfrm>
          <a:prstGeom prst="rect">
            <a:avLst/>
          </a:prstGeom>
          <a:noFill/>
          <a:ln/>
        </p:spPr>
        <p:txBody>
          <a:bodyPr wrap="square" lIns="0" tIns="0" rIns="0" bIns="0" rtlCol="0" anchor="ctr"/>
          <a:lstStyle/>
          <a:p>
            <a:pPr marL="0" indent="0">
              <a:buNone/>
            </a:pPr>
            <a:r>
              <a:rPr lang="en-US" sz="1150" b="1" kern="0" spc="200" dirty="0">
                <a:solidFill>
                  <a:srgbClr val="0091C2"/>
                </a:solidFill>
                <a:latin typeface="Segoe UI Semibold" pitchFamily="34" charset="0"/>
                <a:ea typeface="Segoe UI Semibold" pitchFamily="34" charset="-122"/>
                <a:cs typeface="Segoe UI Semibold" pitchFamily="34" charset="-120"/>
              </a:rPr>
              <a:t>THE PROBLEM</a:t>
            </a:r>
            <a:endParaRPr lang="en-US" sz="1150" dirty="0"/>
          </a:p>
        </p:txBody>
      </p:sp>
      <p:sp>
        <p:nvSpPr>
          <p:cNvPr id="7" name="Text 5"/>
          <p:cNvSpPr/>
          <p:nvPr/>
        </p:nvSpPr>
        <p:spPr>
          <a:xfrm>
            <a:off x="548640" y="1664208"/>
            <a:ext cx="5257800" cy="868680"/>
          </a:xfrm>
          <a:prstGeom prst="rect">
            <a:avLst/>
          </a:prstGeom>
          <a:noFill/>
          <a:ln/>
        </p:spPr>
        <p:txBody>
          <a:bodyPr wrap="square" lIns="0" tIns="0" rIns="0" bIns="0" rtlCol="0" anchor="ctr"/>
          <a:lstStyle/>
          <a:p>
            <a:pPr marL="0" indent="0">
              <a:lnSpc>
                <a:spcPct val="104000"/>
              </a:lnSpc>
              <a:buNone/>
            </a:pPr>
            <a:r>
              <a:rPr lang="en-US" sz="1400" dirty="0">
                <a:solidFill>
                  <a:srgbClr val="33405B"/>
                </a:solidFill>
                <a:latin typeface="Segoe UI" pitchFamily="34" charset="0"/>
                <a:ea typeface="Segoe UI" pitchFamily="34" charset="-122"/>
                <a:cs typeface="Segoe UI" pitchFamily="34" charset="-120"/>
              </a:rPr>
              <a:t>Most retail investors at the Pakistan Stock Exchange trade on tips, emotion and guesswork — with no systematic, repeatable way to decide when to buy or sell a stock.</a:t>
            </a:r>
            <a:endParaRPr lang="en-US" sz="1400" dirty="0"/>
          </a:p>
        </p:txBody>
      </p:sp>
      <p:sp>
        <p:nvSpPr>
          <p:cNvPr id="8" name="Text 6"/>
          <p:cNvSpPr/>
          <p:nvPr/>
        </p:nvSpPr>
        <p:spPr>
          <a:xfrm>
            <a:off x="548640" y="2615184"/>
            <a:ext cx="5257800" cy="237744"/>
          </a:xfrm>
          <a:prstGeom prst="rect">
            <a:avLst/>
          </a:prstGeom>
          <a:noFill/>
          <a:ln/>
        </p:spPr>
        <p:txBody>
          <a:bodyPr wrap="square" lIns="0" tIns="0" rIns="0" bIns="0" rtlCol="0" anchor="ctr"/>
          <a:lstStyle/>
          <a:p>
            <a:pPr marL="0" indent="0">
              <a:buNone/>
            </a:pPr>
            <a:r>
              <a:rPr lang="en-US" sz="1150" b="1" kern="0" spc="200" dirty="0">
                <a:solidFill>
                  <a:srgbClr val="0091C2"/>
                </a:solidFill>
                <a:latin typeface="Segoe UI Semibold" pitchFamily="34" charset="0"/>
                <a:ea typeface="Segoe UI Semibold" pitchFamily="34" charset="-122"/>
                <a:cs typeface="Segoe UI Semibold" pitchFamily="34" charset="-120"/>
              </a:rPr>
              <a:t>BUSINESS VALUE</a:t>
            </a:r>
            <a:endParaRPr lang="en-US" sz="1150" dirty="0"/>
          </a:p>
        </p:txBody>
      </p:sp>
      <p:sp>
        <p:nvSpPr>
          <p:cNvPr id="9" name="Text 7"/>
          <p:cNvSpPr/>
          <p:nvPr/>
        </p:nvSpPr>
        <p:spPr>
          <a:xfrm>
            <a:off x="548640" y="2871216"/>
            <a:ext cx="525780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33405B"/>
                </a:solidFill>
                <a:latin typeface="Segoe UI" pitchFamily="34" charset="0"/>
                <a:ea typeface="Segoe UI" pitchFamily="34" charset="-122"/>
                <a:cs typeface="Segoe UI" pitchFamily="34" charset="-120"/>
              </a:rPr>
              <a:t>Objective BUY / STRONG BUY / HOLD calls per stock, per day</a:t>
            </a:r>
            <a:endParaRPr lang="en-US" sz="1300" dirty="0"/>
          </a:p>
          <a:p>
            <a:pPr marL="177800" indent="-177800">
              <a:spcAft>
                <a:spcPts val="500"/>
              </a:spcAft>
              <a:buSzPct val="100000"/>
              <a:buChar char="•"/>
            </a:pPr>
            <a:r>
              <a:rPr lang="en-US" sz="1300" dirty="0">
                <a:solidFill>
                  <a:srgbClr val="33405B"/>
                </a:solidFill>
                <a:latin typeface="Segoe UI" pitchFamily="34" charset="0"/>
                <a:ea typeface="Segoe UI" pitchFamily="34" charset="-122"/>
                <a:cs typeface="Segoe UI" pitchFamily="34" charset="-120"/>
              </a:rPr>
              <a:t>Every signal validated by a risk-managed backtest</a:t>
            </a:r>
            <a:endParaRPr lang="en-US" sz="1300" dirty="0"/>
          </a:p>
          <a:p>
            <a:pPr marL="177800" indent="-177800">
              <a:buSzPct val="100000"/>
              <a:buChar char="•"/>
            </a:pPr>
            <a:r>
              <a:rPr lang="en-US" sz="1300" dirty="0">
                <a:solidFill>
                  <a:srgbClr val="33405B"/>
                </a:solidFill>
                <a:latin typeface="Segoe UI" pitchFamily="34" charset="0"/>
                <a:ea typeface="Segoe UI" pitchFamily="34" charset="-122"/>
                <a:cs typeface="Segoe UI" pitchFamily="34" charset="-120"/>
              </a:rPr>
              <a:t>Transparent reasoning: ML probability + technical confirmations</a:t>
            </a:r>
            <a:endParaRPr lang="en-US" sz="1300" dirty="0"/>
          </a:p>
        </p:txBody>
      </p:sp>
      <p:sp>
        <p:nvSpPr>
          <p:cNvPr id="10" name="Text 8"/>
          <p:cNvSpPr/>
          <p:nvPr/>
        </p:nvSpPr>
        <p:spPr>
          <a:xfrm>
            <a:off x="548640" y="4114800"/>
            <a:ext cx="5257800" cy="237744"/>
          </a:xfrm>
          <a:prstGeom prst="rect">
            <a:avLst/>
          </a:prstGeom>
          <a:noFill/>
          <a:ln/>
        </p:spPr>
        <p:txBody>
          <a:bodyPr wrap="square" lIns="0" tIns="0" rIns="0" bIns="0" rtlCol="0" anchor="ctr"/>
          <a:lstStyle/>
          <a:p>
            <a:pPr marL="0" indent="0">
              <a:buNone/>
            </a:pPr>
            <a:r>
              <a:rPr lang="en-US" sz="1150" b="1" kern="0" spc="200" dirty="0">
                <a:solidFill>
                  <a:srgbClr val="0091C2"/>
                </a:solidFill>
                <a:latin typeface="Segoe UI Semibold" pitchFamily="34" charset="0"/>
                <a:ea typeface="Segoe UI Semibold" pitchFamily="34" charset="-122"/>
                <a:cs typeface="Segoe UI Semibold" pitchFamily="34" charset="-120"/>
              </a:rPr>
              <a:t>WHY PSX MATTERS</a:t>
            </a:r>
            <a:endParaRPr lang="en-US" sz="1150" dirty="0"/>
          </a:p>
        </p:txBody>
      </p:sp>
      <p:sp>
        <p:nvSpPr>
          <p:cNvPr id="11" name="Text 9"/>
          <p:cNvSpPr/>
          <p:nvPr/>
        </p:nvSpPr>
        <p:spPr>
          <a:xfrm>
            <a:off x="548640" y="4370832"/>
            <a:ext cx="525780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33405B"/>
                </a:solidFill>
                <a:latin typeface="Segoe UI" pitchFamily="34" charset="0"/>
                <a:ea typeface="Segoe UI" pitchFamily="34" charset="-122"/>
                <a:cs typeface="Segoe UI" pitchFamily="34" charset="-120"/>
              </a:rPr>
              <a:t>Hundreds of actively traded tickers and high volatility</a:t>
            </a:r>
            <a:endParaRPr lang="en-US" sz="1300" dirty="0"/>
          </a:p>
          <a:p>
            <a:pPr marL="177800" indent="-177800">
              <a:spcAft>
                <a:spcPts val="500"/>
              </a:spcAft>
              <a:buSzPct val="100000"/>
              <a:buChar char="•"/>
            </a:pPr>
            <a:r>
              <a:rPr lang="en-US" sz="1300" dirty="0">
                <a:solidFill>
                  <a:srgbClr val="33405B"/>
                </a:solidFill>
                <a:latin typeface="Segoe UI" pitchFamily="34" charset="0"/>
                <a:ea typeface="Segoe UI" pitchFamily="34" charset="-122"/>
                <a:cs typeface="Segoe UI" pitchFamily="34" charset="-120"/>
              </a:rPr>
              <a:t>Far fewer free, data-driven tools than developed markets</a:t>
            </a:r>
            <a:endParaRPr lang="en-US" sz="1300" dirty="0"/>
          </a:p>
          <a:p>
            <a:pPr marL="177800" indent="-177800">
              <a:buSzPct val="100000"/>
              <a:buChar char="•"/>
            </a:pPr>
            <a:r>
              <a:rPr lang="en-US" sz="1300" dirty="0">
                <a:solidFill>
                  <a:srgbClr val="33405B"/>
                </a:solidFill>
                <a:latin typeface="Segoe UI" pitchFamily="34" charset="0"/>
                <a:ea typeface="Segoe UI" pitchFamily="34" charset="-122"/>
                <a:cs typeface="Segoe UI" pitchFamily="34" charset="-120"/>
              </a:rPr>
              <a:t>No clean public price API — data must be scraped</a:t>
            </a:r>
            <a:endParaRPr lang="en-US" sz="1300" dirty="0"/>
          </a:p>
        </p:txBody>
      </p:sp>
      <p:sp>
        <p:nvSpPr>
          <p:cNvPr id="12" name="Text 10"/>
          <p:cNvSpPr/>
          <p:nvPr/>
        </p:nvSpPr>
        <p:spPr>
          <a:xfrm>
            <a:off x="6126480" y="1371600"/>
            <a:ext cx="5532120" cy="365760"/>
          </a:xfrm>
          <a:prstGeom prst="rect">
            <a:avLst/>
          </a:prstGeom>
          <a:noFill/>
          <a:ln/>
        </p:spPr>
        <p:txBody>
          <a:bodyPr wrap="square" lIns="0" tIns="0" rIns="0" bIns="0" rtlCol="0" anchor="ctr"/>
          <a:lstStyle/>
          <a:p>
            <a:pPr marL="0" indent="0">
              <a:buNone/>
            </a:pPr>
            <a:r>
              <a:rPr lang="en-US" sz="1600" b="1" dirty="0">
                <a:solidFill>
                  <a:srgbClr val="0B1233"/>
                </a:solidFill>
                <a:latin typeface="Segoe UI Semibold" pitchFamily="34" charset="0"/>
                <a:ea typeface="Segoe UI Semibold" pitchFamily="34" charset="-122"/>
                <a:cs typeface="Segoe UI Semibold" pitchFamily="34" charset="-120"/>
              </a:rPr>
              <a:t>Challenges we had to solve</a:t>
            </a:r>
            <a:endParaRPr lang="en-US" sz="1600" dirty="0"/>
          </a:p>
        </p:txBody>
      </p:sp>
      <p:sp>
        <p:nvSpPr>
          <p:cNvPr id="13" name="Shape 11"/>
          <p:cNvSpPr/>
          <p:nvPr/>
        </p:nvSpPr>
        <p:spPr>
          <a:xfrm>
            <a:off x="6126480" y="1810512"/>
            <a:ext cx="2670048" cy="1755648"/>
          </a:xfrm>
          <a:prstGeom prst="roundRect">
            <a:avLst>
              <a:gd name="adj" fmla="val 6250"/>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4" name="Shape 12"/>
          <p:cNvSpPr/>
          <p:nvPr/>
        </p:nvSpPr>
        <p:spPr>
          <a:xfrm>
            <a:off x="6345936" y="2029968"/>
            <a:ext cx="310896" cy="310896"/>
          </a:xfrm>
          <a:prstGeom prst="roundRect">
            <a:avLst>
              <a:gd name="adj" fmla="val 23529"/>
            </a:avLst>
          </a:prstGeom>
          <a:solidFill>
            <a:srgbClr val="0091C2"/>
          </a:solidFill>
          <a:ln w="12700">
            <a:solidFill>
              <a:srgbClr val="333333"/>
            </a:solidFill>
            <a:prstDash val="solid"/>
          </a:ln>
        </p:spPr>
      </p:sp>
      <p:sp>
        <p:nvSpPr>
          <p:cNvPr id="15" name="Text 13"/>
          <p:cNvSpPr/>
          <p:nvPr/>
        </p:nvSpPr>
        <p:spPr>
          <a:xfrm>
            <a:off x="6345936" y="2414016"/>
            <a:ext cx="2249424" cy="457200"/>
          </a:xfrm>
          <a:prstGeom prst="rect">
            <a:avLst/>
          </a:prstGeom>
          <a:noFill/>
          <a:ln/>
        </p:spPr>
        <p:txBody>
          <a:bodyPr wrap="square" lIns="0" tIns="0" rIns="0" bIns="0" rtlCol="0" anchor="ctr"/>
          <a:lstStyle/>
          <a:p>
            <a:pPr marL="0" indent="0">
              <a:buNone/>
            </a:pPr>
            <a:r>
              <a:rPr lang="en-US" sz="1350" b="1" dirty="0">
                <a:solidFill>
                  <a:srgbClr val="0B1233"/>
                </a:solidFill>
                <a:latin typeface="Segoe UI Semibold" pitchFamily="34" charset="0"/>
                <a:ea typeface="Segoe UI Semibold" pitchFamily="34" charset="-122"/>
                <a:cs typeface="Segoe UI Semibold" pitchFamily="34" charset="-120"/>
              </a:rPr>
              <a:t>No clean data feed</a:t>
            </a:r>
            <a:endParaRPr lang="en-US" sz="1350" dirty="0"/>
          </a:p>
        </p:txBody>
      </p:sp>
      <p:sp>
        <p:nvSpPr>
          <p:cNvPr id="16" name="Text 14"/>
          <p:cNvSpPr/>
          <p:nvPr/>
        </p:nvSpPr>
        <p:spPr>
          <a:xfrm>
            <a:off x="6345936" y="2834640"/>
            <a:ext cx="2249424" cy="640080"/>
          </a:xfrm>
          <a:prstGeom prst="rect">
            <a:avLst/>
          </a:prstGeom>
          <a:noFill/>
          <a:ln/>
        </p:spPr>
        <p:txBody>
          <a:bodyPr wrap="square" lIns="0" tIns="0" rIns="0" bIns="0" rtlCol="0" anchor="ctr"/>
          <a:lstStyle/>
          <a:p>
            <a:pPr marL="0" indent="0">
              <a:lnSpc>
                <a:spcPct val="100000"/>
              </a:lnSpc>
              <a:buNone/>
            </a:pPr>
            <a:r>
              <a:rPr lang="en-US" sz="1100" dirty="0">
                <a:solidFill>
                  <a:srgbClr val="33405B"/>
                </a:solidFill>
                <a:latin typeface="Segoe UI" pitchFamily="34" charset="0"/>
                <a:ea typeface="Segoe UI" pitchFamily="34" charset="-122"/>
                <a:cs typeface="Segoe UI" pitchFamily="34" charset="-120"/>
              </a:rPr>
              <a:t>Automated scraping with pagination &amp; strict de-duplication</a:t>
            </a:r>
            <a:endParaRPr lang="en-US" sz="1100" dirty="0"/>
          </a:p>
        </p:txBody>
      </p:sp>
      <p:sp>
        <p:nvSpPr>
          <p:cNvPr id="17" name="Shape 15"/>
          <p:cNvSpPr/>
          <p:nvPr/>
        </p:nvSpPr>
        <p:spPr>
          <a:xfrm>
            <a:off x="8988552" y="1810512"/>
            <a:ext cx="2670048" cy="1755648"/>
          </a:xfrm>
          <a:prstGeom prst="roundRect">
            <a:avLst>
              <a:gd name="adj" fmla="val 6250"/>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8" name="Shape 16"/>
          <p:cNvSpPr/>
          <p:nvPr/>
        </p:nvSpPr>
        <p:spPr>
          <a:xfrm>
            <a:off x="9208008" y="2029968"/>
            <a:ext cx="310896" cy="310896"/>
          </a:xfrm>
          <a:prstGeom prst="roundRect">
            <a:avLst>
              <a:gd name="adj" fmla="val 23529"/>
            </a:avLst>
          </a:prstGeom>
          <a:solidFill>
            <a:srgbClr val="6A36DE"/>
          </a:solidFill>
          <a:ln w="12700">
            <a:solidFill>
              <a:srgbClr val="333333"/>
            </a:solidFill>
            <a:prstDash val="solid"/>
          </a:ln>
        </p:spPr>
      </p:sp>
      <p:sp>
        <p:nvSpPr>
          <p:cNvPr id="19" name="Text 17"/>
          <p:cNvSpPr/>
          <p:nvPr/>
        </p:nvSpPr>
        <p:spPr>
          <a:xfrm>
            <a:off x="9208008" y="2414016"/>
            <a:ext cx="2249424" cy="457200"/>
          </a:xfrm>
          <a:prstGeom prst="rect">
            <a:avLst/>
          </a:prstGeom>
          <a:noFill/>
          <a:ln/>
        </p:spPr>
        <p:txBody>
          <a:bodyPr wrap="square" lIns="0" tIns="0" rIns="0" bIns="0" rtlCol="0" anchor="ctr"/>
          <a:lstStyle/>
          <a:p>
            <a:pPr marL="0" indent="0">
              <a:buNone/>
            </a:pPr>
            <a:r>
              <a:rPr lang="en-US" sz="1350" b="1" dirty="0">
                <a:solidFill>
                  <a:srgbClr val="0B1233"/>
                </a:solidFill>
                <a:latin typeface="Segoe UI Semibold" pitchFamily="34" charset="0"/>
                <a:ea typeface="Segoe UI Semibold" pitchFamily="34" charset="-122"/>
                <a:cs typeface="Segoe UI Semibold" pitchFamily="34" charset="-120"/>
              </a:rPr>
              <a:t>Market noise &amp; overfit</a:t>
            </a:r>
            <a:endParaRPr lang="en-US" sz="1350" dirty="0"/>
          </a:p>
        </p:txBody>
      </p:sp>
      <p:sp>
        <p:nvSpPr>
          <p:cNvPr id="20" name="Text 18"/>
          <p:cNvSpPr/>
          <p:nvPr/>
        </p:nvSpPr>
        <p:spPr>
          <a:xfrm>
            <a:off x="9208008" y="2834640"/>
            <a:ext cx="2249424" cy="640080"/>
          </a:xfrm>
          <a:prstGeom prst="rect">
            <a:avLst/>
          </a:prstGeom>
          <a:noFill/>
          <a:ln/>
        </p:spPr>
        <p:txBody>
          <a:bodyPr wrap="square" lIns="0" tIns="0" rIns="0" bIns="0" rtlCol="0" anchor="ctr"/>
          <a:lstStyle/>
          <a:p>
            <a:pPr marL="0" indent="0">
              <a:lnSpc>
                <a:spcPct val="100000"/>
              </a:lnSpc>
              <a:buNone/>
            </a:pPr>
            <a:r>
              <a:rPr lang="en-US" sz="1100" dirty="0">
                <a:solidFill>
                  <a:srgbClr val="33405B"/>
                </a:solidFill>
                <a:latin typeface="Segoe UI" pitchFamily="34" charset="0"/>
                <a:ea typeface="Segoe UI" pitchFamily="34" charset="-122"/>
                <a:cs typeface="Segoe UI" pitchFamily="34" charset="-120"/>
              </a:rPr>
              <a:t>Out-of-sample testing on the most recent 12 months only</a:t>
            </a:r>
            <a:endParaRPr lang="en-US" sz="1100" dirty="0"/>
          </a:p>
        </p:txBody>
      </p:sp>
      <p:sp>
        <p:nvSpPr>
          <p:cNvPr id="21" name="Shape 19"/>
          <p:cNvSpPr/>
          <p:nvPr/>
        </p:nvSpPr>
        <p:spPr>
          <a:xfrm>
            <a:off x="6126480" y="3749040"/>
            <a:ext cx="2670048" cy="1755648"/>
          </a:xfrm>
          <a:prstGeom prst="roundRect">
            <a:avLst>
              <a:gd name="adj" fmla="val 6250"/>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22" name="Shape 20"/>
          <p:cNvSpPr/>
          <p:nvPr/>
        </p:nvSpPr>
        <p:spPr>
          <a:xfrm>
            <a:off x="6345936" y="3968496"/>
            <a:ext cx="310896" cy="310896"/>
          </a:xfrm>
          <a:prstGeom prst="roundRect">
            <a:avLst>
              <a:gd name="adj" fmla="val 23529"/>
            </a:avLst>
          </a:prstGeom>
          <a:solidFill>
            <a:srgbClr val="D98A00"/>
          </a:solidFill>
          <a:ln w="12700">
            <a:solidFill>
              <a:srgbClr val="333333"/>
            </a:solidFill>
            <a:prstDash val="solid"/>
          </a:ln>
        </p:spPr>
      </p:sp>
      <p:sp>
        <p:nvSpPr>
          <p:cNvPr id="23" name="Text 21"/>
          <p:cNvSpPr/>
          <p:nvPr/>
        </p:nvSpPr>
        <p:spPr>
          <a:xfrm>
            <a:off x="6345936" y="4352544"/>
            <a:ext cx="2249424" cy="457200"/>
          </a:xfrm>
          <a:prstGeom prst="rect">
            <a:avLst/>
          </a:prstGeom>
          <a:noFill/>
          <a:ln/>
        </p:spPr>
        <p:txBody>
          <a:bodyPr wrap="square" lIns="0" tIns="0" rIns="0" bIns="0" rtlCol="0" anchor="ctr"/>
          <a:lstStyle/>
          <a:p>
            <a:pPr marL="0" indent="0">
              <a:buNone/>
            </a:pPr>
            <a:r>
              <a:rPr lang="en-US" sz="1350" b="1" dirty="0">
                <a:solidFill>
                  <a:srgbClr val="0B1233"/>
                </a:solidFill>
                <a:latin typeface="Segoe UI Semibold" pitchFamily="34" charset="0"/>
                <a:ea typeface="Segoe UI Semibold" pitchFamily="34" charset="-122"/>
                <a:cs typeface="Segoe UI Semibold" pitchFamily="34" charset="-120"/>
              </a:rPr>
              <a:t>Class imbalance</a:t>
            </a:r>
            <a:endParaRPr lang="en-US" sz="1350" dirty="0"/>
          </a:p>
        </p:txBody>
      </p:sp>
      <p:sp>
        <p:nvSpPr>
          <p:cNvPr id="24" name="Text 22"/>
          <p:cNvSpPr/>
          <p:nvPr/>
        </p:nvSpPr>
        <p:spPr>
          <a:xfrm>
            <a:off x="6345936" y="4773168"/>
            <a:ext cx="2249424" cy="640080"/>
          </a:xfrm>
          <a:prstGeom prst="rect">
            <a:avLst/>
          </a:prstGeom>
          <a:noFill/>
          <a:ln/>
        </p:spPr>
        <p:txBody>
          <a:bodyPr wrap="square" lIns="0" tIns="0" rIns="0" bIns="0" rtlCol="0" anchor="ctr"/>
          <a:lstStyle/>
          <a:p>
            <a:pPr marL="0" indent="0">
              <a:lnSpc>
                <a:spcPct val="100000"/>
              </a:lnSpc>
              <a:buNone/>
            </a:pPr>
            <a:r>
              <a:rPr lang="en-US" sz="1100" dirty="0">
                <a:solidFill>
                  <a:srgbClr val="33405B"/>
                </a:solidFill>
                <a:latin typeface="Segoe UI" pitchFamily="34" charset="0"/>
                <a:ea typeface="Segoe UI" pitchFamily="34" charset="-122"/>
                <a:cs typeface="Segoe UI" pitchFamily="34" charset="-120"/>
              </a:rPr>
              <a:t>Balanced class weights so rare up-moves aren't ignored</a:t>
            </a:r>
            <a:endParaRPr lang="en-US" sz="1100" dirty="0"/>
          </a:p>
        </p:txBody>
      </p:sp>
      <p:sp>
        <p:nvSpPr>
          <p:cNvPr id="25" name="Shape 23"/>
          <p:cNvSpPr/>
          <p:nvPr/>
        </p:nvSpPr>
        <p:spPr>
          <a:xfrm>
            <a:off x="8988552" y="3749040"/>
            <a:ext cx="2670048" cy="1755648"/>
          </a:xfrm>
          <a:prstGeom prst="roundRect">
            <a:avLst>
              <a:gd name="adj" fmla="val 6250"/>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26" name="Shape 24"/>
          <p:cNvSpPr/>
          <p:nvPr/>
        </p:nvSpPr>
        <p:spPr>
          <a:xfrm>
            <a:off x="9208008" y="3968496"/>
            <a:ext cx="310896" cy="310896"/>
          </a:xfrm>
          <a:prstGeom prst="roundRect">
            <a:avLst>
              <a:gd name="adj" fmla="val 23529"/>
            </a:avLst>
          </a:prstGeom>
          <a:solidFill>
            <a:srgbClr val="C9485B"/>
          </a:solidFill>
          <a:ln w="12700">
            <a:solidFill>
              <a:srgbClr val="333333"/>
            </a:solidFill>
            <a:prstDash val="solid"/>
          </a:ln>
        </p:spPr>
      </p:sp>
      <p:sp>
        <p:nvSpPr>
          <p:cNvPr id="27" name="Text 25"/>
          <p:cNvSpPr/>
          <p:nvPr/>
        </p:nvSpPr>
        <p:spPr>
          <a:xfrm>
            <a:off x="9208008" y="4352544"/>
            <a:ext cx="2249424" cy="457200"/>
          </a:xfrm>
          <a:prstGeom prst="rect">
            <a:avLst/>
          </a:prstGeom>
          <a:noFill/>
          <a:ln/>
        </p:spPr>
        <p:txBody>
          <a:bodyPr wrap="square" lIns="0" tIns="0" rIns="0" bIns="0" rtlCol="0" anchor="ctr"/>
          <a:lstStyle/>
          <a:p>
            <a:pPr marL="0" indent="0">
              <a:buNone/>
            </a:pPr>
            <a:r>
              <a:rPr lang="en-US" sz="1350" b="1" dirty="0">
                <a:solidFill>
                  <a:srgbClr val="0B1233"/>
                </a:solidFill>
                <a:latin typeface="Segoe UI Semibold" pitchFamily="34" charset="0"/>
                <a:ea typeface="Segoe UI Semibold" pitchFamily="34" charset="-122"/>
                <a:cs typeface="Segoe UI Semibold" pitchFamily="34" charset="-120"/>
              </a:rPr>
              <a:t>Downside risk</a:t>
            </a:r>
            <a:endParaRPr lang="en-US" sz="1350" dirty="0"/>
          </a:p>
        </p:txBody>
      </p:sp>
      <p:sp>
        <p:nvSpPr>
          <p:cNvPr id="28" name="Text 26"/>
          <p:cNvSpPr/>
          <p:nvPr/>
        </p:nvSpPr>
        <p:spPr>
          <a:xfrm>
            <a:off x="9208008" y="4773168"/>
            <a:ext cx="2249424" cy="640080"/>
          </a:xfrm>
          <a:prstGeom prst="rect">
            <a:avLst/>
          </a:prstGeom>
          <a:noFill/>
          <a:ln/>
        </p:spPr>
        <p:txBody>
          <a:bodyPr wrap="square" lIns="0" tIns="0" rIns="0" bIns="0" rtlCol="0" anchor="ctr"/>
          <a:lstStyle/>
          <a:p>
            <a:pPr marL="0" indent="0">
              <a:lnSpc>
                <a:spcPct val="100000"/>
              </a:lnSpc>
              <a:buNone/>
            </a:pPr>
            <a:r>
              <a:rPr lang="en-US" sz="1100" dirty="0">
                <a:solidFill>
                  <a:srgbClr val="33405B"/>
                </a:solidFill>
                <a:latin typeface="Segoe UI" pitchFamily="34" charset="0"/>
                <a:ea typeface="Segoe UI" pitchFamily="34" charset="-122"/>
                <a:cs typeface="Segoe UI" pitchFamily="34" charset="-120"/>
              </a:rPr>
              <a:t>ATR trailing stops + a hard 8–10% loss cap on every trade</a:t>
            </a:r>
            <a:endParaRPr lang="en-US" sz="1100" dirty="0"/>
          </a:p>
        </p:txBody>
      </p:sp>
      <p:sp>
        <p:nvSpPr>
          <p:cNvPr id="29" name="Text 27"/>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30" name="Text 28"/>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02</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DATA SOURCE &amp; STATISTICS</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Five years of PSX market history</a:t>
            </a:r>
            <a:endParaRPr lang="en-US" sz="2700" dirty="0"/>
          </a:p>
        </p:txBody>
      </p:sp>
      <p:sp>
        <p:nvSpPr>
          <p:cNvPr id="6" name="Shape 4"/>
          <p:cNvSpPr/>
          <p:nvPr/>
        </p:nvSpPr>
        <p:spPr>
          <a:xfrm>
            <a:off x="548640" y="1371600"/>
            <a:ext cx="2670048" cy="969264"/>
          </a:xfrm>
          <a:prstGeom prst="roundRect">
            <a:avLst>
              <a:gd name="adj" fmla="val 11321"/>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7" name="Shape 5"/>
          <p:cNvSpPr/>
          <p:nvPr/>
        </p:nvSpPr>
        <p:spPr>
          <a:xfrm>
            <a:off x="548640" y="1536192"/>
            <a:ext cx="54864" cy="640080"/>
          </a:xfrm>
          <a:prstGeom prst="rect">
            <a:avLst/>
          </a:prstGeom>
          <a:solidFill>
            <a:srgbClr val="0091C2"/>
          </a:solidFill>
          <a:ln w="12700">
            <a:solidFill>
              <a:srgbClr val="333333"/>
            </a:solidFill>
            <a:prstDash val="solid"/>
          </a:ln>
        </p:spPr>
      </p:sp>
      <p:sp>
        <p:nvSpPr>
          <p:cNvPr id="8" name="Text 6"/>
          <p:cNvSpPr/>
          <p:nvPr/>
        </p:nvSpPr>
        <p:spPr>
          <a:xfrm>
            <a:off x="749808" y="1481328"/>
            <a:ext cx="2322576" cy="502920"/>
          </a:xfrm>
          <a:prstGeom prst="rect">
            <a:avLst/>
          </a:prstGeom>
          <a:noFill/>
          <a:ln/>
        </p:spPr>
        <p:txBody>
          <a:bodyPr wrap="square" lIns="0" tIns="0" rIns="0" bIns="0" rtlCol="0" anchor="ctr"/>
          <a:lstStyle/>
          <a:p>
            <a:pPr marL="0" indent="0">
              <a:buNone/>
            </a:pPr>
            <a:r>
              <a:rPr lang="en-US" sz="2500" b="1" dirty="0">
                <a:solidFill>
                  <a:srgbClr val="0B1233"/>
                </a:solidFill>
                <a:latin typeface="Segoe UI Black" pitchFamily="34" charset="0"/>
                <a:ea typeface="Segoe UI Black" pitchFamily="34" charset="-122"/>
                <a:cs typeface="Segoe UI Black" pitchFamily="34" charset="-120"/>
              </a:rPr>
              <a:t>749,460</a:t>
            </a:r>
            <a:endParaRPr lang="en-US" sz="2500" dirty="0"/>
          </a:p>
        </p:txBody>
      </p:sp>
      <p:sp>
        <p:nvSpPr>
          <p:cNvPr id="9" name="Text 7"/>
          <p:cNvSpPr/>
          <p:nvPr/>
        </p:nvSpPr>
        <p:spPr>
          <a:xfrm>
            <a:off x="749808" y="1975104"/>
            <a:ext cx="2322576" cy="310896"/>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Raw daily records scraped</a:t>
            </a:r>
            <a:endParaRPr lang="en-US" sz="1050" dirty="0"/>
          </a:p>
        </p:txBody>
      </p:sp>
      <p:sp>
        <p:nvSpPr>
          <p:cNvPr id="10" name="Shape 8"/>
          <p:cNvSpPr/>
          <p:nvPr/>
        </p:nvSpPr>
        <p:spPr>
          <a:xfrm>
            <a:off x="3410712" y="1371600"/>
            <a:ext cx="2670048" cy="969264"/>
          </a:xfrm>
          <a:prstGeom prst="roundRect">
            <a:avLst>
              <a:gd name="adj" fmla="val 11321"/>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1" name="Shape 9"/>
          <p:cNvSpPr/>
          <p:nvPr/>
        </p:nvSpPr>
        <p:spPr>
          <a:xfrm>
            <a:off x="3410712" y="1536192"/>
            <a:ext cx="54864" cy="640080"/>
          </a:xfrm>
          <a:prstGeom prst="rect">
            <a:avLst/>
          </a:prstGeom>
          <a:solidFill>
            <a:srgbClr val="6A36DE"/>
          </a:solidFill>
          <a:ln w="12700">
            <a:solidFill>
              <a:srgbClr val="333333"/>
            </a:solidFill>
            <a:prstDash val="solid"/>
          </a:ln>
        </p:spPr>
      </p:sp>
      <p:sp>
        <p:nvSpPr>
          <p:cNvPr id="12" name="Text 10"/>
          <p:cNvSpPr/>
          <p:nvPr/>
        </p:nvSpPr>
        <p:spPr>
          <a:xfrm>
            <a:off x="3611880" y="1481328"/>
            <a:ext cx="2322576" cy="502920"/>
          </a:xfrm>
          <a:prstGeom prst="rect">
            <a:avLst/>
          </a:prstGeom>
          <a:noFill/>
          <a:ln/>
        </p:spPr>
        <p:txBody>
          <a:bodyPr wrap="square" lIns="0" tIns="0" rIns="0" bIns="0" rtlCol="0" anchor="ctr"/>
          <a:lstStyle/>
          <a:p>
            <a:pPr marL="0" indent="0">
              <a:buNone/>
            </a:pPr>
            <a:r>
              <a:rPr lang="en-US" sz="2500" b="1" dirty="0">
                <a:solidFill>
                  <a:srgbClr val="0B1233"/>
                </a:solidFill>
                <a:latin typeface="Segoe UI Black" pitchFamily="34" charset="0"/>
                <a:ea typeface="Segoe UI Black" pitchFamily="34" charset="-122"/>
                <a:cs typeface="Segoe UI Black" pitchFamily="34" charset="-120"/>
              </a:rPr>
              <a:t>3,768</a:t>
            </a:r>
            <a:endParaRPr lang="en-US" sz="2500" dirty="0"/>
          </a:p>
        </p:txBody>
      </p:sp>
      <p:sp>
        <p:nvSpPr>
          <p:cNvPr id="13" name="Text 11"/>
          <p:cNvSpPr/>
          <p:nvPr/>
        </p:nvSpPr>
        <p:spPr>
          <a:xfrm>
            <a:off x="3611880" y="1975104"/>
            <a:ext cx="2322576" cy="310896"/>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Unique PSX tickers</a:t>
            </a:r>
            <a:endParaRPr lang="en-US" sz="1050" dirty="0"/>
          </a:p>
        </p:txBody>
      </p:sp>
      <p:sp>
        <p:nvSpPr>
          <p:cNvPr id="14" name="Shape 12"/>
          <p:cNvSpPr/>
          <p:nvPr/>
        </p:nvSpPr>
        <p:spPr>
          <a:xfrm>
            <a:off x="6272784" y="1371600"/>
            <a:ext cx="2670048" cy="969264"/>
          </a:xfrm>
          <a:prstGeom prst="roundRect">
            <a:avLst>
              <a:gd name="adj" fmla="val 11321"/>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5" name="Shape 13"/>
          <p:cNvSpPr/>
          <p:nvPr/>
        </p:nvSpPr>
        <p:spPr>
          <a:xfrm>
            <a:off x="6272784" y="1536192"/>
            <a:ext cx="54864" cy="640080"/>
          </a:xfrm>
          <a:prstGeom prst="rect">
            <a:avLst/>
          </a:prstGeom>
          <a:solidFill>
            <a:srgbClr val="D98A00"/>
          </a:solidFill>
          <a:ln w="12700">
            <a:solidFill>
              <a:srgbClr val="333333"/>
            </a:solidFill>
            <a:prstDash val="solid"/>
          </a:ln>
        </p:spPr>
      </p:sp>
      <p:sp>
        <p:nvSpPr>
          <p:cNvPr id="16" name="Text 14"/>
          <p:cNvSpPr/>
          <p:nvPr/>
        </p:nvSpPr>
        <p:spPr>
          <a:xfrm>
            <a:off x="6473952" y="1481328"/>
            <a:ext cx="2322576" cy="502920"/>
          </a:xfrm>
          <a:prstGeom prst="rect">
            <a:avLst/>
          </a:prstGeom>
          <a:noFill/>
          <a:ln/>
        </p:spPr>
        <p:txBody>
          <a:bodyPr wrap="square" lIns="0" tIns="0" rIns="0" bIns="0" rtlCol="0" anchor="ctr"/>
          <a:lstStyle/>
          <a:p>
            <a:pPr marL="0" indent="0">
              <a:buNone/>
            </a:pPr>
            <a:r>
              <a:rPr lang="en-US" sz="2500" b="1" dirty="0">
                <a:solidFill>
                  <a:srgbClr val="0B1233"/>
                </a:solidFill>
                <a:latin typeface="Segoe UI Black" pitchFamily="34" charset="0"/>
                <a:ea typeface="Segoe UI Black" pitchFamily="34" charset="-122"/>
                <a:cs typeface="Segoe UI Black" pitchFamily="34" charset="-120"/>
              </a:rPr>
              <a:t>463,378</a:t>
            </a:r>
            <a:endParaRPr lang="en-US" sz="2500" dirty="0"/>
          </a:p>
        </p:txBody>
      </p:sp>
      <p:sp>
        <p:nvSpPr>
          <p:cNvPr id="17" name="Text 15"/>
          <p:cNvSpPr/>
          <p:nvPr/>
        </p:nvSpPr>
        <p:spPr>
          <a:xfrm>
            <a:off x="6473952" y="1975104"/>
            <a:ext cx="2322576" cy="310896"/>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Clean rows after filtering</a:t>
            </a:r>
            <a:endParaRPr lang="en-US" sz="1050" dirty="0"/>
          </a:p>
        </p:txBody>
      </p:sp>
      <p:sp>
        <p:nvSpPr>
          <p:cNvPr id="18" name="Shape 16"/>
          <p:cNvSpPr/>
          <p:nvPr/>
        </p:nvSpPr>
        <p:spPr>
          <a:xfrm>
            <a:off x="9134856" y="1371600"/>
            <a:ext cx="2670048" cy="969264"/>
          </a:xfrm>
          <a:prstGeom prst="roundRect">
            <a:avLst>
              <a:gd name="adj" fmla="val 11321"/>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9" name="Shape 17"/>
          <p:cNvSpPr/>
          <p:nvPr/>
        </p:nvSpPr>
        <p:spPr>
          <a:xfrm>
            <a:off x="9134856" y="1536192"/>
            <a:ext cx="54864" cy="640080"/>
          </a:xfrm>
          <a:prstGeom prst="rect">
            <a:avLst/>
          </a:prstGeom>
          <a:solidFill>
            <a:srgbClr val="12936A"/>
          </a:solidFill>
          <a:ln w="12700">
            <a:solidFill>
              <a:srgbClr val="333333"/>
            </a:solidFill>
            <a:prstDash val="solid"/>
          </a:ln>
        </p:spPr>
      </p:sp>
      <p:sp>
        <p:nvSpPr>
          <p:cNvPr id="20" name="Text 18"/>
          <p:cNvSpPr/>
          <p:nvPr/>
        </p:nvSpPr>
        <p:spPr>
          <a:xfrm>
            <a:off x="9336024" y="1481328"/>
            <a:ext cx="2322576" cy="502920"/>
          </a:xfrm>
          <a:prstGeom prst="rect">
            <a:avLst/>
          </a:prstGeom>
          <a:noFill/>
          <a:ln/>
        </p:spPr>
        <p:txBody>
          <a:bodyPr wrap="square" lIns="0" tIns="0" rIns="0" bIns="0" rtlCol="0" anchor="ctr"/>
          <a:lstStyle/>
          <a:p>
            <a:pPr marL="0" indent="0">
              <a:buNone/>
            </a:pPr>
            <a:r>
              <a:rPr lang="en-US" sz="2500" b="1" dirty="0">
                <a:solidFill>
                  <a:srgbClr val="0B1233"/>
                </a:solidFill>
                <a:latin typeface="Segoe UI Black" pitchFamily="34" charset="0"/>
                <a:ea typeface="Segoe UI Black" pitchFamily="34" charset="-122"/>
                <a:cs typeface="Segoe UI Black" pitchFamily="34" charset="-120"/>
              </a:rPr>
              <a:t>13</a:t>
            </a:r>
            <a:endParaRPr lang="en-US" sz="2500" dirty="0"/>
          </a:p>
        </p:txBody>
      </p:sp>
      <p:sp>
        <p:nvSpPr>
          <p:cNvPr id="21" name="Text 19"/>
          <p:cNvSpPr/>
          <p:nvPr/>
        </p:nvSpPr>
        <p:spPr>
          <a:xfrm>
            <a:off x="9336024" y="1975104"/>
            <a:ext cx="2322576" cy="310896"/>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Features per record</a:t>
            </a:r>
            <a:endParaRPr lang="en-US" sz="1050" dirty="0"/>
          </a:p>
        </p:txBody>
      </p:sp>
      <p:sp>
        <p:nvSpPr>
          <p:cNvPr id="22" name="Shape 20"/>
          <p:cNvSpPr/>
          <p:nvPr/>
        </p:nvSpPr>
        <p:spPr>
          <a:xfrm>
            <a:off x="548640" y="2606040"/>
            <a:ext cx="5394960" cy="1783080"/>
          </a:xfrm>
          <a:prstGeom prst="roundRect">
            <a:avLst>
              <a:gd name="adj" fmla="val 6154"/>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23" name="Text 21"/>
          <p:cNvSpPr/>
          <p:nvPr/>
        </p:nvSpPr>
        <p:spPr>
          <a:xfrm>
            <a:off x="804672" y="2770632"/>
            <a:ext cx="4937760" cy="329184"/>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Source &amp; acquisition</a:t>
            </a:r>
            <a:endParaRPr lang="en-US" sz="1500" dirty="0"/>
          </a:p>
        </p:txBody>
      </p:sp>
      <p:sp>
        <p:nvSpPr>
          <p:cNvPr id="24" name="Text 22"/>
          <p:cNvSpPr/>
          <p:nvPr/>
        </p:nvSpPr>
        <p:spPr>
          <a:xfrm>
            <a:off x="804672" y="3136392"/>
            <a:ext cx="4937760" cy="1188720"/>
          </a:xfrm>
          <a:prstGeom prst="rect">
            <a:avLst/>
          </a:prstGeom>
          <a:noFill/>
          <a:ln/>
        </p:spPr>
        <p:txBody>
          <a:bodyPr wrap="square" lIns="0" tIns="0" rIns="0" bIns="0" rtlCol="0" anchor="ctr"/>
          <a:lstStyle/>
          <a:p>
            <a:pPr marL="177800" indent="-177800">
              <a:spcAft>
                <a:spcPts val="500"/>
              </a:spcAft>
              <a:buSzPct val="100000"/>
              <a:buChar char="•"/>
            </a:pPr>
            <a:r>
              <a:rPr lang="en-US" sz="1200" dirty="0">
                <a:solidFill>
                  <a:srgbClr val="33405B"/>
                </a:solidFill>
                <a:latin typeface="Segoe UI" pitchFamily="34" charset="0"/>
                <a:ea typeface="Segoe UI" pitchFamily="34" charset="-122"/>
                <a:cs typeface="Segoe UI" pitchFamily="34" charset="-120"/>
              </a:rPr>
              <a:t>Source — PSX Data Portal (dps.psx.com.pk/historical), the official exchange archive</a:t>
            </a:r>
            <a:endParaRPr lang="en-US" sz="1200" dirty="0"/>
          </a:p>
          <a:p>
            <a:pPr marL="177800" indent="-177800">
              <a:spcAft>
                <a:spcPts val="500"/>
              </a:spcAft>
              <a:buSzPct val="100000"/>
              <a:buChar char="•"/>
            </a:pPr>
            <a:r>
              <a:rPr lang="en-US" sz="1200" dirty="0">
                <a:solidFill>
                  <a:srgbClr val="33405B"/>
                </a:solidFill>
                <a:latin typeface="Segoe UI" pitchFamily="34" charset="0"/>
                <a:ea typeface="Segoe UI" pitchFamily="34" charset="-122"/>
                <a:cs typeface="Segoe UI" pitchFamily="34" charset="-120"/>
              </a:rPr>
              <a:t>Method — automated Selenium + BeautifulSoup scraper over ~5 years of business days</a:t>
            </a:r>
            <a:endParaRPr lang="en-US" sz="1200" dirty="0"/>
          </a:p>
          <a:p>
            <a:pPr marL="177800" indent="-177800">
              <a:buSzPct val="100000"/>
              <a:buChar char="•"/>
            </a:pPr>
            <a:r>
              <a:rPr lang="en-US" sz="1200" dirty="0">
                <a:solidFill>
                  <a:srgbClr val="33405B"/>
                </a:solidFill>
                <a:latin typeface="Segoe UI" pitchFamily="34" charset="0"/>
                <a:ea typeface="Segoe UI" pitchFamily="34" charset="-122"/>
                <a:cs typeface="Segoe UI" pitchFamily="34" charset="-120"/>
              </a:rPr>
              <a:t>Each trading day is paginated, parsed and de-duplicated by SYMBOL, then saved to CSV</a:t>
            </a:r>
            <a:endParaRPr lang="en-US" sz="1200" dirty="0"/>
          </a:p>
        </p:txBody>
      </p:sp>
      <p:sp>
        <p:nvSpPr>
          <p:cNvPr id="25" name="Text 23"/>
          <p:cNvSpPr/>
          <p:nvPr/>
        </p:nvSpPr>
        <p:spPr>
          <a:xfrm>
            <a:off x="548640" y="4498848"/>
            <a:ext cx="5394960" cy="274320"/>
          </a:xfrm>
          <a:prstGeom prst="rect">
            <a:avLst/>
          </a:prstGeom>
          <a:noFill/>
          <a:ln/>
        </p:spPr>
        <p:txBody>
          <a:bodyPr wrap="square" lIns="0" tIns="0" rIns="0" bIns="0" rtlCol="0" anchor="ctr"/>
          <a:lstStyle/>
          <a:p>
            <a:pPr marL="0" indent="0">
              <a:buNone/>
            </a:pPr>
            <a:r>
              <a:rPr lang="en-US" sz="1150" b="1" dirty="0">
                <a:solidFill>
                  <a:srgbClr val="0091C2"/>
                </a:solidFill>
                <a:latin typeface="Segoe UI Semibold" pitchFamily="34" charset="0"/>
                <a:ea typeface="Segoe UI Semibold" pitchFamily="34" charset="-122"/>
                <a:cs typeface="Segoe UI Semibold" pitchFamily="34" charset="-120"/>
              </a:rPr>
              <a:t>Coverage:  2021-03-15  →  2026-03-13   (≈ 5 years, business days only)</a:t>
            </a:r>
            <a:endParaRPr lang="en-US" sz="1150" dirty="0"/>
          </a:p>
        </p:txBody>
      </p:sp>
      <p:graphicFrame>
        <p:nvGraphicFramePr>
          <p:cNvPr id="26" name="Chart 0"/>
          <p:cNvGraphicFramePr/>
          <p:nvPr/>
        </p:nvGraphicFramePr>
        <p:xfrm>
          <a:off x="548640" y="4800600"/>
          <a:ext cx="5394960"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6144768" y="2569464"/>
            <a:ext cx="5486400" cy="310896"/>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Feature reference</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144768" y="2935224"/>
          <a:ext cx="5486400" cy="3529584"/>
        </p:xfrm>
        <a:graphic>
          <a:graphicData uri="http://schemas.openxmlformats.org/drawingml/2006/table">
            <a:tbl>
              <a:tblPr/>
              <a:tblGrid>
                <a:gridCol w="269748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384048">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Field</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Description</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extLst>
                  <a:ext uri="{0D108BD9-81ED-4DB2-BD59-A6C34878D82A}">
                    <a16:rowId xmlns:a16="http://schemas.microsoft.com/office/drawing/2014/main" val="10000"/>
                  </a:ext>
                </a:extLst>
              </a:tr>
              <a:tr h="548640">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SYMBOL · Date</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Stock ticker and trading date</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OPEN · HIGH · LOW · CLOSE</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Daily price OHLC values</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VOLUME</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Shares traded that day</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LDCP</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Last day closing price</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CHANGE · CHANGE (%)</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Day-over-day price move</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RSI_1D · RSI_7D · RSI_30D</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buNone/>
                      </a:pPr>
                      <a:r>
                        <a:rPr lang="en-US" sz="1100" dirty="0">
                          <a:solidFill>
                            <a:srgbClr val="33405B"/>
                          </a:solidFill>
                          <a:latin typeface="Segoe UI" pitchFamily="34" charset="0"/>
                          <a:ea typeface="Segoe UI" pitchFamily="34" charset="-122"/>
                          <a:cs typeface="Segoe UI" pitchFamily="34" charset="-120"/>
                        </a:rPr>
                        <a:t>Relative Strength Index (engineered)</a:t>
                      </a:r>
                      <a:endParaRPr lang="en-US" sz="110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9" name="Text 25"/>
          <p:cNvSpPr/>
          <p:nvPr/>
        </p:nvSpPr>
        <p:spPr>
          <a:xfrm>
            <a:off x="6144768" y="6400800"/>
            <a:ext cx="5486400" cy="457200"/>
          </a:xfrm>
          <a:prstGeom prst="rect">
            <a:avLst/>
          </a:prstGeom>
          <a:noFill/>
          <a:ln/>
        </p:spPr>
        <p:txBody>
          <a:bodyPr wrap="square" lIns="0" tIns="0" rIns="0" bIns="0" rtlCol="0" anchor="ctr"/>
          <a:lstStyle/>
          <a:p>
            <a:pPr marL="0" indent="0">
              <a:buNone/>
            </a:pPr>
            <a:r>
              <a:rPr lang="en-US" sz="1050" i="1" dirty="0">
                <a:solidFill>
                  <a:srgbClr val="6B7796"/>
                </a:solidFill>
                <a:latin typeface="Segoe UI" pitchFamily="34" charset="0"/>
                <a:ea typeface="Segoe UI" pitchFamily="34" charset="-122"/>
                <a:cs typeface="Segoe UI" pitchFamily="34" charset="-120"/>
              </a:rPr>
              <a:t>Engineered RSI columns are added on top of the 10 raw market fields → 13 columns total.</a:t>
            </a:r>
            <a:endParaRPr lang="en-US" sz="1050" dirty="0"/>
          </a:p>
        </p:txBody>
      </p:sp>
      <p:sp>
        <p:nvSpPr>
          <p:cNvPr id="30" name="Text 26"/>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31" name="Text 2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03</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PROJECT SCOPE</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What the system does — and what it doesn't</a:t>
            </a:r>
            <a:endParaRPr lang="en-US" sz="2700" dirty="0"/>
          </a:p>
        </p:txBody>
      </p:sp>
      <p:sp>
        <p:nvSpPr>
          <p:cNvPr id="6" name="Shape 4"/>
          <p:cNvSpPr/>
          <p:nvPr/>
        </p:nvSpPr>
        <p:spPr>
          <a:xfrm>
            <a:off x="548640" y="1417320"/>
            <a:ext cx="5440680" cy="4892040"/>
          </a:xfrm>
          <a:prstGeom prst="roundRect">
            <a:avLst>
              <a:gd name="adj" fmla="val 2243"/>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7" name="Shape 5"/>
          <p:cNvSpPr/>
          <p:nvPr/>
        </p:nvSpPr>
        <p:spPr>
          <a:xfrm>
            <a:off x="822960" y="1691640"/>
            <a:ext cx="420624" cy="420624"/>
          </a:xfrm>
          <a:prstGeom prst="roundRect">
            <a:avLst>
              <a:gd name="adj" fmla="val 21739"/>
            </a:avLst>
          </a:prstGeom>
          <a:solidFill>
            <a:srgbClr val="12936A"/>
          </a:solidFill>
          <a:ln w="12700">
            <a:solidFill>
              <a:srgbClr val="333333"/>
            </a:solidFill>
            <a:prstDash val="solid"/>
          </a:ln>
        </p:spPr>
      </p:sp>
      <p:sp>
        <p:nvSpPr>
          <p:cNvPr id="8" name="Text 6"/>
          <p:cNvSpPr/>
          <p:nvPr/>
        </p:nvSpPr>
        <p:spPr>
          <a:xfrm>
            <a:off x="822960" y="1691640"/>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9" name="Text 7"/>
          <p:cNvSpPr/>
          <p:nvPr/>
        </p:nvSpPr>
        <p:spPr>
          <a:xfrm>
            <a:off x="1389888" y="1691640"/>
            <a:ext cx="4434840" cy="420624"/>
          </a:xfrm>
          <a:prstGeom prst="rect">
            <a:avLst/>
          </a:prstGeom>
          <a:noFill/>
          <a:ln/>
        </p:spPr>
        <p:txBody>
          <a:bodyPr wrap="square" lIns="0" tIns="0" rIns="0" bIns="0" rtlCol="0" anchor="ctr"/>
          <a:lstStyle/>
          <a:p>
            <a:pPr marL="0" indent="0">
              <a:buNone/>
            </a:pPr>
            <a:r>
              <a:rPr lang="en-US" sz="2000" b="1" dirty="0">
                <a:solidFill>
                  <a:srgbClr val="0B1233"/>
                </a:solidFill>
                <a:latin typeface="Segoe UI Semibold" pitchFamily="34" charset="0"/>
                <a:ea typeface="Segoe UI Semibold" pitchFamily="34" charset="-122"/>
                <a:cs typeface="Segoe UI Semibold" pitchFamily="34" charset="-120"/>
              </a:rPr>
              <a:t>In Scope</a:t>
            </a:r>
            <a:endParaRPr lang="en-US" sz="2000" dirty="0"/>
          </a:p>
        </p:txBody>
      </p:sp>
      <p:sp>
        <p:nvSpPr>
          <p:cNvPr id="10" name="Text 8"/>
          <p:cNvSpPr/>
          <p:nvPr/>
        </p:nvSpPr>
        <p:spPr>
          <a:xfrm>
            <a:off x="859536" y="2331720"/>
            <a:ext cx="4892040" cy="374904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33405B"/>
                </a:solidFill>
                <a:latin typeface="Segoe UI" pitchFamily="34" charset="0"/>
                <a:ea typeface="Segoe UI" pitchFamily="34" charset="-122"/>
                <a:cs typeface="Segoe UI" pitchFamily="34" charset="-120"/>
              </a:rPr>
              <a:t>Automated PSX historical data scraping</a:t>
            </a:r>
            <a:endParaRPr lang="en-US" sz="1350" dirty="0"/>
          </a:p>
          <a:p>
            <a:pPr marL="203200" indent="-203200">
              <a:spcAft>
                <a:spcPts val="1000"/>
              </a:spcAft>
              <a:buSzPct val="100000"/>
              <a:buChar char="•"/>
            </a:pPr>
            <a:r>
              <a:rPr lang="en-US" sz="1350" dirty="0">
                <a:solidFill>
                  <a:srgbClr val="33405B"/>
                </a:solidFill>
                <a:latin typeface="Segoe UI" pitchFamily="34" charset="0"/>
                <a:ea typeface="Segoe UI" pitchFamily="34" charset="-122"/>
                <a:cs typeface="Segoe UI" pitchFamily="34" charset="-120"/>
              </a:rPr>
              <a:t>Data cleaning &amp; de-duplication</a:t>
            </a:r>
            <a:endParaRPr lang="en-US" sz="1350" dirty="0"/>
          </a:p>
          <a:p>
            <a:pPr marL="203200" indent="-203200">
              <a:spcAft>
                <a:spcPts val="1000"/>
              </a:spcAft>
              <a:buSzPct val="100000"/>
              <a:buChar char="•"/>
            </a:pPr>
            <a:r>
              <a:rPr lang="en-US" sz="1350" dirty="0">
                <a:solidFill>
                  <a:srgbClr val="33405B"/>
                </a:solidFill>
                <a:latin typeface="Segoe UI" pitchFamily="34" charset="0"/>
                <a:ea typeface="Segoe UI" pitchFamily="34" charset="-122"/>
                <a:cs typeface="Segoe UI" pitchFamily="34" charset="-120"/>
              </a:rPr>
              <a:t>RSI + technical feature engineering</a:t>
            </a:r>
            <a:endParaRPr lang="en-US" sz="1350" dirty="0"/>
          </a:p>
          <a:p>
            <a:pPr marL="203200" indent="-203200">
              <a:spcAft>
                <a:spcPts val="1000"/>
              </a:spcAft>
              <a:buSzPct val="100000"/>
              <a:buChar char="•"/>
            </a:pPr>
            <a:r>
              <a:rPr lang="en-US" sz="1350" dirty="0">
                <a:solidFill>
                  <a:srgbClr val="33405B"/>
                </a:solidFill>
                <a:latin typeface="Segoe UI" pitchFamily="34" charset="0"/>
                <a:ea typeface="Segoe UI" pitchFamily="34" charset="-122"/>
                <a:cs typeface="Segoe UI" pitchFamily="34" charset="-120"/>
              </a:rPr>
              <a:t>ML prediction: Random Forest &amp; LightGBM</a:t>
            </a:r>
            <a:endParaRPr lang="en-US" sz="1350" dirty="0"/>
          </a:p>
          <a:p>
            <a:pPr marL="203200" indent="-203200">
              <a:spcAft>
                <a:spcPts val="1000"/>
              </a:spcAft>
              <a:buSzPct val="100000"/>
              <a:buChar char="•"/>
            </a:pPr>
            <a:r>
              <a:rPr lang="en-US" sz="1350" dirty="0">
                <a:solidFill>
                  <a:srgbClr val="33405B"/>
                </a:solidFill>
                <a:latin typeface="Segoe UI" pitchFamily="34" charset="0"/>
                <a:ea typeface="Segoe UI" pitchFamily="34" charset="-122"/>
                <a:cs typeface="Segoe UI" pitchFamily="34" charset="-120"/>
              </a:rPr>
              <a:t>BUY / STRONG BUY / HOLD signal generation</a:t>
            </a:r>
            <a:endParaRPr lang="en-US" sz="1350" dirty="0"/>
          </a:p>
          <a:p>
            <a:pPr marL="203200" indent="-203200">
              <a:spcAft>
                <a:spcPts val="1000"/>
              </a:spcAft>
              <a:buSzPct val="100000"/>
              <a:buChar char="•"/>
            </a:pPr>
            <a:r>
              <a:rPr lang="en-US" sz="1350" dirty="0">
                <a:solidFill>
                  <a:srgbClr val="33405B"/>
                </a:solidFill>
                <a:latin typeface="Segoe UI" pitchFamily="34" charset="0"/>
                <a:ea typeface="Segoe UI" pitchFamily="34" charset="-122"/>
                <a:cs typeface="Segoe UI" pitchFamily="34" charset="-120"/>
              </a:rPr>
              <a:t>Risk-managed portfolio backtesting</a:t>
            </a:r>
            <a:endParaRPr lang="en-US" sz="1350" dirty="0"/>
          </a:p>
          <a:p>
            <a:pPr marL="203200" indent="-203200">
              <a:buSzPct val="100000"/>
              <a:buChar char="•"/>
            </a:pPr>
            <a:r>
              <a:rPr lang="en-US" sz="1350" dirty="0">
                <a:solidFill>
                  <a:srgbClr val="33405B"/>
                </a:solidFill>
                <a:latin typeface="Segoe UI" pitchFamily="34" charset="0"/>
                <a:ea typeface="Segoe UI" pitchFamily="34" charset="-122"/>
                <a:cs typeface="Segoe UI" pitchFamily="34" charset="-120"/>
              </a:rPr>
              <a:t>Interactive Streamlit dashboard &amp; paper simulator</a:t>
            </a:r>
            <a:endParaRPr lang="en-US" sz="1350" dirty="0"/>
          </a:p>
        </p:txBody>
      </p:sp>
      <p:sp>
        <p:nvSpPr>
          <p:cNvPr id="11" name="Shape 9"/>
          <p:cNvSpPr/>
          <p:nvPr/>
        </p:nvSpPr>
        <p:spPr>
          <a:xfrm>
            <a:off x="6199632" y="1417320"/>
            <a:ext cx="5440680" cy="4892040"/>
          </a:xfrm>
          <a:prstGeom prst="roundRect">
            <a:avLst>
              <a:gd name="adj" fmla="val 2243"/>
            </a:avLst>
          </a:prstGeom>
          <a:solidFill>
            <a:srgbClr val="FBF4F5"/>
          </a:solidFill>
          <a:ln w="12700">
            <a:solidFill>
              <a:srgbClr val="F0D8DD"/>
            </a:solidFill>
            <a:prstDash val="solid"/>
          </a:ln>
          <a:effectLst>
            <a:outerShdw blurRad="88900" dist="25400" dir="5400000" algn="bl" rotWithShape="0">
              <a:srgbClr val="5B6B92">
                <a:alpha val="18000"/>
              </a:srgbClr>
            </a:outerShdw>
          </a:effectLst>
        </p:spPr>
      </p:sp>
      <p:sp>
        <p:nvSpPr>
          <p:cNvPr id="12" name="Shape 10"/>
          <p:cNvSpPr/>
          <p:nvPr/>
        </p:nvSpPr>
        <p:spPr>
          <a:xfrm>
            <a:off x="6473952" y="1691640"/>
            <a:ext cx="420624" cy="420624"/>
          </a:xfrm>
          <a:prstGeom prst="roundRect">
            <a:avLst>
              <a:gd name="adj" fmla="val 21739"/>
            </a:avLst>
          </a:prstGeom>
          <a:solidFill>
            <a:srgbClr val="C9485B"/>
          </a:solidFill>
          <a:ln w="12700">
            <a:solidFill>
              <a:srgbClr val="333333"/>
            </a:solidFill>
            <a:prstDash val="solid"/>
          </a:ln>
        </p:spPr>
      </p:sp>
      <p:sp>
        <p:nvSpPr>
          <p:cNvPr id="13" name="Text 11"/>
          <p:cNvSpPr/>
          <p:nvPr/>
        </p:nvSpPr>
        <p:spPr>
          <a:xfrm>
            <a:off x="6473952" y="1691640"/>
            <a:ext cx="420624"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a:t>
            </a:r>
            <a:endParaRPr lang="en-US" sz="1700" dirty="0"/>
          </a:p>
        </p:txBody>
      </p:sp>
      <p:sp>
        <p:nvSpPr>
          <p:cNvPr id="14" name="Text 12"/>
          <p:cNvSpPr/>
          <p:nvPr/>
        </p:nvSpPr>
        <p:spPr>
          <a:xfrm>
            <a:off x="7040880" y="1691640"/>
            <a:ext cx="4434840" cy="420624"/>
          </a:xfrm>
          <a:prstGeom prst="rect">
            <a:avLst/>
          </a:prstGeom>
          <a:noFill/>
          <a:ln/>
        </p:spPr>
        <p:txBody>
          <a:bodyPr wrap="square" lIns="0" tIns="0" rIns="0" bIns="0" rtlCol="0" anchor="ctr"/>
          <a:lstStyle/>
          <a:p>
            <a:pPr marL="0" indent="0">
              <a:buNone/>
            </a:pPr>
            <a:r>
              <a:rPr lang="en-US" sz="2000" b="1" dirty="0">
                <a:solidFill>
                  <a:srgbClr val="7A2E3A"/>
                </a:solidFill>
                <a:latin typeface="Segoe UI Semibold" pitchFamily="34" charset="0"/>
                <a:ea typeface="Segoe UI Semibold" pitchFamily="34" charset="-122"/>
                <a:cs typeface="Segoe UI Semibold" pitchFamily="34" charset="-120"/>
              </a:rPr>
              <a:t>Out of Scope</a:t>
            </a:r>
            <a:endParaRPr lang="en-US" sz="2000" dirty="0"/>
          </a:p>
        </p:txBody>
      </p:sp>
      <p:sp>
        <p:nvSpPr>
          <p:cNvPr id="15" name="Text 13"/>
          <p:cNvSpPr/>
          <p:nvPr/>
        </p:nvSpPr>
        <p:spPr>
          <a:xfrm>
            <a:off x="6510528" y="2331720"/>
            <a:ext cx="4892040" cy="374904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6B4A50"/>
                </a:solidFill>
                <a:latin typeface="Segoe UI" pitchFamily="34" charset="0"/>
                <a:ea typeface="Segoe UI" pitchFamily="34" charset="-122"/>
                <a:cs typeface="Segoe UI" pitchFamily="34" charset="-120"/>
              </a:rPr>
              <a:t>Live / automated trade execution</a:t>
            </a:r>
            <a:endParaRPr lang="en-US" sz="1350" dirty="0"/>
          </a:p>
          <a:p>
            <a:pPr marL="203200" indent="-203200">
              <a:spcAft>
                <a:spcPts val="1000"/>
              </a:spcAft>
              <a:buSzPct val="100000"/>
              <a:buChar char="•"/>
            </a:pPr>
            <a:r>
              <a:rPr lang="en-US" sz="1350" dirty="0">
                <a:solidFill>
                  <a:srgbClr val="6B4A50"/>
                </a:solidFill>
                <a:latin typeface="Segoe UI" pitchFamily="34" charset="0"/>
                <a:ea typeface="Segoe UI" pitchFamily="34" charset="-122"/>
                <a:cs typeface="Segoe UI" pitchFamily="34" charset="-120"/>
              </a:rPr>
              <a:t>Portfolio management &amp; financial advisory</a:t>
            </a:r>
            <a:endParaRPr lang="en-US" sz="1350" dirty="0"/>
          </a:p>
          <a:p>
            <a:pPr marL="203200" indent="-203200">
              <a:spcAft>
                <a:spcPts val="1000"/>
              </a:spcAft>
              <a:buSzPct val="100000"/>
              <a:buChar char="•"/>
            </a:pPr>
            <a:r>
              <a:rPr lang="en-US" sz="1350" dirty="0">
                <a:solidFill>
                  <a:srgbClr val="6B4A50"/>
                </a:solidFill>
                <a:latin typeface="Segoe UI" pitchFamily="34" charset="0"/>
                <a:ea typeface="Segoe UI" pitchFamily="34" charset="-122"/>
                <a:cs typeface="Segoe UI" pitchFamily="34" charset="-120"/>
              </a:rPr>
              <a:t>International stock exchanges (PSX only)</a:t>
            </a:r>
            <a:endParaRPr lang="en-US" sz="1350" dirty="0"/>
          </a:p>
          <a:p>
            <a:pPr marL="203200" indent="-203200">
              <a:spcAft>
                <a:spcPts val="1000"/>
              </a:spcAft>
              <a:buSzPct val="100000"/>
              <a:buChar char="•"/>
            </a:pPr>
            <a:r>
              <a:rPr lang="en-US" sz="1350" dirty="0">
                <a:solidFill>
                  <a:srgbClr val="6B4A50"/>
                </a:solidFill>
                <a:latin typeface="Segoe UI" pitchFamily="34" charset="0"/>
                <a:ea typeface="Segoe UI" pitchFamily="34" charset="-122"/>
                <a:cs typeface="Segoe UI" pitchFamily="34" charset="-120"/>
              </a:rPr>
              <a:t>Deep-learning models (LSTM / Transformers)</a:t>
            </a:r>
            <a:endParaRPr lang="en-US" sz="1350" dirty="0"/>
          </a:p>
          <a:p>
            <a:pPr marL="203200" indent="-203200">
              <a:spcAft>
                <a:spcPts val="1000"/>
              </a:spcAft>
              <a:buSzPct val="100000"/>
              <a:buChar char="•"/>
            </a:pPr>
            <a:r>
              <a:rPr lang="en-US" sz="1350" dirty="0">
                <a:solidFill>
                  <a:srgbClr val="6B4A50"/>
                </a:solidFill>
                <a:latin typeface="Segoe UI" pitchFamily="34" charset="0"/>
                <a:ea typeface="Segoe UI" pitchFamily="34" charset="-122"/>
                <a:cs typeface="Segoe UI" pitchFamily="34" charset="-120"/>
              </a:rPr>
              <a:t>Real-time / intraday streaming data</a:t>
            </a:r>
            <a:endParaRPr lang="en-US" sz="1350" dirty="0"/>
          </a:p>
          <a:p>
            <a:pPr marL="203200" indent="-203200">
              <a:spcAft>
                <a:spcPts val="1000"/>
              </a:spcAft>
              <a:buSzPct val="100000"/>
              <a:buChar char="•"/>
            </a:pPr>
            <a:r>
              <a:rPr lang="en-US" sz="1350" dirty="0">
                <a:solidFill>
                  <a:srgbClr val="6B4A50"/>
                </a:solidFill>
                <a:latin typeface="Segoe UI" pitchFamily="34" charset="0"/>
                <a:ea typeface="Segoe UI" pitchFamily="34" charset="-122"/>
                <a:cs typeface="Segoe UI" pitchFamily="34" charset="-120"/>
              </a:rPr>
              <a:t>Fundamental &amp; news-sentiment analysis</a:t>
            </a:r>
            <a:endParaRPr lang="en-US" sz="1350" dirty="0"/>
          </a:p>
          <a:p>
            <a:pPr marL="203200" indent="-203200">
              <a:buSzPct val="100000"/>
              <a:buChar char="•"/>
            </a:pPr>
            <a:r>
              <a:rPr lang="en-US" sz="1350" dirty="0">
                <a:solidFill>
                  <a:srgbClr val="6B4A50"/>
                </a:solidFill>
                <a:latin typeface="Segoe UI" pitchFamily="34" charset="0"/>
                <a:ea typeface="Segoe UI" pitchFamily="34" charset="-122"/>
                <a:cs typeface="Segoe UI" pitchFamily="34" charset="-120"/>
              </a:rPr>
              <a:t>Brokerage integration &amp; real money</a:t>
            </a:r>
            <a:endParaRPr lang="en-US" sz="1350" dirty="0"/>
          </a:p>
        </p:txBody>
      </p:sp>
      <p:sp>
        <p:nvSpPr>
          <p:cNvPr id="16" name="Text 14"/>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17" name="Text 15"/>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04</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PROPOSED METHODOLOGY</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The end-to-end workflow</a:t>
            </a:r>
            <a:endParaRPr lang="en-US" sz="2700" dirty="0"/>
          </a:p>
        </p:txBody>
      </p:sp>
      <p:sp>
        <p:nvSpPr>
          <p:cNvPr id="6" name="Shape 4"/>
          <p:cNvSpPr/>
          <p:nvPr/>
        </p:nvSpPr>
        <p:spPr>
          <a:xfrm>
            <a:off x="548640" y="1417320"/>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7" name="Shape 5"/>
          <p:cNvSpPr/>
          <p:nvPr/>
        </p:nvSpPr>
        <p:spPr>
          <a:xfrm>
            <a:off x="548640" y="1417320"/>
            <a:ext cx="512064" cy="512064"/>
          </a:xfrm>
          <a:prstGeom prst="roundRect">
            <a:avLst>
              <a:gd name="adj" fmla="val 17857"/>
            </a:avLst>
          </a:prstGeom>
          <a:solidFill>
            <a:srgbClr val="0091C2"/>
          </a:solidFill>
          <a:ln w="12700">
            <a:solidFill>
              <a:srgbClr val="333333"/>
            </a:solidFill>
            <a:prstDash val="solid"/>
          </a:ln>
        </p:spPr>
      </p:sp>
      <p:sp>
        <p:nvSpPr>
          <p:cNvPr id="8" name="Text 6"/>
          <p:cNvSpPr/>
          <p:nvPr/>
        </p:nvSpPr>
        <p:spPr>
          <a:xfrm>
            <a:off x="548640" y="141732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1</a:t>
            </a:r>
            <a:endParaRPr lang="en-US" sz="1600" dirty="0"/>
          </a:p>
        </p:txBody>
      </p:sp>
      <p:sp>
        <p:nvSpPr>
          <p:cNvPr id="9" name="Text 7"/>
          <p:cNvSpPr/>
          <p:nvPr/>
        </p:nvSpPr>
        <p:spPr>
          <a:xfrm>
            <a:off x="1188720" y="1417320"/>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PSX Data Source</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dps.psx.com.pk/historical</a:t>
            </a:r>
            <a:endParaRPr lang="en-US" sz="1250" dirty="0"/>
          </a:p>
        </p:txBody>
      </p:sp>
      <p:sp>
        <p:nvSpPr>
          <p:cNvPr id="10" name="Text 8"/>
          <p:cNvSpPr/>
          <p:nvPr/>
        </p:nvSpPr>
        <p:spPr>
          <a:xfrm>
            <a:off x="2125980" y="1933956"/>
            <a:ext cx="457200" cy="182880"/>
          </a:xfrm>
          <a:prstGeom prst="rect">
            <a:avLst/>
          </a:prstGeom>
          <a:noFill/>
          <a:ln/>
        </p:spPr>
        <p:txBody>
          <a:bodyPr wrap="square" lIns="0" tIns="0" rIns="0" bIns="0" rtlCol="0" anchor="ctr"/>
          <a:lstStyle/>
          <a:p>
            <a:pPr marL="0" indent="0" algn="ctr">
              <a:buNone/>
            </a:pPr>
            <a:r>
              <a:rPr lang="en-US" sz="1200" dirty="0">
                <a:solidFill>
                  <a:srgbClr val="0091C2"/>
                </a:solidFill>
                <a:latin typeface="Segoe UI" pitchFamily="34" charset="0"/>
                <a:ea typeface="Segoe UI" pitchFamily="34" charset="-122"/>
                <a:cs typeface="Segoe UI" pitchFamily="34" charset="-120"/>
              </a:rPr>
              <a:t>▼</a:t>
            </a:r>
            <a:endParaRPr lang="en-US" sz="1200" dirty="0"/>
          </a:p>
        </p:txBody>
      </p:sp>
      <p:sp>
        <p:nvSpPr>
          <p:cNvPr id="11" name="Shape 9"/>
          <p:cNvSpPr/>
          <p:nvPr/>
        </p:nvSpPr>
        <p:spPr>
          <a:xfrm>
            <a:off x="548640" y="2071116"/>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12" name="Shape 10"/>
          <p:cNvSpPr/>
          <p:nvPr/>
        </p:nvSpPr>
        <p:spPr>
          <a:xfrm>
            <a:off x="548640" y="2071116"/>
            <a:ext cx="512064" cy="512064"/>
          </a:xfrm>
          <a:prstGeom prst="roundRect">
            <a:avLst>
              <a:gd name="adj" fmla="val 17857"/>
            </a:avLst>
          </a:prstGeom>
          <a:solidFill>
            <a:srgbClr val="0091C2"/>
          </a:solidFill>
          <a:ln w="12700">
            <a:solidFill>
              <a:srgbClr val="333333"/>
            </a:solidFill>
            <a:prstDash val="solid"/>
          </a:ln>
        </p:spPr>
      </p:sp>
      <p:sp>
        <p:nvSpPr>
          <p:cNvPr id="13" name="Text 11"/>
          <p:cNvSpPr/>
          <p:nvPr/>
        </p:nvSpPr>
        <p:spPr>
          <a:xfrm>
            <a:off x="548640" y="207111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2</a:t>
            </a:r>
            <a:endParaRPr lang="en-US" sz="1600" dirty="0"/>
          </a:p>
        </p:txBody>
      </p:sp>
      <p:sp>
        <p:nvSpPr>
          <p:cNvPr id="14" name="Text 12"/>
          <p:cNvSpPr/>
          <p:nvPr/>
        </p:nvSpPr>
        <p:spPr>
          <a:xfrm>
            <a:off x="1188720" y="2071116"/>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Data Scraping</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Selenium + BeautifulSoup</a:t>
            </a:r>
            <a:endParaRPr lang="en-US" sz="1250" dirty="0"/>
          </a:p>
        </p:txBody>
      </p:sp>
      <p:sp>
        <p:nvSpPr>
          <p:cNvPr id="15" name="Text 13"/>
          <p:cNvSpPr/>
          <p:nvPr/>
        </p:nvSpPr>
        <p:spPr>
          <a:xfrm>
            <a:off x="2125980" y="2587752"/>
            <a:ext cx="457200" cy="182880"/>
          </a:xfrm>
          <a:prstGeom prst="rect">
            <a:avLst/>
          </a:prstGeom>
          <a:noFill/>
          <a:ln/>
        </p:spPr>
        <p:txBody>
          <a:bodyPr wrap="square" lIns="0" tIns="0" rIns="0" bIns="0" rtlCol="0" anchor="ctr"/>
          <a:lstStyle/>
          <a:p>
            <a:pPr marL="0" indent="0" algn="ctr">
              <a:buNone/>
            </a:pPr>
            <a:r>
              <a:rPr lang="en-US" sz="1200" dirty="0">
                <a:solidFill>
                  <a:srgbClr val="0091C2"/>
                </a:solidFill>
                <a:latin typeface="Segoe UI" pitchFamily="34" charset="0"/>
                <a:ea typeface="Segoe UI" pitchFamily="34" charset="-122"/>
                <a:cs typeface="Segoe UI" pitchFamily="34" charset="-120"/>
              </a:rPr>
              <a:t>▼</a:t>
            </a:r>
            <a:endParaRPr lang="en-US" sz="1200" dirty="0"/>
          </a:p>
        </p:txBody>
      </p:sp>
      <p:sp>
        <p:nvSpPr>
          <p:cNvPr id="16" name="Shape 14"/>
          <p:cNvSpPr/>
          <p:nvPr/>
        </p:nvSpPr>
        <p:spPr>
          <a:xfrm>
            <a:off x="548640" y="2724912"/>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17" name="Shape 15"/>
          <p:cNvSpPr/>
          <p:nvPr/>
        </p:nvSpPr>
        <p:spPr>
          <a:xfrm>
            <a:off x="548640" y="2724912"/>
            <a:ext cx="512064" cy="512064"/>
          </a:xfrm>
          <a:prstGeom prst="roundRect">
            <a:avLst>
              <a:gd name="adj" fmla="val 17857"/>
            </a:avLst>
          </a:prstGeom>
          <a:solidFill>
            <a:srgbClr val="0091C2"/>
          </a:solidFill>
          <a:ln w="12700">
            <a:solidFill>
              <a:srgbClr val="333333"/>
            </a:solidFill>
            <a:prstDash val="solid"/>
          </a:ln>
        </p:spPr>
      </p:sp>
      <p:sp>
        <p:nvSpPr>
          <p:cNvPr id="18" name="Text 16"/>
          <p:cNvSpPr/>
          <p:nvPr/>
        </p:nvSpPr>
        <p:spPr>
          <a:xfrm>
            <a:off x="548640" y="272491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3</a:t>
            </a:r>
            <a:endParaRPr lang="en-US" sz="1600" dirty="0"/>
          </a:p>
        </p:txBody>
      </p:sp>
      <p:sp>
        <p:nvSpPr>
          <p:cNvPr id="19" name="Text 17"/>
          <p:cNvSpPr/>
          <p:nvPr/>
        </p:nvSpPr>
        <p:spPr>
          <a:xfrm>
            <a:off x="1188720" y="2724912"/>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Data Cleaning</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De-dup · hyphen filter</a:t>
            </a:r>
            <a:endParaRPr lang="en-US" sz="1250" dirty="0"/>
          </a:p>
        </p:txBody>
      </p:sp>
      <p:sp>
        <p:nvSpPr>
          <p:cNvPr id="20" name="Text 18"/>
          <p:cNvSpPr/>
          <p:nvPr/>
        </p:nvSpPr>
        <p:spPr>
          <a:xfrm>
            <a:off x="2125980" y="3241548"/>
            <a:ext cx="457200" cy="182880"/>
          </a:xfrm>
          <a:prstGeom prst="rect">
            <a:avLst/>
          </a:prstGeom>
          <a:noFill/>
          <a:ln/>
        </p:spPr>
        <p:txBody>
          <a:bodyPr wrap="square" lIns="0" tIns="0" rIns="0" bIns="0" rtlCol="0" anchor="ctr"/>
          <a:lstStyle/>
          <a:p>
            <a:pPr marL="0" indent="0" algn="ctr">
              <a:buNone/>
            </a:pPr>
            <a:r>
              <a:rPr lang="en-US" sz="1200" dirty="0">
                <a:solidFill>
                  <a:srgbClr val="0091C2"/>
                </a:solidFill>
                <a:latin typeface="Segoe UI" pitchFamily="34" charset="0"/>
                <a:ea typeface="Segoe UI" pitchFamily="34" charset="-122"/>
                <a:cs typeface="Segoe UI" pitchFamily="34" charset="-120"/>
              </a:rPr>
              <a:t>▼</a:t>
            </a:r>
            <a:endParaRPr lang="en-US" sz="1200" dirty="0"/>
          </a:p>
        </p:txBody>
      </p:sp>
      <p:sp>
        <p:nvSpPr>
          <p:cNvPr id="21" name="Shape 19"/>
          <p:cNvSpPr/>
          <p:nvPr/>
        </p:nvSpPr>
        <p:spPr>
          <a:xfrm>
            <a:off x="548640" y="3378708"/>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22" name="Shape 20"/>
          <p:cNvSpPr/>
          <p:nvPr/>
        </p:nvSpPr>
        <p:spPr>
          <a:xfrm>
            <a:off x="548640" y="3378708"/>
            <a:ext cx="512064" cy="512064"/>
          </a:xfrm>
          <a:prstGeom prst="roundRect">
            <a:avLst>
              <a:gd name="adj" fmla="val 17857"/>
            </a:avLst>
          </a:prstGeom>
          <a:solidFill>
            <a:srgbClr val="6A36DE"/>
          </a:solidFill>
          <a:ln w="12700">
            <a:solidFill>
              <a:srgbClr val="333333"/>
            </a:solidFill>
            <a:prstDash val="solid"/>
          </a:ln>
        </p:spPr>
      </p:sp>
      <p:sp>
        <p:nvSpPr>
          <p:cNvPr id="23" name="Text 21"/>
          <p:cNvSpPr/>
          <p:nvPr/>
        </p:nvSpPr>
        <p:spPr>
          <a:xfrm>
            <a:off x="548640" y="33787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4</a:t>
            </a:r>
            <a:endParaRPr lang="en-US" sz="1600" dirty="0"/>
          </a:p>
        </p:txBody>
      </p:sp>
      <p:sp>
        <p:nvSpPr>
          <p:cNvPr id="24" name="Text 22"/>
          <p:cNvSpPr/>
          <p:nvPr/>
        </p:nvSpPr>
        <p:spPr>
          <a:xfrm>
            <a:off x="1188720" y="3378708"/>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Feature Engineering &amp; RSI</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RSI · MACD · ATR · BBands</a:t>
            </a:r>
            <a:endParaRPr lang="en-US" sz="1250" dirty="0"/>
          </a:p>
        </p:txBody>
      </p:sp>
      <p:sp>
        <p:nvSpPr>
          <p:cNvPr id="25" name="Text 23"/>
          <p:cNvSpPr/>
          <p:nvPr/>
        </p:nvSpPr>
        <p:spPr>
          <a:xfrm>
            <a:off x="2125980" y="3895344"/>
            <a:ext cx="457200" cy="182880"/>
          </a:xfrm>
          <a:prstGeom prst="rect">
            <a:avLst/>
          </a:prstGeom>
          <a:noFill/>
          <a:ln/>
        </p:spPr>
        <p:txBody>
          <a:bodyPr wrap="square" lIns="0" tIns="0" rIns="0" bIns="0" rtlCol="0" anchor="ctr"/>
          <a:lstStyle/>
          <a:p>
            <a:pPr marL="0" indent="0" algn="ctr">
              <a:buNone/>
            </a:pPr>
            <a:r>
              <a:rPr lang="en-US" sz="1200" dirty="0">
                <a:solidFill>
                  <a:srgbClr val="6A36DE"/>
                </a:solidFill>
                <a:latin typeface="Segoe UI" pitchFamily="34" charset="0"/>
                <a:ea typeface="Segoe UI" pitchFamily="34" charset="-122"/>
                <a:cs typeface="Segoe UI" pitchFamily="34" charset="-120"/>
              </a:rPr>
              <a:t>▼</a:t>
            </a:r>
            <a:endParaRPr lang="en-US" sz="1200" dirty="0"/>
          </a:p>
        </p:txBody>
      </p:sp>
      <p:sp>
        <p:nvSpPr>
          <p:cNvPr id="26" name="Shape 24"/>
          <p:cNvSpPr/>
          <p:nvPr/>
        </p:nvSpPr>
        <p:spPr>
          <a:xfrm>
            <a:off x="548640" y="4032504"/>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27" name="Shape 25"/>
          <p:cNvSpPr/>
          <p:nvPr/>
        </p:nvSpPr>
        <p:spPr>
          <a:xfrm>
            <a:off x="548640" y="4032504"/>
            <a:ext cx="512064" cy="512064"/>
          </a:xfrm>
          <a:prstGeom prst="roundRect">
            <a:avLst>
              <a:gd name="adj" fmla="val 17857"/>
            </a:avLst>
          </a:prstGeom>
          <a:solidFill>
            <a:srgbClr val="D98A00"/>
          </a:solidFill>
          <a:ln w="12700">
            <a:solidFill>
              <a:srgbClr val="333333"/>
            </a:solidFill>
            <a:prstDash val="solid"/>
          </a:ln>
        </p:spPr>
      </p:sp>
      <p:sp>
        <p:nvSpPr>
          <p:cNvPr id="28" name="Text 26"/>
          <p:cNvSpPr/>
          <p:nvPr/>
        </p:nvSpPr>
        <p:spPr>
          <a:xfrm>
            <a:off x="548640" y="403250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5</a:t>
            </a:r>
            <a:endParaRPr lang="en-US" sz="1600" dirty="0"/>
          </a:p>
        </p:txBody>
      </p:sp>
      <p:sp>
        <p:nvSpPr>
          <p:cNvPr id="29" name="Text 27"/>
          <p:cNvSpPr/>
          <p:nvPr/>
        </p:nvSpPr>
        <p:spPr>
          <a:xfrm>
            <a:off x="1188720" y="4032504"/>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Random Forest Model</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100 trees · depth 6</a:t>
            </a:r>
            <a:endParaRPr lang="en-US" sz="1250" dirty="0"/>
          </a:p>
        </p:txBody>
      </p:sp>
      <p:sp>
        <p:nvSpPr>
          <p:cNvPr id="30" name="Text 28"/>
          <p:cNvSpPr/>
          <p:nvPr/>
        </p:nvSpPr>
        <p:spPr>
          <a:xfrm>
            <a:off x="2125980" y="4549140"/>
            <a:ext cx="457200" cy="182880"/>
          </a:xfrm>
          <a:prstGeom prst="rect">
            <a:avLst/>
          </a:prstGeom>
          <a:noFill/>
          <a:ln/>
        </p:spPr>
        <p:txBody>
          <a:bodyPr wrap="square" lIns="0" tIns="0" rIns="0" bIns="0" rtlCol="0" anchor="ctr"/>
          <a:lstStyle/>
          <a:p>
            <a:pPr marL="0" indent="0" algn="ctr">
              <a:buNone/>
            </a:pPr>
            <a:r>
              <a:rPr lang="en-US" sz="1200" dirty="0">
                <a:solidFill>
                  <a:srgbClr val="D98A00"/>
                </a:solidFill>
                <a:latin typeface="Segoe UI" pitchFamily="34" charset="0"/>
                <a:ea typeface="Segoe UI" pitchFamily="34" charset="-122"/>
                <a:cs typeface="Segoe UI" pitchFamily="34" charset="-120"/>
              </a:rPr>
              <a:t>▼</a:t>
            </a:r>
            <a:endParaRPr lang="en-US" sz="1200" dirty="0"/>
          </a:p>
        </p:txBody>
      </p:sp>
      <p:sp>
        <p:nvSpPr>
          <p:cNvPr id="31" name="Shape 29"/>
          <p:cNvSpPr/>
          <p:nvPr/>
        </p:nvSpPr>
        <p:spPr>
          <a:xfrm>
            <a:off x="548640" y="4686300"/>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32" name="Shape 30"/>
          <p:cNvSpPr/>
          <p:nvPr/>
        </p:nvSpPr>
        <p:spPr>
          <a:xfrm>
            <a:off x="548640" y="4686300"/>
            <a:ext cx="512064" cy="512064"/>
          </a:xfrm>
          <a:prstGeom prst="roundRect">
            <a:avLst>
              <a:gd name="adj" fmla="val 17857"/>
            </a:avLst>
          </a:prstGeom>
          <a:solidFill>
            <a:srgbClr val="D98A00"/>
          </a:solidFill>
          <a:ln w="12700">
            <a:solidFill>
              <a:srgbClr val="333333"/>
            </a:solidFill>
            <a:prstDash val="solid"/>
          </a:ln>
        </p:spPr>
      </p:sp>
      <p:sp>
        <p:nvSpPr>
          <p:cNvPr id="33" name="Text 31"/>
          <p:cNvSpPr/>
          <p:nvPr/>
        </p:nvSpPr>
        <p:spPr>
          <a:xfrm>
            <a:off x="548640" y="468630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6</a:t>
            </a:r>
            <a:endParaRPr lang="en-US" sz="1600" dirty="0"/>
          </a:p>
        </p:txBody>
      </p:sp>
      <p:sp>
        <p:nvSpPr>
          <p:cNvPr id="34" name="Text 32"/>
          <p:cNvSpPr/>
          <p:nvPr/>
        </p:nvSpPr>
        <p:spPr>
          <a:xfrm>
            <a:off x="1188720" y="4686300"/>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LightGBM Model</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300 boosts · lr 0.05</a:t>
            </a:r>
            <a:endParaRPr lang="en-US" sz="1250" dirty="0"/>
          </a:p>
        </p:txBody>
      </p:sp>
      <p:sp>
        <p:nvSpPr>
          <p:cNvPr id="35" name="Text 33"/>
          <p:cNvSpPr/>
          <p:nvPr/>
        </p:nvSpPr>
        <p:spPr>
          <a:xfrm>
            <a:off x="2125980" y="5202936"/>
            <a:ext cx="457200" cy="182880"/>
          </a:xfrm>
          <a:prstGeom prst="rect">
            <a:avLst/>
          </a:prstGeom>
          <a:noFill/>
          <a:ln/>
        </p:spPr>
        <p:txBody>
          <a:bodyPr wrap="square" lIns="0" tIns="0" rIns="0" bIns="0" rtlCol="0" anchor="ctr"/>
          <a:lstStyle/>
          <a:p>
            <a:pPr marL="0" indent="0" algn="ctr">
              <a:buNone/>
            </a:pPr>
            <a:r>
              <a:rPr lang="en-US" sz="1200" dirty="0">
                <a:solidFill>
                  <a:srgbClr val="D98A00"/>
                </a:solidFill>
                <a:latin typeface="Segoe UI" pitchFamily="34" charset="0"/>
                <a:ea typeface="Segoe UI" pitchFamily="34" charset="-122"/>
                <a:cs typeface="Segoe UI" pitchFamily="34" charset="-120"/>
              </a:rPr>
              <a:t>▼</a:t>
            </a:r>
            <a:endParaRPr lang="en-US" sz="1200" dirty="0"/>
          </a:p>
        </p:txBody>
      </p:sp>
      <p:sp>
        <p:nvSpPr>
          <p:cNvPr id="36" name="Shape 34"/>
          <p:cNvSpPr/>
          <p:nvPr/>
        </p:nvSpPr>
        <p:spPr>
          <a:xfrm>
            <a:off x="548640" y="5340096"/>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37" name="Shape 35"/>
          <p:cNvSpPr/>
          <p:nvPr/>
        </p:nvSpPr>
        <p:spPr>
          <a:xfrm>
            <a:off x="548640" y="5340096"/>
            <a:ext cx="512064" cy="512064"/>
          </a:xfrm>
          <a:prstGeom prst="roundRect">
            <a:avLst>
              <a:gd name="adj" fmla="val 17857"/>
            </a:avLst>
          </a:prstGeom>
          <a:solidFill>
            <a:srgbClr val="12936A"/>
          </a:solidFill>
          <a:ln w="12700">
            <a:solidFill>
              <a:srgbClr val="333333"/>
            </a:solidFill>
            <a:prstDash val="solid"/>
          </a:ln>
        </p:spPr>
      </p:sp>
      <p:sp>
        <p:nvSpPr>
          <p:cNvPr id="38" name="Text 36"/>
          <p:cNvSpPr/>
          <p:nvPr/>
        </p:nvSpPr>
        <p:spPr>
          <a:xfrm>
            <a:off x="548640" y="534009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7</a:t>
            </a:r>
            <a:endParaRPr lang="en-US" sz="1600" dirty="0"/>
          </a:p>
        </p:txBody>
      </p:sp>
      <p:sp>
        <p:nvSpPr>
          <p:cNvPr id="39" name="Text 37"/>
          <p:cNvSpPr/>
          <p:nvPr/>
        </p:nvSpPr>
        <p:spPr>
          <a:xfrm>
            <a:off x="1188720" y="5340096"/>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Buy / Sell Prediction</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BUY · STRONG BUY · HOLD</a:t>
            </a:r>
            <a:endParaRPr lang="en-US" sz="1250" dirty="0"/>
          </a:p>
        </p:txBody>
      </p:sp>
      <p:sp>
        <p:nvSpPr>
          <p:cNvPr id="40" name="Text 38"/>
          <p:cNvSpPr/>
          <p:nvPr/>
        </p:nvSpPr>
        <p:spPr>
          <a:xfrm>
            <a:off x="2125980" y="5856732"/>
            <a:ext cx="457200" cy="182880"/>
          </a:xfrm>
          <a:prstGeom prst="rect">
            <a:avLst/>
          </a:prstGeom>
          <a:noFill/>
          <a:ln/>
        </p:spPr>
        <p:txBody>
          <a:bodyPr wrap="square" lIns="0" tIns="0" rIns="0" bIns="0" rtlCol="0" anchor="ctr"/>
          <a:lstStyle/>
          <a:p>
            <a:pPr marL="0" indent="0" algn="ctr">
              <a:buNone/>
            </a:pPr>
            <a:r>
              <a:rPr lang="en-US" sz="1200" dirty="0">
                <a:solidFill>
                  <a:srgbClr val="12936A"/>
                </a:solidFill>
                <a:latin typeface="Segoe UI" pitchFamily="34" charset="0"/>
                <a:ea typeface="Segoe UI" pitchFamily="34" charset="-122"/>
                <a:cs typeface="Segoe UI" pitchFamily="34" charset="-120"/>
              </a:rPr>
              <a:t>▼</a:t>
            </a:r>
            <a:endParaRPr lang="en-US" sz="1200" dirty="0"/>
          </a:p>
        </p:txBody>
      </p:sp>
      <p:sp>
        <p:nvSpPr>
          <p:cNvPr id="41" name="Shape 39"/>
          <p:cNvSpPr/>
          <p:nvPr/>
        </p:nvSpPr>
        <p:spPr>
          <a:xfrm>
            <a:off x="548640" y="5993892"/>
            <a:ext cx="3611880" cy="512064"/>
          </a:xfrm>
          <a:prstGeom prst="roundRect">
            <a:avLst>
              <a:gd name="adj" fmla="val 17857"/>
            </a:avLst>
          </a:prstGeom>
          <a:solidFill>
            <a:srgbClr val="FFFFFF"/>
          </a:solidFill>
          <a:ln w="12700">
            <a:solidFill>
              <a:srgbClr val="D9E1F1"/>
            </a:solidFill>
            <a:prstDash val="solid"/>
          </a:ln>
          <a:effectLst>
            <a:outerShdw blurRad="88900" dist="25400" dir="5400000" algn="bl" rotWithShape="0">
              <a:srgbClr val="5B6B92">
                <a:alpha val="18000"/>
              </a:srgbClr>
            </a:outerShdw>
          </a:effectLst>
        </p:spPr>
      </p:sp>
      <p:sp>
        <p:nvSpPr>
          <p:cNvPr id="42" name="Shape 40"/>
          <p:cNvSpPr/>
          <p:nvPr/>
        </p:nvSpPr>
        <p:spPr>
          <a:xfrm>
            <a:off x="548640" y="5993892"/>
            <a:ext cx="512064" cy="512064"/>
          </a:xfrm>
          <a:prstGeom prst="roundRect">
            <a:avLst>
              <a:gd name="adj" fmla="val 17857"/>
            </a:avLst>
          </a:prstGeom>
          <a:solidFill>
            <a:srgbClr val="0B1233"/>
          </a:solidFill>
          <a:ln w="12700">
            <a:solidFill>
              <a:srgbClr val="333333"/>
            </a:solidFill>
            <a:prstDash val="solid"/>
          </a:ln>
        </p:spPr>
      </p:sp>
      <p:sp>
        <p:nvSpPr>
          <p:cNvPr id="43" name="Text 41"/>
          <p:cNvSpPr/>
          <p:nvPr/>
        </p:nvSpPr>
        <p:spPr>
          <a:xfrm>
            <a:off x="548640" y="599389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Black" pitchFamily="34" charset="0"/>
                <a:ea typeface="Segoe UI Black" pitchFamily="34" charset="-122"/>
                <a:cs typeface="Segoe UI Black" pitchFamily="34" charset="-120"/>
              </a:rPr>
              <a:t>8</a:t>
            </a:r>
            <a:endParaRPr lang="en-US" sz="1600" dirty="0"/>
          </a:p>
        </p:txBody>
      </p:sp>
      <p:sp>
        <p:nvSpPr>
          <p:cNvPr id="44" name="Text 42"/>
          <p:cNvSpPr/>
          <p:nvPr/>
        </p:nvSpPr>
        <p:spPr>
          <a:xfrm>
            <a:off x="1188720" y="5993892"/>
            <a:ext cx="2834640" cy="512064"/>
          </a:xfrm>
          <a:prstGeom prst="rect">
            <a:avLst/>
          </a:prstGeom>
          <a:noFill/>
          <a:ln/>
        </p:spPr>
        <p:txBody>
          <a:bodyPr wrap="square" lIns="0" tIns="0" rIns="0" bIns="0" rtlCol="0" anchor="ctr"/>
          <a:lstStyle/>
          <a:p>
            <a:pPr marL="0" indent="0">
              <a:lnSpc>
                <a:spcPct val="94000"/>
              </a:lnSpc>
              <a:buNone/>
            </a:pPr>
            <a:r>
              <a:rPr lang="en-US" sz="1250" b="1" dirty="0">
                <a:solidFill>
                  <a:srgbClr val="0B1233"/>
                </a:solidFill>
                <a:latin typeface="Segoe UI" pitchFamily="34" charset="0"/>
                <a:ea typeface="Segoe UI" pitchFamily="34" charset="-122"/>
                <a:cs typeface="Segoe UI" pitchFamily="34" charset="-120"/>
              </a:rPr>
              <a:t>Streamlit Dashboard</a:t>
            </a:r>
            <a:endParaRPr lang="en-US" sz="1250" dirty="0"/>
          </a:p>
          <a:p>
            <a:pPr marL="0" indent="0">
              <a:lnSpc>
                <a:spcPct val="94000"/>
              </a:lnSpc>
              <a:buNone/>
            </a:pPr>
            <a:r>
              <a:rPr lang="en-US" sz="950" dirty="0">
                <a:solidFill>
                  <a:srgbClr val="6B7796"/>
                </a:solidFill>
                <a:latin typeface="Segoe UI" pitchFamily="34" charset="0"/>
                <a:ea typeface="Segoe UI" pitchFamily="34" charset="-122"/>
                <a:cs typeface="Segoe UI" pitchFamily="34" charset="-120"/>
              </a:rPr>
              <a:t>7 pages · paper simulator</a:t>
            </a:r>
            <a:endParaRPr lang="en-US" sz="1250" dirty="0"/>
          </a:p>
        </p:txBody>
      </p:sp>
      <p:sp>
        <p:nvSpPr>
          <p:cNvPr id="45" name="Shape 43"/>
          <p:cNvSpPr/>
          <p:nvPr/>
        </p:nvSpPr>
        <p:spPr>
          <a:xfrm>
            <a:off x="4389120" y="1417320"/>
            <a:ext cx="7251192" cy="2395728"/>
          </a:xfrm>
          <a:prstGeom prst="roundRect">
            <a:avLst>
              <a:gd name="adj" fmla="val 4580"/>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46" name="Text 44"/>
          <p:cNvSpPr/>
          <p:nvPr/>
        </p:nvSpPr>
        <p:spPr>
          <a:xfrm>
            <a:off x="4663440" y="1572768"/>
            <a:ext cx="6702552" cy="329184"/>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Why these two models?</a:t>
            </a:r>
            <a:endParaRPr lang="en-US" sz="1500" dirty="0"/>
          </a:p>
        </p:txBody>
      </p:sp>
      <p:sp>
        <p:nvSpPr>
          <p:cNvPr id="47" name="Text 45"/>
          <p:cNvSpPr/>
          <p:nvPr/>
        </p:nvSpPr>
        <p:spPr>
          <a:xfrm>
            <a:off x="4663440" y="1938528"/>
            <a:ext cx="6702552" cy="1783080"/>
          </a:xfrm>
          <a:prstGeom prst="rect">
            <a:avLst/>
          </a:prstGeom>
          <a:noFill/>
          <a:ln/>
        </p:spPr>
        <p:txBody>
          <a:bodyPr wrap="square" lIns="0" tIns="0" rIns="0" bIns="0" rtlCol="0" anchor="t"/>
          <a:lstStyle/>
          <a:p>
            <a:pPr marL="0" indent="0">
              <a:lnSpc>
                <a:spcPct val="102000"/>
              </a:lnSpc>
              <a:buNone/>
            </a:pPr>
            <a:r>
              <a:rPr lang="en-US" sz="1300" b="1" dirty="0">
                <a:solidFill>
                  <a:srgbClr val="D98A00"/>
                </a:solidFill>
                <a:latin typeface="Segoe UI" pitchFamily="34" charset="0"/>
                <a:ea typeface="Segoe UI" pitchFamily="34" charset="-122"/>
                <a:cs typeface="Segoe UI" pitchFamily="34" charset="-120"/>
              </a:rPr>
              <a:t>Random Forest  </a:t>
            </a:r>
            <a:r>
              <a:rPr lang="en-US" sz="1250" dirty="0">
                <a:solidFill>
                  <a:srgbClr val="33405B"/>
                </a:solidFill>
                <a:latin typeface="Segoe UI" pitchFamily="34" charset="0"/>
                <a:ea typeface="Segoe UI" pitchFamily="34" charset="-122"/>
                <a:cs typeface="Segoe UI" pitchFamily="34" charset="-120"/>
              </a:rPr>
              <a:t>— a robust bagged-tree baseline that captures non-linear feature interactions, resists overfitting, stays interpretable, and uses balanced class weights.</a:t>
            </a:r>
            <a:endParaRPr lang="en-US" sz="1300" dirty="0"/>
          </a:p>
          <a:p>
            <a:pPr marL="0" indent="0">
              <a:lnSpc>
                <a:spcPct val="102000"/>
              </a:lnSpc>
              <a:buNone/>
            </a:pPr>
            <a:r>
              <a:rPr lang="en-US" sz="1300" b="1" dirty="0">
                <a:solidFill>
                  <a:srgbClr val="D98A00"/>
                </a:solidFill>
                <a:latin typeface="Segoe UI" pitchFamily="34" charset="0"/>
                <a:ea typeface="Segoe UI" pitchFamily="34" charset="-122"/>
                <a:cs typeface="Segoe UI" pitchFamily="34" charset="-120"/>
              </a:rPr>
              <a:t>LightGBM  </a:t>
            </a:r>
            <a:r>
              <a:rPr lang="en-US" sz="1250" dirty="0">
                <a:solidFill>
                  <a:srgbClr val="33405B"/>
                </a:solidFill>
                <a:latin typeface="Segoe UI" pitchFamily="34" charset="0"/>
                <a:ea typeface="Segoe UI" pitchFamily="34" charset="-122"/>
                <a:cs typeface="Segoe UI" pitchFamily="34" charset="-120"/>
              </a:rPr>
              <a:t>— a gradient-boosting model with a higher accuracy ceiling: leaf-wise growth, L1/L2 regularization and subsampling, and fast training on large datasets.</a:t>
            </a:r>
            <a:endParaRPr lang="en-US" sz="1300" dirty="0"/>
          </a:p>
        </p:txBody>
      </p:sp>
      <p:sp>
        <p:nvSpPr>
          <p:cNvPr id="48" name="Shape 46"/>
          <p:cNvSpPr/>
          <p:nvPr/>
        </p:nvSpPr>
        <p:spPr>
          <a:xfrm>
            <a:off x="4389120" y="4023360"/>
            <a:ext cx="7251192" cy="2404872"/>
          </a:xfrm>
          <a:prstGeom prst="roundRect">
            <a:avLst>
              <a:gd name="adj" fmla="val 4563"/>
            </a:avLst>
          </a:prstGeom>
          <a:solidFill>
            <a:srgbClr val="0B1233"/>
          </a:solidFill>
          <a:ln w="12700">
            <a:solidFill>
              <a:srgbClr val="333333"/>
            </a:solidFill>
            <a:prstDash val="solid"/>
          </a:ln>
          <a:effectLst>
            <a:outerShdw blurRad="88900" dist="25400" dir="5400000" algn="bl" rotWithShape="0">
              <a:srgbClr val="5B6B92">
                <a:alpha val="18000"/>
              </a:srgbClr>
            </a:outerShdw>
          </a:effectLst>
        </p:spPr>
      </p:sp>
      <p:sp>
        <p:nvSpPr>
          <p:cNvPr id="49" name="Text 47"/>
          <p:cNvSpPr/>
          <p:nvPr/>
        </p:nvSpPr>
        <p:spPr>
          <a:xfrm>
            <a:off x="4663440" y="4187952"/>
            <a:ext cx="6702552" cy="329184"/>
          </a:xfrm>
          <a:prstGeom prst="rect">
            <a:avLst/>
          </a:prstGeom>
          <a:noFill/>
          <a:ln/>
        </p:spPr>
        <p:txBody>
          <a:bodyPr wrap="square" lIns="0" tIns="0" rIns="0" bIns="0" rtlCol="0" anchor="ctr"/>
          <a:lstStyle/>
          <a:p>
            <a:pPr marL="0" indent="0">
              <a:buNone/>
            </a:pPr>
            <a:r>
              <a:rPr lang="en-US" sz="1500" b="1" dirty="0">
                <a:solidFill>
                  <a:srgbClr val="00D4FF"/>
                </a:solidFill>
                <a:latin typeface="Segoe UI Semibold" pitchFamily="34" charset="0"/>
                <a:ea typeface="Segoe UI Semibold" pitchFamily="34" charset="-122"/>
                <a:cs typeface="Segoe UI Semibold" pitchFamily="34" charset="-120"/>
              </a:rPr>
              <a:t>Data flow, end to end</a:t>
            </a:r>
            <a:endParaRPr lang="en-US" sz="1500" dirty="0"/>
          </a:p>
        </p:txBody>
      </p:sp>
      <p:sp>
        <p:nvSpPr>
          <p:cNvPr id="50" name="Text 48"/>
          <p:cNvSpPr/>
          <p:nvPr/>
        </p:nvSpPr>
        <p:spPr>
          <a:xfrm>
            <a:off x="4663440" y="4572000"/>
            <a:ext cx="6702552" cy="1691640"/>
          </a:xfrm>
          <a:prstGeom prst="rect">
            <a:avLst/>
          </a:prstGeom>
          <a:noFill/>
          <a:ln/>
        </p:spPr>
        <p:txBody>
          <a:bodyPr wrap="square" lIns="0" tIns="0" rIns="0" bIns="0" rtlCol="0" anchor="t"/>
          <a:lstStyle/>
          <a:p>
            <a:pPr marL="0" indent="0">
              <a:lnSpc>
                <a:spcPct val="118000"/>
              </a:lnSpc>
              <a:buNone/>
            </a:pPr>
            <a:r>
              <a:rPr lang="en-US" sz="1350" b="1" dirty="0">
                <a:solidFill>
                  <a:srgbClr val="FFFFFF"/>
                </a:solidFill>
                <a:latin typeface="Segoe UI" pitchFamily="34" charset="0"/>
                <a:ea typeface="Segoe UI" pitchFamily="34" charset="-122"/>
                <a:cs typeface="Segoe UI" pitchFamily="34" charset="-120"/>
              </a:rPr>
              <a:t>Raw daily prices </a:t>
            </a:r>
            <a:r>
              <a:rPr lang="en-US" sz="1350" dirty="0">
                <a:solidFill>
                  <a:srgbClr val="C8D6F4"/>
                </a:solidFill>
                <a:latin typeface="Segoe UI" pitchFamily="34" charset="0"/>
                <a:ea typeface="Segoe UI" pitchFamily="34" charset="-122"/>
                <a:cs typeface="Segoe UI" pitchFamily="34" charset="-120"/>
              </a:rPr>
              <a:t>→ cleaned &amp; de-duplicated → technical features (RSI, MACD, ATR, Bollinger, EMAs) → time-based split (≈4 yrs train / 1 yr out-of-sample) </a:t>
            </a:r>
            <a:r>
              <a:rPr lang="en-US" sz="1350" b="1" dirty="0">
                <a:solidFill>
                  <a:srgbClr val="FFFFFF"/>
                </a:solidFill>
                <a:latin typeface="Segoe UI" pitchFamily="34" charset="0"/>
                <a:ea typeface="Segoe UI" pitchFamily="34" charset="-122"/>
                <a:cs typeface="Segoe UI" pitchFamily="34" charset="-120"/>
              </a:rPr>
              <a:t>→ probability of a 5–10 day up-move </a:t>
            </a:r>
            <a:r>
              <a:rPr lang="en-US" sz="1350" dirty="0">
                <a:solidFill>
                  <a:srgbClr val="C8D6F4"/>
                </a:solidFill>
                <a:latin typeface="Segoe UI" pitchFamily="34" charset="0"/>
                <a:ea typeface="Segoe UI" pitchFamily="34" charset="-122"/>
                <a:cs typeface="Segoe UI" pitchFamily="34" charset="-120"/>
              </a:rPr>
              <a:t>→ quant confirmation filters </a:t>
            </a:r>
            <a:r>
              <a:rPr lang="en-US" sz="1350" b="1" dirty="0">
                <a:solidFill>
                  <a:srgbClr val="FFB703"/>
                </a:solidFill>
                <a:latin typeface="Segoe UI" pitchFamily="34" charset="0"/>
                <a:ea typeface="Segoe UI" pitchFamily="34" charset="-122"/>
                <a:cs typeface="Segoe UI" pitchFamily="34" charset="-120"/>
              </a:rPr>
              <a:t>→ BUY / SELL signals </a:t>
            </a:r>
            <a:r>
              <a:rPr lang="en-US" sz="1350" dirty="0">
                <a:solidFill>
                  <a:srgbClr val="C8D6F4"/>
                </a:solidFill>
                <a:latin typeface="Segoe UI" pitchFamily="34" charset="0"/>
                <a:ea typeface="Segoe UI" pitchFamily="34" charset="-122"/>
                <a:cs typeface="Segoe UI" pitchFamily="34" charset="-120"/>
              </a:rPr>
              <a:t>→ risk-managed backtest </a:t>
            </a:r>
            <a:r>
              <a:rPr lang="en-US" sz="1350" b="1" dirty="0">
                <a:solidFill>
                  <a:srgbClr val="FFFFFF"/>
                </a:solidFill>
                <a:latin typeface="Segoe UI" pitchFamily="34" charset="0"/>
                <a:ea typeface="Segoe UI" pitchFamily="34" charset="-122"/>
                <a:cs typeface="Segoe UI" pitchFamily="34" charset="-120"/>
              </a:rPr>
              <a:t>→ interactive dashboard.</a:t>
            </a:r>
            <a:endParaRPr lang="en-US" sz="1350" dirty="0"/>
          </a:p>
        </p:txBody>
      </p:sp>
      <p:sp>
        <p:nvSpPr>
          <p:cNvPr id="51" name="Text 49"/>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52" name="Text 50"/>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05</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RESPONSIBILITIES</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Team roles &amp; module ownership</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520440"/>
        </p:xfrm>
        <a:graphic>
          <a:graphicData uri="http://schemas.openxmlformats.org/drawingml/2006/table">
            <a:tbl>
              <a:tblPr/>
              <a:tblGrid>
                <a:gridCol w="21488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507992">
                  <a:extLst>
                    <a:ext uri="{9D8B030D-6E8A-4147-A177-3AD203B41FA5}">
                      <a16:colId xmlns:a16="http://schemas.microsoft.com/office/drawing/2014/main" val="20003"/>
                    </a:ext>
                  </a:extLst>
                </a:gridCol>
              </a:tblGrid>
              <a:tr h="457200">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Team Member</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Role</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Modules / Files</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Key Responsibilities</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extLst>
                  <a:ext uri="{0D108BD9-81ED-4DB2-BD59-A6C34878D82A}">
                    <a16:rowId xmlns:a16="http://schemas.microsoft.com/office/drawing/2014/main" val="10000"/>
                  </a:ext>
                </a:extLst>
              </a:tr>
              <a:tr h="1234440">
                <a:tc>
                  <a:txBody>
                    <a:bodyPr/>
                    <a:lstStyle/>
                    <a:p>
                      <a:pPr marL="0" indent="0" algn="l">
                        <a:buNone/>
                      </a:pPr>
                      <a:r>
                        <a:rPr lang="en-US" sz="1250" b="1" dirty="0">
                          <a:solidFill>
                            <a:srgbClr val="0091C2"/>
                          </a:solidFill>
                          <a:latin typeface="Segoe UI Semibold" pitchFamily="34" charset="0"/>
                          <a:ea typeface="Segoe UI Semibold" pitchFamily="34" charset="-122"/>
                          <a:cs typeface="Segoe UI Semibold" pitchFamily="34" charset="-120"/>
                        </a:rPr>
                        <a:t>Muhammad Abdullah</a:t>
                      </a:r>
                      <a:endParaRPr lang="en-US" sz="12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05B"/>
                          </a:solidFill>
                          <a:latin typeface="Segoe UI" pitchFamily="34" charset="0"/>
                          <a:ea typeface="Segoe UI" pitchFamily="34" charset="-122"/>
                          <a:cs typeface="Segoe UI" pitchFamily="34" charset="-120"/>
                        </a:rPr>
                        <a:t>Team Lead</a:t>
                      </a:r>
                      <a:endParaRPr lang="en-US" sz="12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91C2"/>
                          </a:solidFill>
                          <a:latin typeface="Consolas" pitchFamily="34" charset="0"/>
                          <a:ea typeface="Consolas" pitchFamily="34" charset="-122"/>
                          <a:cs typeface="Consolas" pitchFamily="34" charset="-120"/>
                        </a:rPr>
                        <a:t>psx_scraper.py</a:t>
                      </a:r>
                      <a:endParaRPr lang="en-US" sz="1050" dirty="0">
                        <a:latin typeface="Consolas" charset="0"/>
                        <a:ea typeface="Consolas" charset="0"/>
                        <a:cs typeface="Consolas" charset="0"/>
                      </a:endParaRPr>
                    </a:p>
                    <a:p>
                      <a:pPr marL="0" indent="0" algn="l">
                        <a:buNone/>
                      </a:pPr>
                      <a:r>
                        <a:rPr lang="en-US" sz="1050" dirty="0">
                          <a:solidFill>
                            <a:srgbClr val="0091C2"/>
                          </a:solidFill>
                          <a:latin typeface="Consolas" pitchFamily="34" charset="0"/>
                          <a:ea typeface="Consolas" pitchFamily="34" charset="-122"/>
                          <a:cs typeface="Consolas" pitchFamily="34" charset="-120"/>
                        </a:rPr>
                        <a:t>rsi_calculator.py</a:t>
                      </a:r>
                      <a:endParaRPr lang="en-US" sz="1050" dirty="0">
                        <a:latin typeface="Consolas" charset="0"/>
                        <a:ea typeface="Consolas" charset="0"/>
                        <a:cs typeface="Consolas" charset="0"/>
                      </a:endParaRPr>
                    </a:p>
                    <a:p>
                      <a:pPr marL="0" indent="0" algn="l">
                        <a:buNone/>
                      </a:pPr>
                      <a:r>
                        <a:rPr lang="en-US" sz="1050" dirty="0">
                          <a:solidFill>
                            <a:srgbClr val="0091C2"/>
                          </a:solidFill>
                          <a:latin typeface="Consolas" pitchFamily="34" charset="0"/>
                          <a:ea typeface="Consolas" pitchFamily="34" charset="-122"/>
                          <a:cs typeface="Consolas" pitchFamily="34" charset="-120"/>
                        </a:rPr>
                        <a:t>random_forest.py</a:t>
                      </a:r>
                      <a:endParaRPr lang="en-US" sz="1050" dirty="0">
                        <a:latin typeface="Consolas" charset="0"/>
                        <a:ea typeface="Consolas" charset="0"/>
                        <a:cs typeface="Consolas" charset="0"/>
                      </a:endParaRPr>
                    </a:p>
                    <a:p>
                      <a:pPr marL="0" indent="0" algn="l">
                        <a:buNone/>
                      </a:pPr>
                      <a:r>
                        <a:rPr lang="en-US" sz="1050" dirty="0">
                          <a:solidFill>
                            <a:srgbClr val="0091C2"/>
                          </a:solidFill>
                          <a:latin typeface="Consolas" pitchFamily="34" charset="0"/>
                          <a:ea typeface="Consolas" pitchFamily="34" charset="-122"/>
                          <a:cs typeface="Consolas" pitchFamily="34" charset="-120"/>
                        </a:rPr>
                        <a:t>light_gbm.py</a:t>
                      </a:r>
                      <a:endParaRPr lang="en-US" sz="105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05B"/>
                          </a:solidFill>
                          <a:latin typeface="Segoe UI" pitchFamily="34" charset="0"/>
                          <a:ea typeface="Segoe UI" pitchFamily="34" charset="-122"/>
                          <a:cs typeface="Segoe UI" pitchFamily="34" charset="-120"/>
                        </a:rPr>
                        <a:t>PSX data scraping, RSI calculation, Random Forest &amp; LightGBM models, project integration</a:t>
                      </a:r>
                      <a:endParaRPr lang="en-US" sz="12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250" b="1" dirty="0">
                          <a:solidFill>
                            <a:srgbClr val="D98A00"/>
                          </a:solidFill>
                          <a:latin typeface="Segoe UI Semibold" pitchFamily="34" charset="0"/>
                          <a:ea typeface="Segoe UI Semibold" pitchFamily="34" charset="-122"/>
                          <a:cs typeface="Segoe UI Semibold" pitchFamily="34" charset="-120"/>
                        </a:rPr>
                        <a:t>Sheeraz</a:t>
                      </a:r>
                      <a:endParaRPr lang="en-US" sz="12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05B"/>
                          </a:solidFill>
                          <a:latin typeface="Segoe UI" pitchFamily="34" charset="0"/>
                          <a:ea typeface="Segoe UI" pitchFamily="34" charset="-122"/>
                          <a:cs typeface="Segoe UI" pitchFamily="34" charset="-120"/>
                        </a:rPr>
                        <a:t>Data Engineer</a:t>
                      </a:r>
                      <a:endParaRPr lang="en-US" sz="12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91C2"/>
                          </a:solidFill>
                          <a:latin typeface="Consolas" pitchFamily="34" charset="0"/>
                          <a:ea typeface="Consolas" pitchFamily="34" charset="-122"/>
                          <a:cs typeface="Consolas" pitchFamily="34" charset="-120"/>
                        </a:rPr>
                        <a:t>clean_existing_data.py</a:t>
                      </a:r>
                      <a:endParaRPr lang="en-US" sz="105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05B"/>
                          </a:solidFill>
                          <a:latin typeface="Segoe UI" pitchFamily="34" charset="0"/>
                          <a:ea typeface="Segoe UI" pitchFamily="34" charset="-122"/>
                          <a:cs typeface="Segoe UI" pitchFamily="34" charset="-120"/>
                        </a:rPr>
                        <a:t>Data cleaning &amp; data preparation — de-duplication, hyphen-symbol removal, type normalization</a:t>
                      </a:r>
                      <a:endParaRPr lang="en-US" sz="12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lgn="l">
                        <a:buNone/>
                      </a:pPr>
                      <a:r>
                        <a:rPr lang="en-US" sz="1250" b="1" dirty="0">
                          <a:solidFill>
                            <a:srgbClr val="D81E7A"/>
                          </a:solidFill>
                          <a:latin typeface="Segoe UI Semibold" pitchFamily="34" charset="0"/>
                          <a:ea typeface="Segoe UI Semibold" pitchFamily="34" charset="-122"/>
                          <a:cs typeface="Segoe UI Semibold" pitchFamily="34" charset="-120"/>
                        </a:rPr>
                        <a:t>Rabia</a:t>
                      </a:r>
                      <a:endParaRPr lang="en-US" sz="12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05B"/>
                          </a:solidFill>
                          <a:latin typeface="Segoe UI" pitchFamily="34" charset="0"/>
                          <a:ea typeface="Segoe UI" pitchFamily="34" charset="-122"/>
                          <a:cs typeface="Segoe UI" pitchFamily="34" charset="-120"/>
                        </a:rPr>
                        <a:t>Dashboard Developer</a:t>
                      </a:r>
                      <a:endParaRPr lang="en-US" sz="12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091C2"/>
                          </a:solidFill>
                          <a:latin typeface="Consolas" pitchFamily="34" charset="0"/>
                          <a:ea typeface="Consolas" pitchFamily="34" charset="-122"/>
                          <a:cs typeface="Consolas" pitchFamily="34" charset="-120"/>
                        </a:rPr>
                        <a:t>app.py</a:t>
                      </a:r>
                      <a:endParaRPr lang="en-US" sz="1050" dirty="0">
                        <a:latin typeface="Consolas" charset="0"/>
                        <a:ea typeface="Consolas" charset="0"/>
                        <a:cs typeface="Consolas" charset="0"/>
                      </a:endParaRPr>
                    </a:p>
                    <a:p>
                      <a:pPr marL="0" indent="0" algn="l">
                        <a:buNone/>
                      </a:pPr>
                      <a:r>
                        <a:rPr lang="en-US" sz="1050" dirty="0">
                          <a:solidFill>
                            <a:srgbClr val="0091C2"/>
                          </a:solidFill>
                          <a:latin typeface="Consolas" pitchFamily="34" charset="0"/>
                          <a:ea typeface="Consolas" pitchFamily="34" charset="-122"/>
                          <a:cs typeface="Consolas" pitchFamily="34" charset="-120"/>
                        </a:rPr>
                        <a:t>run_pipeline.py</a:t>
                      </a:r>
                      <a:endParaRPr lang="en-US" sz="105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05B"/>
                          </a:solidFill>
                          <a:latin typeface="Segoe UI" pitchFamily="34" charset="0"/>
                          <a:ea typeface="Segoe UI" pitchFamily="34" charset="-122"/>
                          <a:cs typeface="Segoe UI" pitchFamily="34" charset="-120"/>
                        </a:rPr>
                        <a:t>Streamlit dashboard, Plotly visualization, paper simulator &amp; UI development</a:t>
                      </a:r>
                      <a:endParaRPr lang="en-US" sz="12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4"/>
          <p:cNvSpPr/>
          <p:nvPr/>
        </p:nvSpPr>
        <p:spPr>
          <a:xfrm>
            <a:off x="548640" y="5074920"/>
            <a:ext cx="11091672" cy="365760"/>
          </a:xfrm>
          <a:prstGeom prst="rect">
            <a:avLst/>
          </a:prstGeom>
          <a:noFill/>
          <a:ln/>
        </p:spPr>
        <p:txBody>
          <a:bodyPr wrap="square" lIns="0" tIns="0" rIns="0" bIns="0" rtlCol="0" anchor="ctr"/>
          <a:lstStyle/>
          <a:p>
            <a:pPr marL="0" indent="0" algn="ctr">
              <a:buNone/>
            </a:pPr>
            <a:r>
              <a:rPr lang="en-US" sz="1200" i="1" dirty="0">
                <a:solidFill>
                  <a:srgbClr val="6B7796"/>
                </a:solidFill>
                <a:latin typeface="Segoe UI" pitchFamily="34" charset="0"/>
                <a:ea typeface="Segoe UI" pitchFamily="34" charset="-122"/>
                <a:cs typeface="Segoe UI" pitchFamily="34" charset="-120"/>
              </a:rPr>
              <a:t>Integrated by run_pipeline.py — one command runs all four steps: clean → RSI → Random Forest → LightGBM.</a:t>
            </a:r>
            <a:endParaRPr lang="en-US" sz="1200" dirty="0"/>
          </a:p>
        </p:txBody>
      </p:sp>
      <p:sp>
        <p:nvSpPr>
          <p:cNvPr id="8" name="Text 5"/>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9" name="Text 6"/>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06</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SYSTEM ARCHITECTURE</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End-to-end pipeline architecture</a:t>
            </a:r>
            <a:endParaRPr lang="en-US" sz="2700" dirty="0"/>
          </a:p>
        </p:txBody>
      </p:sp>
      <p:sp>
        <p:nvSpPr>
          <p:cNvPr id="6" name="Text 4"/>
          <p:cNvSpPr/>
          <p:nvPr/>
        </p:nvSpPr>
        <p:spPr>
          <a:xfrm>
            <a:off x="1188720" y="1078992"/>
            <a:ext cx="10058400" cy="256032"/>
          </a:xfrm>
          <a:prstGeom prst="rect">
            <a:avLst/>
          </a:prstGeom>
          <a:noFill/>
          <a:ln/>
        </p:spPr>
        <p:txBody>
          <a:bodyPr wrap="square" lIns="0" tIns="0" rIns="0" bIns="0" rtlCol="0" anchor="ctr"/>
          <a:lstStyle/>
          <a:p>
            <a:pPr marL="0" indent="0">
              <a:buNone/>
            </a:pPr>
            <a:r>
              <a:rPr lang="en-US" sz="1150" i="1" dirty="0">
                <a:solidFill>
                  <a:srgbClr val="6B7796"/>
                </a:solidFill>
                <a:latin typeface="Segoe UI" pitchFamily="34" charset="0"/>
                <a:ea typeface="Segoe UI" pitchFamily="34" charset="-122"/>
                <a:cs typeface="Segoe UI" pitchFamily="34" charset="-120"/>
              </a:rPr>
              <a:t>Orchestrated by run_pipeline.py  ·  Steps 1 → 4 run with one command</a:t>
            </a:r>
            <a:endParaRPr lang="en-US" sz="1150" dirty="0"/>
          </a:p>
        </p:txBody>
      </p:sp>
      <p:sp>
        <p:nvSpPr>
          <p:cNvPr id="7" name="Shape 5"/>
          <p:cNvSpPr/>
          <p:nvPr/>
        </p:nvSpPr>
        <p:spPr>
          <a:xfrm>
            <a:off x="548640" y="1508760"/>
            <a:ext cx="11091672" cy="749808"/>
          </a:xfrm>
          <a:prstGeom prst="roundRect">
            <a:avLst>
              <a:gd name="adj" fmla="val 14634"/>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8" name="Shape 6"/>
          <p:cNvSpPr/>
          <p:nvPr/>
        </p:nvSpPr>
        <p:spPr>
          <a:xfrm>
            <a:off x="786384" y="1655064"/>
            <a:ext cx="457200" cy="457200"/>
          </a:xfrm>
          <a:prstGeom prst="ellipse">
            <a:avLst/>
          </a:prstGeom>
          <a:solidFill>
            <a:srgbClr val="0091C2"/>
          </a:solidFill>
          <a:ln w="12700">
            <a:solidFill>
              <a:srgbClr val="333333"/>
            </a:solidFill>
            <a:prstDash val="solid"/>
          </a:ln>
        </p:spPr>
      </p:sp>
      <p:sp>
        <p:nvSpPr>
          <p:cNvPr id="9" name="Text 7"/>
          <p:cNvSpPr/>
          <p:nvPr/>
        </p:nvSpPr>
        <p:spPr>
          <a:xfrm>
            <a:off x="786384" y="165506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Black" pitchFamily="34" charset="0"/>
                <a:ea typeface="Segoe UI Black" pitchFamily="34" charset="-122"/>
                <a:cs typeface="Segoe UI Black" pitchFamily="34" charset="-120"/>
              </a:rPr>
              <a:t>1</a:t>
            </a:r>
            <a:endParaRPr lang="en-US" sz="1700" dirty="0"/>
          </a:p>
        </p:txBody>
      </p:sp>
      <p:sp>
        <p:nvSpPr>
          <p:cNvPr id="10" name="Text 8"/>
          <p:cNvSpPr/>
          <p:nvPr/>
        </p:nvSpPr>
        <p:spPr>
          <a:xfrm>
            <a:off x="1417320" y="1508760"/>
            <a:ext cx="2377440" cy="749808"/>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Data Acquisition</a:t>
            </a:r>
            <a:endParaRPr lang="en-US" sz="1500" dirty="0"/>
          </a:p>
        </p:txBody>
      </p:sp>
      <p:sp>
        <p:nvSpPr>
          <p:cNvPr id="11" name="Shape 9"/>
          <p:cNvSpPr/>
          <p:nvPr/>
        </p:nvSpPr>
        <p:spPr>
          <a:xfrm>
            <a:off x="3794760" y="1655064"/>
            <a:ext cx="0" cy="457200"/>
          </a:xfrm>
          <a:prstGeom prst="line">
            <a:avLst/>
          </a:prstGeom>
          <a:noFill/>
          <a:ln w="12700">
            <a:solidFill>
              <a:srgbClr val="D9E1F1"/>
            </a:solidFill>
            <a:prstDash val="solid"/>
          </a:ln>
        </p:spPr>
      </p:sp>
      <p:sp>
        <p:nvSpPr>
          <p:cNvPr id="12" name="Text 10"/>
          <p:cNvSpPr/>
          <p:nvPr/>
        </p:nvSpPr>
        <p:spPr>
          <a:xfrm>
            <a:off x="3977640" y="1508760"/>
            <a:ext cx="7434072" cy="749808"/>
          </a:xfrm>
          <a:prstGeom prst="rect">
            <a:avLst/>
          </a:prstGeom>
          <a:noFill/>
          <a:ln/>
        </p:spPr>
        <p:txBody>
          <a:bodyPr wrap="square" lIns="0" tIns="0" rIns="0" bIns="0" rtlCol="0" anchor="ctr"/>
          <a:lstStyle/>
          <a:p>
            <a:pPr marL="0" indent="0">
              <a:buNone/>
            </a:pPr>
            <a:r>
              <a:rPr lang="en-US" sz="1100" dirty="0">
                <a:solidFill>
                  <a:srgbClr val="33405B"/>
                </a:solidFill>
                <a:latin typeface="Consolas" pitchFamily="34" charset="0"/>
                <a:ea typeface="Consolas" pitchFamily="34" charset="-122"/>
                <a:cs typeface="Consolas" pitchFamily="34" charset="-120"/>
              </a:rPr>
              <a:t>psx_scraper.py  ·  Selenium + BeautifulSoup  →  dps.psx.com.pk/historical</a:t>
            </a:r>
            <a:endParaRPr lang="en-US" sz="1100" dirty="0"/>
          </a:p>
        </p:txBody>
      </p:sp>
      <p:sp>
        <p:nvSpPr>
          <p:cNvPr id="13" name="Text 11"/>
          <p:cNvSpPr/>
          <p:nvPr/>
        </p:nvSpPr>
        <p:spPr>
          <a:xfrm>
            <a:off x="5865876" y="2322576"/>
            <a:ext cx="457200" cy="182880"/>
          </a:xfrm>
          <a:prstGeom prst="rect">
            <a:avLst/>
          </a:prstGeom>
          <a:noFill/>
          <a:ln/>
        </p:spPr>
        <p:txBody>
          <a:bodyPr wrap="square" lIns="0" tIns="0" rIns="0" bIns="0" rtlCol="0" anchor="ctr"/>
          <a:lstStyle/>
          <a:p>
            <a:pPr marL="0" indent="0" algn="ctr">
              <a:buNone/>
            </a:pPr>
            <a:r>
              <a:rPr lang="en-US" sz="1400" dirty="0">
                <a:solidFill>
                  <a:srgbClr val="0091C2"/>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548640" y="2569464"/>
            <a:ext cx="11091672" cy="749808"/>
          </a:xfrm>
          <a:prstGeom prst="roundRect">
            <a:avLst>
              <a:gd name="adj" fmla="val 14634"/>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5" name="Shape 13"/>
          <p:cNvSpPr/>
          <p:nvPr/>
        </p:nvSpPr>
        <p:spPr>
          <a:xfrm>
            <a:off x="786384" y="2715768"/>
            <a:ext cx="457200" cy="457200"/>
          </a:xfrm>
          <a:prstGeom prst="ellipse">
            <a:avLst/>
          </a:prstGeom>
          <a:solidFill>
            <a:srgbClr val="6A36DE"/>
          </a:solidFill>
          <a:ln w="12700">
            <a:solidFill>
              <a:srgbClr val="333333"/>
            </a:solidFill>
            <a:prstDash val="solid"/>
          </a:ln>
        </p:spPr>
      </p:sp>
      <p:sp>
        <p:nvSpPr>
          <p:cNvPr id="16" name="Text 14"/>
          <p:cNvSpPr/>
          <p:nvPr/>
        </p:nvSpPr>
        <p:spPr>
          <a:xfrm>
            <a:off x="786384" y="271576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Black" pitchFamily="34" charset="0"/>
                <a:ea typeface="Segoe UI Black" pitchFamily="34" charset="-122"/>
                <a:cs typeface="Segoe UI Black" pitchFamily="34" charset="-120"/>
              </a:rPr>
              <a:t>2</a:t>
            </a:r>
            <a:endParaRPr lang="en-US" sz="1700" dirty="0"/>
          </a:p>
        </p:txBody>
      </p:sp>
      <p:sp>
        <p:nvSpPr>
          <p:cNvPr id="17" name="Text 15"/>
          <p:cNvSpPr/>
          <p:nvPr/>
        </p:nvSpPr>
        <p:spPr>
          <a:xfrm>
            <a:off x="1417320" y="2569464"/>
            <a:ext cx="2377440" cy="749808"/>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Data Processing</a:t>
            </a:r>
            <a:endParaRPr lang="en-US" sz="1500" dirty="0"/>
          </a:p>
        </p:txBody>
      </p:sp>
      <p:sp>
        <p:nvSpPr>
          <p:cNvPr id="18" name="Shape 16"/>
          <p:cNvSpPr/>
          <p:nvPr/>
        </p:nvSpPr>
        <p:spPr>
          <a:xfrm>
            <a:off x="3794760" y="2715768"/>
            <a:ext cx="0" cy="457200"/>
          </a:xfrm>
          <a:prstGeom prst="line">
            <a:avLst/>
          </a:prstGeom>
          <a:noFill/>
          <a:ln w="12700">
            <a:solidFill>
              <a:srgbClr val="D9E1F1"/>
            </a:solidFill>
            <a:prstDash val="solid"/>
          </a:ln>
        </p:spPr>
      </p:sp>
      <p:sp>
        <p:nvSpPr>
          <p:cNvPr id="19" name="Text 17"/>
          <p:cNvSpPr/>
          <p:nvPr/>
        </p:nvSpPr>
        <p:spPr>
          <a:xfrm>
            <a:off x="3977640" y="2569464"/>
            <a:ext cx="7434072" cy="749808"/>
          </a:xfrm>
          <a:prstGeom prst="rect">
            <a:avLst/>
          </a:prstGeom>
          <a:noFill/>
          <a:ln/>
        </p:spPr>
        <p:txBody>
          <a:bodyPr wrap="square" lIns="0" tIns="0" rIns="0" bIns="0" rtlCol="0" anchor="ctr"/>
          <a:lstStyle/>
          <a:p>
            <a:pPr marL="0" indent="0">
              <a:buNone/>
            </a:pPr>
            <a:r>
              <a:rPr lang="en-US" sz="1100" dirty="0">
                <a:solidFill>
                  <a:srgbClr val="33405B"/>
                </a:solidFill>
                <a:latin typeface="Consolas" pitchFamily="34" charset="0"/>
                <a:ea typeface="Consolas" pitchFamily="34" charset="-122"/>
                <a:cs typeface="Consolas" pitchFamily="34" charset="-120"/>
              </a:rPr>
              <a:t>clean_existing_data.py  ·  rsi_calculator.py  ·  technical feature engineering</a:t>
            </a:r>
            <a:endParaRPr lang="en-US" sz="1100" dirty="0"/>
          </a:p>
        </p:txBody>
      </p:sp>
      <p:sp>
        <p:nvSpPr>
          <p:cNvPr id="20" name="Text 18"/>
          <p:cNvSpPr/>
          <p:nvPr/>
        </p:nvSpPr>
        <p:spPr>
          <a:xfrm>
            <a:off x="5865876" y="3383280"/>
            <a:ext cx="457200" cy="182880"/>
          </a:xfrm>
          <a:prstGeom prst="rect">
            <a:avLst/>
          </a:prstGeom>
          <a:noFill/>
          <a:ln/>
        </p:spPr>
        <p:txBody>
          <a:bodyPr wrap="square" lIns="0" tIns="0" rIns="0" bIns="0" rtlCol="0" anchor="ctr"/>
          <a:lstStyle/>
          <a:p>
            <a:pPr marL="0" indent="0" algn="ctr">
              <a:buNone/>
            </a:pPr>
            <a:r>
              <a:rPr lang="en-US" sz="1400" dirty="0">
                <a:solidFill>
                  <a:srgbClr val="6A36DE"/>
                </a:solidFill>
                <a:latin typeface="Segoe UI" pitchFamily="34" charset="0"/>
                <a:ea typeface="Segoe UI" pitchFamily="34" charset="-122"/>
                <a:cs typeface="Segoe UI" pitchFamily="34" charset="-120"/>
              </a:rPr>
              <a:t>▼</a:t>
            </a:r>
            <a:endParaRPr lang="en-US" sz="1400" dirty="0"/>
          </a:p>
        </p:txBody>
      </p:sp>
      <p:sp>
        <p:nvSpPr>
          <p:cNvPr id="21" name="Shape 19"/>
          <p:cNvSpPr/>
          <p:nvPr/>
        </p:nvSpPr>
        <p:spPr>
          <a:xfrm>
            <a:off x="548640" y="3630168"/>
            <a:ext cx="11091672" cy="749808"/>
          </a:xfrm>
          <a:prstGeom prst="roundRect">
            <a:avLst>
              <a:gd name="adj" fmla="val 14634"/>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22" name="Shape 20"/>
          <p:cNvSpPr/>
          <p:nvPr/>
        </p:nvSpPr>
        <p:spPr>
          <a:xfrm>
            <a:off x="786384" y="3776472"/>
            <a:ext cx="457200" cy="457200"/>
          </a:xfrm>
          <a:prstGeom prst="ellipse">
            <a:avLst/>
          </a:prstGeom>
          <a:solidFill>
            <a:srgbClr val="D98A00"/>
          </a:solidFill>
          <a:ln w="12700">
            <a:solidFill>
              <a:srgbClr val="333333"/>
            </a:solidFill>
            <a:prstDash val="solid"/>
          </a:ln>
        </p:spPr>
      </p:sp>
      <p:sp>
        <p:nvSpPr>
          <p:cNvPr id="23" name="Text 21"/>
          <p:cNvSpPr/>
          <p:nvPr/>
        </p:nvSpPr>
        <p:spPr>
          <a:xfrm>
            <a:off x="786384" y="377647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Black" pitchFamily="34" charset="0"/>
                <a:ea typeface="Segoe UI Black" pitchFamily="34" charset="-122"/>
                <a:cs typeface="Segoe UI Black" pitchFamily="34" charset="-120"/>
              </a:rPr>
              <a:t>3</a:t>
            </a:r>
            <a:endParaRPr lang="en-US" sz="1700" dirty="0"/>
          </a:p>
        </p:txBody>
      </p:sp>
      <p:sp>
        <p:nvSpPr>
          <p:cNvPr id="24" name="Text 22"/>
          <p:cNvSpPr/>
          <p:nvPr/>
        </p:nvSpPr>
        <p:spPr>
          <a:xfrm>
            <a:off x="1417320" y="3630168"/>
            <a:ext cx="2377440" cy="749808"/>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Machine Learning</a:t>
            </a:r>
            <a:endParaRPr lang="en-US" sz="1500" dirty="0"/>
          </a:p>
        </p:txBody>
      </p:sp>
      <p:sp>
        <p:nvSpPr>
          <p:cNvPr id="25" name="Shape 23"/>
          <p:cNvSpPr/>
          <p:nvPr/>
        </p:nvSpPr>
        <p:spPr>
          <a:xfrm>
            <a:off x="3794760" y="3776472"/>
            <a:ext cx="0" cy="457200"/>
          </a:xfrm>
          <a:prstGeom prst="line">
            <a:avLst/>
          </a:prstGeom>
          <a:noFill/>
          <a:ln w="12700">
            <a:solidFill>
              <a:srgbClr val="D9E1F1"/>
            </a:solidFill>
            <a:prstDash val="solid"/>
          </a:ln>
        </p:spPr>
      </p:sp>
      <p:sp>
        <p:nvSpPr>
          <p:cNvPr id="26" name="Text 24"/>
          <p:cNvSpPr/>
          <p:nvPr/>
        </p:nvSpPr>
        <p:spPr>
          <a:xfrm>
            <a:off x="3977640" y="3630168"/>
            <a:ext cx="7434072" cy="749808"/>
          </a:xfrm>
          <a:prstGeom prst="rect">
            <a:avLst/>
          </a:prstGeom>
          <a:noFill/>
          <a:ln/>
        </p:spPr>
        <p:txBody>
          <a:bodyPr wrap="square" lIns="0" tIns="0" rIns="0" bIns="0" rtlCol="0" anchor="ctr"/>
          <a:lstStyle/>
          <a:p>
            <a:pPr marL="0" indent="0">
              <a:buNone/>
            </a:pPr>
            <a:r>
              <a:rPr lang="en-US" sz="1100" dirty="0">
                <a:solidFill>
                  <a:srgbClr val="33405B"/>
                </a:solidFill>
                <a:latin typeface="Consolas" pitchFamily="34" charset="0"/>
                <a:ea typeface="Consolas" pitchFamily="34" charset="-122"/>
                <a:cs typeface="Consolas" pitchFamily="34" charset="-120"/>
              </a:rPr>
              <a:t>random_forest.py  ·  light_gbm.py  —  train · out-of-sample test · signals · backtest</a:t>
            </a:r>
            <a:endParaRPr lang="en-US" sz="1100" dirty="0"/>
          </a:p>
        </p:txBody>
      </p:sp>
      <p:sp>
        <p:nvSpPr>
          <p:cNvPr id="27" name="Text 25"/>
          <p:cNvSpPr/>
          <p:nvPr/>
        </p:nvSpPr>
        <p:spPr>
          <a:xfrm>
            <a:off x="5865876" y="4443984"/>
            <a:ext cx="457200" cy="182880"/>
          </a:xfrm>
          <a:prstGeom prst="rect">
            <a:avLst/>
          </a:prstGeom>
          <a:noFill/>
          <a:ln/>
        </p:spPr>
        <p:txBody>
          <a:bodyPr wrap="square" lIns="0" tIns="0" rIns="0" bIns="0" rtlCol="0" anchor="ctr"/>
          <a:lstStyle/>
          <a:p>
            <a:pPr marL="0" indent="0" algn="ctr">
              <a:buNone/>
            </a:pPr>
            <a:r>
              <a:rPr lang="en-US" sz="1400" dirty="0">
                <a:solidFill>
                  <a:srgbClr val="D98A00"/>
                </a:solidFill>
                <a:latin typeface="Segoe UI" pitchFamily="34" charset="0"/>
                <a:ea typeface="Segoe UI" pitchFamily="34" charset="-122"/>
                <a:cs typeface="Segoe UI" pitchFamily="34" charset="-120"/>
              </a:rPr>
              <a:t>▼</a:t>
            </a:r>
            <a:endParaRPr lang="en-US" sz="1400" dirty="0"/>
          </a:p>
        </p:txBody>
      </p:sp>
      <p:sp>
        <p:nvSpPr>
          <p:cNvPr id="28" name="Shape 26"/>
          <p:cNvSpPr/>
          <p:nvPr/>
        </p:nvSpPr>
        <p:spPr>
          <a:xfrm>
            <a:off x="548640" y="4690872"/>
            <a:ext cx="11091672" cy="749808"/>
          </a:xfrm>
          <a:prstGeom prst="roundRect">
            <a:avLst>
              <a:gd name="adj" fmla="val 14634"/>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29" name="Shape 27"/>
          <p:cNvSpPr/>
          <p:nvPr/>
        </p:nvSpPr>
        <p:spPr>
          <a:xfrm>
            <a:off x="786384" y="4837176"/>
            <a:ext cx="457200" cy="457200"/>
          </a:xfrm>
          <a:prstGeom prst="ellipse">
            <a:avLst/>
          </a:prstGeom>
          <a:solidFill>
            <a:srgbClr val="12936A"/>
          </a:solidFill>
          <a:ln w="12700">
            <a:solidFill>
              <a:srgbClr val="333333"/>
            </a:solidFill>
            <a:prstDash val="solid"/>
          </a:ln>
        </p:spPr>
      </p:sp>
      <p:sp>
        <p:nvSpPr>
          <p:cNvPr id="30" name="Text 28"/>
          <p:cNvSpPr/>
          <p:nvPr/>
        </p:nvSpPr>
        <p:spPr>
          <a:xfrm>
            <a:off x="786384" y="483717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Black" pitchFamily="34" charset="0"/>
                <a:ea typeface="Segoe UI Black" pitchFamily="34" charset="-122"/>
                <a:cs typeface="Segoe UI Black" pitchFamily="34" charset="-120"/>
              </a:rPr>
              <a:t>4</a:t>
            </a:r>
            <a:endParaRPr lang="en-US" sz="1700" dirty="0"/>
          </a:p>
        </p:txBody>
      </p:sp>
      <p:sp>
        <p:nvSpPr>
          <p:cNvPr id="31" name="Text 29"/>
          <p:cNvSpPr/>
          <p:nvPr/>
        </p:nvSpPr>
        <p:spPr>
          <a:xfrm>
            <a:off x="1417320" y="4690872"/>
            <a:ext cx="2377440" cy="749808"/>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Output Artifacts</a:t>
            </a:r>
            <a:endParaRPr lang="en-US" sz="1500" dirty="0"/>
          </a:p>
        </p:txBody>
      </p:sp>
      <p:sp>
        <p:nvSpPr>
          <p:cNvPr id="32" name="Shape 30"/>
          <p:cNvSpPr/>
          <p:nvPr/>
        </p:nvSpPr>
        <p:spPr>
          <a:xfrm>
            <a:off x="3794760" y="4837176"/>
            <a:ext cx="0" cy="457200"/>
          </a:xfrm>
          <a:prstGeom prst="line">
            <a:avLst/>
          </a:prstGeom>
          <a:noFill/>
          <a:ln w="12700">
            <a:solidFill>
              <a:srgbClr val="D9E1F1"/>
            </a:solidFill>
            <a:prstDash val="solid"/>
          </a:ln>
        </p:spPr>
      </p:sp>
      <p:sp>
        <p:nvSpPr>
          <p:cNvPr id="33" name="Text 31"/>
          <p:cNvSpPr/>
          <p:nvPr/>
        </p:nvSpPr>
        <p:spPr>
          <a:xfrm>
            <a:off x="3977640" y="4690872"/>
            <a:ext cx="7434072" cy="749808"/>
          </a:xfrm>
          <a:prstGeom prst="rect">
            <a:avLst/>
          </a:prstGeom>
          <a:noFill/>
          <a:ln/>
        </p:spPr>
        <p:txBody>
          <a:bodyPr wrap="square" lIns="0" tIns="0" rIns="0" bIns="0" rtlCol="0" anchor="ctr"/>
          <a:lstStyle/>
          <a:p>
            <a:pPr marL="0" indent="0">
              <a:buNone/>
            </a:pPr>
            <a:r>
              <a:rPr lang="en-US" sz="1100" dirty="0">
                <a:solidFill>
                  <a:srgbClr val="33405B"/>
                </a:solidFill>
                <a:latin typeface="Consolas" pitchFamily="34" charset="0"/>
                <a:ea typeface="Consolas" pitchFamily="34" charset="-122"/>
                <a:cs typeface="Consolas" pitchFamily="34" charset="-120"/>
              </a:rPr>
              <a:t>*_signals.csv  ·  *_trade_log.csv  ·  *_portfolio_history.csv  ·  *_position_sensitivity.csv</a:t>
            </a:r>
            <a:endParaRPr lang="en-US" sz="1100" dirty="0"/>
          </a:p>
        </p:txBody>
      </p:sp>
      <p:sp>
        <p:nvSpPr>
          <p:cNvPr id="34" name="Text 32"/>
          <p:cNvSpPr/>
          <p:nvPr/>
        </p:nvSpPr>
        <p:spPr>
          <a:xfrm>
            <a:off x="5865876" y="5504688"/>
            <a:ext cx="457200" cy="182880"/>
          </a:xfrm>
          <a:prstGeom prst="rect">
            <a:avLst/>
          </a:prstGeom>
          <a:noFill/>
          <a:ln/>
        </p:spPr>
        <p:txBody>
          <a:bodyPr wrap="square" lIns="0" tIns="0" rIns="0" bIns="0" rtlCol="0" anchor="ctr"/>
          <a:lstStyle/>
          <a:p>
            <a:pPr marL="0" indent="0" algn="ctr">
              <a:buNone/>
            </a:pPr>
            <a:r>
              <a:rPr lang="en-US" sz="1400" dirty="0">
                <a:solidFill>
                  <a:srgbClr val="12936A"/>
                </a:solidFill>
                <a:latin typeface="Segoe UI" pitchFamily="34" charset="0"/>
                <a:ea typeface="Segoe UI" pitchFamily="34" charset="-122"/>
                <a:cs typeface="Segoe UI" pitchFamily="34" charset="-120"/>
              </a:rPr>
              <a:t>▼</a:t>
            </a:r>
            <a:endParaRPr lang="en-US" sz="1400" dirty="0"/>
          </a:p>
        </p:txBody>
      </p:sp>
      <p:sp>
        <p:nvSpPr>
          <p:cNvPr id="35" name="Shape 33"/>
          <p:cNvSpPr/>
          <p:nvPr/>
        </p:nvSpPr>
        <p:spPr>
          <a:xfrm>
            <a:off x="548640" y="5751576"/>
            <a:ext cx="11091672" cy="749808"/>
          </a:xfrm>
          <a:prstGeom prst="roundRect">
            <a:avLst>
              <a:gd name="adj" fmla="val 14634"/>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36" name="Shape 34"/>
          <p:cNvSpPr/>
          <p:nvPr/>
        </p:nvSpPr>
        <p:spPr>
          <a:xfrm>
            <a:off x="786384" y="5897880"/>
            <a:ext cx="457200" cy="457200"/>
          </a:xfrm>
          <a:prstGeom prst="ellipse">
            <a:avLst/>
          </a:prstGeom>
          <a:solidFill>
            <a:srgbClr val="0B1233"/>
          </a:solidFill>
          <a:ln w="12700">
            <a:solidFill>
              <a:srgbClr val="333333"/>
            </a:solidFill>
            <a:prstDash val="solid"/>
          </a:ln>
        </p:spPr>
      </p:sp>
      <p:sp>
        <p:nvSpPr>
          <p:cNvPr id="37" name="Text 35"/>
          <p:cNvSpPr/>
          <p:nvPr/>
        </p:nvSpPr>
        <p:spPr>
          <a:xfrm>
            <a:off x="786384" y="58978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Black" pitchFamily="34" charset="0"/>
                <a:ea typeface="Segoe UI Black" pitchFamily="34" charset="-122"/>
                <a:cs typeface="Segoe UI Black" pitchFamily="34" charset="-120"/>
              </a:rPr>
              <a:t>5</a:t>
            </a:r>
            <a:endParaRPr lang="en-US" sz="1700" dirty="0"/>
          </a:p>
        </p:txBody>
      </p:sp>
      <p:sp>
        <p:nvSpPr>
          <p:cNvPr id="38" name="Text 36"/>
          <p:cNvSpPr/>
          <p:nvPr/>
        </p:nvSpPr>
        <p:spPr>
          <a:xfrm>
            <a:off x="1417320" y="5751576"/>
            <a:ext cx="2377440" cy="749808"/>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Presentation</a:t>
            </a:r>
            <a:endParaRPr lang="en-US" sz="1500" dirty="0"/>
          </a:p>
        </p:txBody>
      </p:sp>
      <p:sp>
        <p:nvSpPr>
          <p:cNvPr id="39" name="Shape 37"/>
          <p:cNvSpPr/>
          <p:nvPr/>
        </p:nvSpPr>
        <p:spPr>
          <a:xfrm>
            <a:off x="3794760" y="5897880"/>
            <a:ext cx="0" cy="457200"/>
          </a:xfrm>
          <a:prstGeom prst="line">
            <a:avLst/>
          </a:prstGeom>
          <a:noFill/>
          <a:ln w="12700">
            <a:solidFill>
              <a:srgbClr val="D9E1F1"/>
            </a:solidFill>
            <a:prstDash val="solid"/>
          </a:ln>
        </p:spPr>
      </p:sp>
      <p:sp>
        <p:nvSpPr>
          <p:cNvPr id="40" name="Text 38"/>
          <p:cNvSpPr/>
          <p:nvPr/>
        </p:nvSpPr>
        <p:spPr>
          <a:xfrm>
            <a:off x="3977640" y="5751576"/>
            <a:ext cx="7434072" cy="749808"/>
          </a:xfrm>
          <a:prstGeom prst="rect">
            <a:avLst/>
          </a:prstGeom>
          <a:noFill/>
          <a:ln/>
        </p:spPr>
        <p:txBody>
          <a:bodyPr wrap="square" lIns="0" tIns="0" rIns="0" bIns="0" rtlCol="0" anchor="ctr"/>
          <a:lstStyle/>
          <a:p>
            <a:pPr marL="0" indent="0">
              <a:buNone/>
            </a:pPr>
            <a:r>
              <a:rPr lang="en-US" sz="1100" dirty="0">
                <a:solidFill>
                  <a:srgbClr val="33405B"/>
                </a:solidFill>
                <a:latin typeface="Consolas" pitchFamily="34" charset="0"/>
                <a:ea typeface="Consolas" pitchFamily="34" charset="-122"/>
                <a:cs typeface="Consolas" pitchFamily="34" charset="-120"/>
              </a:rPr>
              <a:t>app.py  ·  Streamlit dashboard (7 pages)  ·  Plotly charts  ·  paper simulator</a:t>
            </a:r>
            <a:endParaRPr lang="en-US" sz="1100" dirty="0"/>
          </a:p>
        </p:txBody>
      </p:sp>
      <p:sp>
        <p:nvSpPr>
          <p:cNvPr id="41" name="Text 39"/>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42" name="Text 40"/>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07</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MODELING APPROACH</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Features, targets &amp; model configuration</a:t>
            </a:r>
            <a:endParaRPr lang="en-US" sz="2700" dirty="0"/>
          </a:p>
        </p:txBody>
      </p:sp>
      <p:sp>
        <p:nvSpPr>
          <p:cNvPr id="6" name="Text 4"/>
          <p:cNvSpPr/>
          <p:nvPr/>
        </p:nvSpPr>
        <p:spPr>
          <a:xfrm>
            <a:off x="548640" y="1371600"/>
            <a:ext cx="5349240" cy="237744"/>
          </a:xfrm>
          <a:prstGeom prst="rect">
            <a:avLst/>
          </a:prstGeom>
          <a:noFill/>
          <a:ln/>
        </p:spPr>
        <p:txBody>
          <a:bodyPr wrap="square" lIns="0" tIns="0" rIns="0" bIns="0" rtlCol="0" anchor="ctr"/>
          <a:lstStyle/>
          <a:p>
            <a:pPr marL="0" indent="0">
              <a:buNone/>
            </a:pPr>
            <a:r>
              <a:rPr lang="en-US" sz="1150" b="1" kern="0" spc="150" dirty="0">
                <a:solidFill>
                  <a:srgbClr val="0091C2"/>
                </a:solidFill>
                <a:latin typeface="Segoe UI Semibold" pitchFamily="34" charset="0"/>
                <a:ea typeface="Segoe UI Semibold" pitchFamily="34" charset="-122"/>
                <a:cs typeface="Segoe UI Semibold" pitchFamily="34" charset="-120"/>
              </a:rPr>
              <a:t>8 SHARED MODEL FEATURES</a:t>
            </a:r>
            <a:endParaRPr lang="en-US" sz="1150" dirty="0"/>
          </a:p>
        </p:txBody>
      </p:sp>
      <p:sp>
        <p:nvSpPr>
          <p:cNvPr id="7" name="Shape 5"/>
          <p:cNvSpPr/>
          <p:nvPr/>
        </p:nvSpPr>
        <p:spPr>
          <a:xfrm>
            <a:off x="548640" y="1645920"/>
            <a:ext cx="2578608" cy="420624"/>
          </a:xfrm>
          <a:prstGeom prst="roundRect">
            <a:avLst>
              <a:gd name="adj" fmla="val 19565"/>
            </a:avLst>
          </a:prstGeom>
          <a:solidFill>
            <a:srgbClr val="F5F7FC"/>
          </a:solidFill>
          <a:ln w="12700">
            <a:solidFill>
              <a:srgbClr val="D9E1F1"/>
            </a:solidFill>
            <a:prstDash val="solid"/>
          </a:ln>
        </p:spPr>
      </p:sp>
      <p:sp>
        <p:nvSpPr>
          <p:cNvPr id="8" name="Shape 6"/>
          <p:cNvSpPr/>
          <p:nvPr/>
        </p:nvSpPr>
        <p:spPr>
          <a:xfrm>
            <a:off x="694944" y="1783080"/>
            <a:ext cx="146304" cy="146304"/>
          </a:xfrm>
          <a:prstGeom prst="ellipse">
            <a:avLst/>
          </a:prstGeom>
          <a:solidFill>
            <a:srgbClr val="0091C2"/>
          </a:solidFill>
          <a:ln w="12700">
            <a:solidFill>
              <a:srgbClr val="333333"/>
            </a:solidFill>
            <a:prstDash val="solid"/>
          </a:ln>
        </p:spPr>
      </p:sp>
      <p:sp>
        <p:nvSpPr>
          <p:cNvPr id="9" name="Text 7"/>
          <p:cNvSpPr/>
          <p:nvPr/>
        </p:nvSpPr>
        <p:spPr>
          <a:xfrm>
            <a:off x="932688" y="1645920"/>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RSI_7D</a:t>
            </a:r>
            <a:endParaRPr lang="en-US" sz="1250" dirty="0"/>
          </a:p>
        </p:txBody>
      </p:sp>
      <p:sp>
        <p:nvSpPr>
          <p:cNvPr id="10" name="Shape 8"/>
          <p:cNvSpPr/>
          <p:nvPr/>
        </p:nvSpPr>
        <p:spPr>
          <a:xfrm>
            <a:off x="3310128" y="1645920"/>
            <a:ext cx="2578608" cy="420624"/>
          </a:xfrm>
          <a:prstGeom prst="roundRect">
            <a:avLst>
              <a:gd name="adj" fmla="val 19565"/>
            </a:avLst>
          </a:prstGeom>
          <a:solidFill>
            <a:srgbClr val="F5F7FC"/>
          </a:solidFill>
          <a:ln w="12700">
            <a:solidFill>
              <a:srgbClr val="D9E1F1"/>
            </a:solidFill>
            <a:prstDash val="solid"/>
          </a:ln>
        </p:spPr>
      </p:sp>
      <p:sp>
        <p:nvSpPr>
          <p:cNvPr id="11" name="Shape 9"/>
          <p:cNvSpPr/>
          <p:nvPr/>
        </p:nvSpPr>
        <p:spPr>
          <a:xfrm>
            <a:off x="3456432" y="1783080"/>
            <a:ext cx="146304" cy="146304"/>
          </a:xfrm>
          <a:prstGeom prst="ellipse">
            <a:avLst/>
          </a:prstGeom>
          <a:solidFill>
            <a:srgbClr val="0091C2"/>
          </a:solidFill>
          <a:ln w="12700">
            <a:solidFill>
              <a:srgbClr val="333333"/>
            </a:solidFill>
            <a:prstDash val="solid"/>
          </a:ln>
        </p:spPr>
      </p:sp>
      <p:sp>
        <p:nvSpPr>
          <p:cNvPr id="12" name="Text 10"/>
          <p:cNvSpPr/>
          <p:nvPr/>
        </p:nvSpPr>
        <p:spPr>
          <a:xfrm>
            <a:off x="3694176" y="1645920"/>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RSI_30D</a:t>
            </a:r>
            <a:endParaRPr lang="en-US" sz="1250" dirty="0"/>
          </a:p>
        </p:txBody>
      </p:sp>
      <p:sp>
        <p:nvSpPr>
          <p:cNvPr id="13" name="Shape 11"/>
          <p:cNvSpPr/>
          <p:nvPr/>
        </p:nvSpPr>
        <p:spPr>
          <a:xfrm>
            <a:off x="548640" y="2176272"/>
            <a:ext cx="2578608" cy="420624"/>
          </a:xfrm>
          <a:prstGeom prst="roundRect">
            <a:avLst>
              <a:gd name="adj" fmla="val 19565"/>
            </a:avLst>
          </a:prstGeom>
          <a:solidFill>
            <a:srgbClr val="F5F7FC"/>
          </a:solidFill>
          <a:ln w="12700">
            <a:solidFill>
              <a:srgbClr val="D9E1F1"/>
            </a:solidFill>
            <a:prstDash val="solid"/>
          </a:ln>
        </p:spPr>
      </p:sp>
      <p:sp>
        <p:nvSpPr>
          <p:cNvPr id="14" name="Shape 12"/>
          <p:cNvSpPr/>
          <p:nvPr/>
        </p:nvSpPr>
        <p:spPr>
          <a:xfrm>
            <a:off x="694944" y="2313432"/>
            <a:ext cx="146304" cy="146304"/>
          </a:xfrm>
          <a:prstGeom prst="ellipse">
            <a:avLst/>
          </a:prstGeom>
          <a:solidFill>
            <a:srgbClr val="0091C2"/>
          </a:solidFill>
          <a:ln w="12700">
            <a:solidFill>
              <a:srgbClr val="333333"/>
            </a:solidFill>
            <a:prstDash val="solid"/>
          </a:ln>
        </p:spPr>
      </p:sp>
      <p:sp>
        <p:nvSpPr>
          <p:cNvPr id="15" name="Text 13"/>
          <p:cNvSpPr/>
          <p:nvPr/>
        </p:nvSpPr>
        <p:spPr>
          <a:xfrm>
            <a:off x="932688" y="2176272"/>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Vol_Ratio</a:t>
            </a:r>
            <a:endParaRPr lang="en-US" sz="1250" dirty="0"/>
          </a:p>
        </p:txBody>
      </p:sp>
      <p:sp>
        <p:nvSpPr>
          <p:cNvPr id="16" name="Shape 14"/>
          <p:cNvSpPr/>
          <p:nvPr/>
        </p:nvSpPr>
        <p:spPr>
          <a:xfrm>
            <a:off x="3310128" y="2176272"/>
            <a:ext cx="2578608" cy="420624"/>
          </a:xfrm>
          <a:prstGeom prst="roundRect">
            <a:avLst>
              <a:gd name="adj" fmla="val 19565"/>
            </a:avLst>
          </a:prstGeom>
          <a:solidFill>
            <a:srgbClr val="F5F7FC"/>
          </a:solidFill>
          <a:ln w="12700">
            <a:solidFill>
              <a:srgbClr val="D9E1F1"/>
            </a:solidFill>
            <a:prstDash val="solid"/>
          </a:ln>
        </p:spPr>
      </p:sp>
      <p:sp>
        <p:nvSpPr>
          <p:cNvPr id="17" name="Shape 15"/>
          <p:cNvSpPr/>
          <p:nvPr/>
        </p:nvSpPr>
        <p:spPr>
          <a:xfrm>
            <a:off x="3456432" y="2313432"/>
            <a:ext cx="146304" cy="146304"/>
          </a:xfrm>
          <a:prstGeom prst="ellipse">
            <a:avLst/>
          </a:prstGeom>
          <a:solidFill>
            <a:srgbClr val="0091C2"/>
          </a:solidFill>
          <a:ln w="12700">
            <a:solidFill>
              <a:srgbClr val="333333"/>
            </a:solidFill>
            <a:prstDash val="solid"/>
          </a:ln>
        </p:spPr>
      </p:sp>
      <p:sp>
        <p:nvSpPr>
          <p:cNvPr id="18" name="Text 16"/>
          <p:cNvSpPr/>
          <p:nvPr/>
        </p:nvSpPr>
        <p:spPr>
          <a:xfrm>
            <a:off x="3694176" y="2176272"/>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MACD_Hist</a:t>
            </a:r>
            <a:endParaRPr lang="en-US" sz="1250" dirty="0"/>
          </a:p>
        </p:txBody>
      </p:sp>
      <p:sp>
        <p:nvSpPr>
          <p:cNvPr id="19" name="Shape 17"/>
          <p:cNvSpPr/>
          <p:nvPr/>
        </p:nvSpPr>
        <p:spPr>
          <a:xfrm>
            <a:off x="548640" y="2706624"/>
            <a:ext cx="2578608" cy="420624"/>
          </a:xfrm>
          <a:prstGeom prst="roundRect">
            <a:avLst>
              <a:gd name="adj" fmla="val 19565"/>
            </a:avLst>
          </a:prstGeom>
          <a:solidFill>
            <a:srgbClr val="F5F7FC"/>
          </a:solidFill>
          <a:ln w="12700">
            <a:solidFill>
              <a:srgbClr val="D9E1F1"/>
            </a:solidFill>
            <a:prstDash val="solid"/>
          </a:ln>
        </p:spPr>
      </p:sp>
      <p:sp>
        <p:nvSpPr>
          <p:cNvPr id="20" name="Shape 18"/>
          <p:cNvSpPr/>
          <p:nvPr/>
        </p:nvSpPr>
        <p:spPr>
          <a:xfrm>
            <a:off x="694944" y="2843784"/>
            <a:ext cx="146304" cy="146304"/>
          </a:xfrm>
          <a:prstGeom prst="ellipse">
            <a:avLst/>
          </a:prstGeom>
          <a:solidFill>
            <a:srgbClr val="0091C2"/>
          </a:solidFill>
          <a:ln w="12700">
            <a:solidFill>
              <a:srgbClr val="333333"/>
            </a:solidFill>
            <a:prstDash val="solid"/>
          </a:ln>
        </p:spPr>
      </p:sp>
      <p:sp>
        <p:nvSpPr>
          <p:cNvPr id="21" name="Text 19"/>
          <p:cNvSpPr/>
          <p:nvPr/>
        </p:nvSpPr>
        <p:spPr>
          <a:xfrm>
            <a:off x="932688" y="2706624"/>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ATR_Pct</a:t>
            </a:r>
            <a:endParaRPr lang="en-US" sz="1250" dirty="0"/>
          </a:p>
        </p:txBody>
      </p:sp>
      <p:sp>
        <p:nvSpPr>
          <p:cNvPr id="22" name="Shape 20"/>
          <p:cNvSpPr/>
          <p:nvPr/>
        </p:nvSpPr>
        <p:spPr>
          <a:xfrm>
            <a:off x="3310128" y="2706624"/>
            <a:ext cx="2578608" cy="420624"/>
          </a:xfrm>
          <a:prstGeom prst="roundRect">
            <a:avLst>
              <a:gd name="adj" fmla="val 19565"/>
            </a:avLst>
          </a:prstGeom>
          <a:solidFill>
            <a:srgbClr val="F5F7FC"/>
          </a:solidFill>
          <a:ln w="12700">
            <a:solidFill>
              <a:srgbClr val="D9E1F1"/>
            </a:solidFill>
            <a:prstDash val="solid"/>
          </a:ln>
        </p:spPr>
      </p:sp>
      <p:sp>
        <p:nvSpPr>
          <p:cNvPr id="23" name="Shape 21"/>
          <p:cNvSpPr/>
          <p:nvPr/>
        </p:nvSpPr>
        <p:spPr>
          <a:xfrm>
            <a:off x="3456432" y="2843784"/>
            <a:ext cx="146304" cy="146304"/>
          </a:xfrm>
          <a:prstGeom prst="ellipse">
            <a:avLst/>
          </a:prstGeom>
          <a:solidFill>
            <a:srgbClr val="0091C2"/>
          </a:solidFill>
          <a:ln w="12700">
            <a:solidFill>
              <a:srgbClr val="333333"/>
            </a:solidFill>
            <a:prstDash val="solid"/>
          </a:ln>
        </p:spPr>
      </p:sp>
      <p:sp>
        <p:nvSpPr>
          <p:cNvPr id="24" name="Text 22"/>
          <p:cNvSpPr/>
          <p:nvPr/>
        </p:nvSpPr>
        <p:spPr>
          <a:xfrm>
            <a:off x="3694176" y="2706624"/>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Dist_EMA20</a:t>
            </a:r>
            <a:endParaRPr lang="en-US" sz="1250" dirty="0"/>
          </a:p>
        </p:txBody>
      </p:sp>
      <p:sp>
        <p:nvSpPr>
          <p:cNvPr id="25" name="Shape 23"/>
          <p:cNvSpPr/>
          <p:nvPr/>
        </p:nvSpPr>
        <p:spPr>
          <a:xfrm>
            <a:off x="548640" y="3236976"/>
            <a:ext cx="2578608" cy="420624"/>
          </a:xfrm>
          <a:prstGeom prst="roundRect">
            <a:avLst>
              <a:gd name="adj" fmla="val 19565"/>
            </a:avLst>
          </a:prstGeom>
          <a:solidFill>
            <a:srgbClr val="F5F7FC"/>
          </a:solidFill>
          <a:ln w="12700">
            <a:solidFill>
              <a:srgbClr val="D9E1F1"/>
            </a:solidFill>
            <a:prstDash val="solid"/>
          </a:ln>
        </p:spPr>
      </p:sp>
      <p:sp>
        <p:nvSpPr>
          <p:cNvPr id="26" name="Shape 24"/>
          <p:cNvSpPr/>
          <p:nvPr/>
        </p:nvSpPr>
        <p:spPr>
          <a:xfrm>
            <a:off x="694944" y="3374136"/>
            <a:ext cx="146304" cy="146304"/>
          </a:xfrm>
          <a:prstGeom prst="ellipse">
            <a:avLst/>
          </a:prstGeom>
          <a:solidFill>
            <a:srgbClr val="0091C2"/>
          </a:solidFill>
          <a:ln w="12700">
            <a:solidFill>
              <a:srgbClr val="333333"/>
            </a:solidFill>
            <a:prstDash val="solid"/>
          </a:ln>
        </p:spPr>
      </p:sp>
      <p:sp>
        <p:nvSpPr>
          <p:cNvPr id="27" name="Text 25"/>
          <p:cNvSpPr/>
          <p:nvPr/>
        </p:nvSpPr>
        <p:spPr>
          <a:xfrm>
            <a:off x="932688" y="3236976"/>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Dist_SMA200</a:t>
            </a:r>
            <a:endParaRPr lang="en-US" sz="1250" dirty="0"/>
          </a:p>
        </p:txBody>
      </p:sp>
      <p:sp>
        <p:nvSpPr>
          <p:cNvPr id="28" name="Shape 26"/>
          <p:cNvSpPr/>
          <p:nvPr/>
        </p:nvSpPr>
        <p:spPr>
          <a:xfrm>
            <a:off x="3310128" y="3236976"/>
            <a:ext cx="2578608" cy="420624"/>
          </a:xfrm>
          <a:prstGeom prst="roundRect">
            <a:avLst>
              <a:gd name="adj" fmla="val 19565"/>
            </a:avLst>
          </a:prstGeom>
          <a:solidFill>
            <a:srgbClr val="F5F7FC"/>
          </a:solidFill>
          <a:ln w="12700">
            <a:solidFill>
              <a:srgbClr val="D9E1F1"/>
            </a:solidFill>
            <a:prstDash val="solid"/>
          </a:ln>
        </p:spPr>
      </p:sp>
      <p:sp>
        <p:nvSpPr>
          <p:cNvPr id="29" name="Shape 27"/>
          <p:cNvSpPr/>
          <p:nvPr/>
        </p:nvSpPr>
        <p:spPr>
          <a:xfrm>
            <a:off x="3456432" y="3374136"/>
            <a:ext cx="146304" cy="146304"/>
          </a:xfrm>
          <a:prstGeom prst="ellipse">
            <a:avLst/>
          </a:prstGeom>
          <a:solidFill>
            <a:srgbClr val="0091C2"/>
          </a:solidFill>
          <a:ln w="12700">
            <a:solidFill>
              <a:srgbClr val="333333"/>
            </a:solidFill>
            <a:prstDash val="solid"/>
          </a:ln>
        </p:spPr>
      </p:sp>
      <p:sp>
        <p:nvSpPr>
          <p:cNvPr id="30" name="Text 28"/>
          <p:cNvSpPr/>
          <p:nvPr/>
        </p:nvSpPr>
        <p:spPr>
          <a:xfrm>
            <a:off x="3694176" y="3236976"/>
            <a:ext cx="2121408" cy="420624"/>
          </a:xfrm>
          <a:prstGeom prst="rect">
            <a:avLst/>
          </a:prstGeom>
          <a:noFill/>
          <a:ln/>
        </p:spPr>
        <p:txBody>
          <a:bodyPr wrap="square" lIns="0" tIns="0" rIns="0" bIns="0" rtlCol="0" anchor="ctr"/>
          <a:lstStyle/>
          <a:p>
            <a:pPr marL="0" indent="0">
              <a:buNone/>
            </a:pPr>
            <a:r>
              <a:rPr lang="en-US" sz="1250" b="1" dirty="0">
                <a:solidFill>
                  <a:srgbClr val="0B1233"/>
                </a:solidFill>
                <a:latin typeface="Consolas" pitchFamily="34" charset="0"/>
                <a:ea typeface="Consolas" pitchFamily="34" charset="-122"/>
                <a:cs typeface="Consolas" pitchFamily="34" charset="-120"/>
              </a:rPr>
              <a:t>BB_Width</a:t>
            </a:r>
            <a:endParaRPr lang="en-US" sz="1250" dirty="0"/>
          </a:p>
        </p:txBody>
      </p:sp>
      <p:sp>
        <p:nvSpPr>
          <p:cNvPr id="31" name="Text 29"/>
          <p:cNvSpPr/>
          <p:nvPr/>
        </p:nvSpPr>
        <p:spPr>
          <a:xfrm>
            <a:off x="548640" y="3712464"/>
            <a:ext cx="5349240" cy="292608"/>
          </a:xfrm>
          <a:prstGeom prst="rect">
            <a:avLst/>
          </a:prstGeom>
          <a:noFill/>
          <a:ln/>
        </p:spPr>
        <p:txBody>
          <a:bodyPr wrap="square" lIns="0" tIns="0" rIns="0" bIns="0" rtlCol="0" anchor="ctr"/>
          <a:lstStyle/>
          <a:p>
            <a:pPr marL="0" indent="0">
              <a:buNone/>
            </a:pPr>
            <a:r>
              <a:rPr lang="en-US" sz="1100" i="1" dirty="0">
                <a:solidFill>
                  <a:srgbClr val="6B7796"/>
                </a:solidFill>
                <a:latin typeface="Segoe UI" pitchFamily="34" charset="0"/>
                <a:ea typeface="Segoe UI" pitchFamily="34" charset="-122"/>
                <a:cs typeface="Segoe UI" pitchFamily="34" charset="-120"/>
              </a:rPr>
              <a:t>Derived from RSI, MACD, ATR, Bollinger Bands, EMA-20/50, SMA-200 and volume.</a:t>
            </a:r>
            <a:endParaRPr lang="en-US" sz="1100" dirty="0"/>
          </a:p>
        </p:txBody>
      </p:sp>
      <p:sp>
        <p:nvSpPr>
          <p:cNvPr id="32" name="Text 30"/>
          <p:cNvSpPr/>
          <p:nvPr/>
        </p:nvSpPr>
        <p:spPr>
          <a:xfrm>
            <a:off x="548640" y="4078224"/>
            <a:ext cx="5349240" cy="237744"/>
          </a:xfrm>
          <a:prstGeom prst="rect">
            <a:avLst/>
          </a:prstGeom>
          <a:noFill/>
          <a:ln/>
        </p:spPr>
        <p:txBody>
          <a:bodyPr wrap="square" lIns="0" tIns="0" rIns="0" bIns="0" rtlCol="0" anchor="ctr"/>
          <a:lstStyle/>
          <a:p>
            <a:pPr marL="0" indent="0">
              <a:buNone/>
            </a:pPr>
            <a:r>
              <a:rPr lang="en-US" sz="1150" b="1" kern="0" spc="150" dirty="0">
                <a:solidFill>
                  <a:srgbClr val="0091C2"/>
                </a:solidFill>
                <a:latin typeface="Segoe UI Semibold" pitchFamily="34" charset="0"/>
                <a:ea typeface="Segoe UI Semibold" pitchFamily="34" charset="-122"/>
                <a:cs typeface="Segoe UI Semibold" pitchFamily="34" charset="-120"/>
              </a:rPr>
              <a:t>PREDICTION TARGETS</a:t>
            </a:r>
            <a:endParaRPr lang="en-US" sz="1150" dirty="0"/>
          </a:p>
        </p:txBody>
      </p:sp>
      <p:sp>
        <p:nvSpPr>
          <p:cNvPr id="33" name="Text 31"/>
          <p:cNvSpPr/>
          <p:nvPr/>
        </p:nvSpPr>
        <p:spPr>
          <a:xfrm>
            <a:off x="548640" y="4315968"/>
            <a:ext cx="5349240" cy="731520"/>
          </a:xfrm>
          <a:prstGeom prst="rect">
            <a:avLst/>
          </a:prstGeom>
          <a:noFill/>
          <a:ln/>
        </p:spPr>
        <p:txBody>
          <a:bodyPr wrap="square" lIns="0" tIns="0" rIns="0" bIns="0" rtlCol="0" anchor="ctr"/>
          <a:lstStyle/>
          <a:p>
            <a:pPr marL="0" indent="0">
              <a:buNone/>
            </a:pPr>
            <a:r>
              <a:rPr lang="en-US" sz="1250" b="1" dirty="0">
                <a:solidFill>
                  <a:srgbClr val="0B1233"/>
                </a:solidFill>
                <a:latin typeface="Segoe UI" pitchFamily="34" charset="0"/>
                <a:ea typeface="Segoe UI" pitchFamily="34" charset="-122"/>
                <a:cs typeface="Segoe UI" pitchFamily="34" charset="-120"/>
              </a:rPr>
              <a:t>Random Forest — </a:t>
            </a:r>
            <a:r>
              <a:rPr lang="en-US" sz="1250" dirty="0">
                <a:solidFill>
                  <a:srgbClr val="33405B"/>
                </a:solidFill>
                <a:latin typeface="Segoe UI" pitchFamily="34" charset="0"/>
                <a:ea typeface="Segoe UI" pitchFamily="34" charset="-122"/>
                <a:cs typeface="Segoe UI" pitchFamily="34" charset="-120"/>
              </a:rPr>
              <a:t>price up &gt; 1.5% within 5 days  (Target_5D)</a:t>
            </a:r>
            <a:endParaRPr lang="en-US" sz="1250" dirty="0"/>
          </a:p>
          <a:p>
            <a:pPr marL="0" indent="0">
              <a:buNone/>
            </a:pPr>
            <a:r>
              <a:rPr lang="en-US" sz="1250" b="1" dirty="0">
                <a:solidFill>
                  <a:srgbClr val="0B1233"/>
                </a:solidFill>
                <a:latin typeface="Segoe UI" pitchFamily="34" charset="0"/>
                <a:ea typeface="Segoe UI" pitchFamily="34" charset="-122"/>
                <a:cs typeface="Segoe UI" pitchFamily="34" charset="-120"/>
              </a:rPr>
              <a:t>LightGBM — </a:t>
            </a:r>
            <a:r>
              <a:rPr lang="en-US" sz="1250" dirty="0">
                <a:solidFill>
                  <a:srgbClr val="33405B"/>
                </a:solidFill>
                <a:latin typeface="Segoe UI" pitchFamily="34" charset="0"/>
                <a:ea typeface="Segoe UI" pitchFamily="34" charset="-122"/>
                <a:cs typeface="Segoe UI" pitchFamily="34" charset="-120"/>
              </a:rPr>
              <a:t>price up &gt; 3% within 10 days  (Target_10D)</a:t>
            </a:r>
            <a:endParaRPr lang="en-US" sz="1250" dirty="0"/>
          </a:p>
        </p:txBody>
      </p:sp>
      <p:sp>
        <p:nvSpPr>
          <p:cNvPr id="34" name="Text 32"/>
          <p:cNvSpPr/>
          <p:nvPr/>
        </p:nvSpPr>
        <p:spPr>
          <a:xfrm>
            <a:off x="548640" y="5120640"/>
            <a:ext cx="5349240" cy="237744"/>
          </a:xfrm>
          <a:prstGeom prst="rect">
            <a:avLst/>
          </a:prstGeom>
          <a:noFill/>
          <a:ln/>
        </p:spPr>
        <p:txBody>
          <a:bodyPr wrap="square" lIns="0" tIns="0" rIns="0" bIns="0" rtlCol="0" anchor="ctr"/>
          <a:lstStyle/>
          <a:p>
            <a:pPr marL="0" indent="0">
              <a:buNone/>
            </a:pPr>
            <a:r>
              <a:rPr lang="en-US" sz="1150" b="1" kern="0" spc="150" dirty="0">
                <a:solidFill>
                  <a:srgbClr val="0091C2"/>
                </a:solidFill>
                <a:latin typeface="Segoe UI Semibold" pitchFamily="34" charset="0"/>
                <a:ea typeface="Segoe UI Semibold" pitchFamily="34" charset="-122"/>
                <a:cs typeface="Segoe UI Semibold" pitchFamily="34" charset="-120"/>
              </a:rPr>
              <a:t>VALIDATION</a:t>
            </a:r>
            <a:endParaRPr lang="en-US" sz="1150" dirty="0"/>
          </a:p>
        </p:txBody>
      </p:sp>
      <p:sp>
        <p:nvSpPr>
          <p:cNvPr id="35" name="Text 33"/>
          <p:cNvSpPr/>
          <p:nvPr/>
        </p:nvSpPr>
        <p:spPr>
          <a:xfrm>
            <a:off x="548640" y="5376672"/>
            <a:ext cx="5349240" cy="960120"/>
          </a:xfrm>
          <a:prstGeom prst="rect">
            <a:avLst/>
          </a:prstGeom>
          <a:noFill/>
          <a:ln/>
        </p:spPr>
        <p:txBody>
          <a:bodyPr wrap="square" lIns="0" tIns="0" rIns="0" bIns="0" rtlCol="0" anchor="ctr"/>
          <a:lstStyle/>
          <a:p>
            <a:pPr marL="0" indent="0">
              <a:lnSpc>
                <a:spcPct val="103000"/>
              </a:lnSpc>
              <a:buNone/>
            </a:pPr>
            <a:r>
              <a:rPr lang="en-US" sz="1200" dirty="0">
                <a:solidFill>
                  <a:srgbClr val="33405B"/>
                </a:solidFill>
                <a:latin typeface="Segoe UI" pitchFamily="34" charset="0"/>
                <a:ea typeface="Segoe UI" pitchFamily="34" charset="-122"/>
                <a:cs typeface="Segoe UI" pitchFamily="34" charset="-120"/>
              </a:rPr>
              <a:t>Time-based split — train on the first ≈4 years, test on the most recent 12 months (out-of-sample). Scored by ROC-AUC; balanced class weights handle imbalance.</a:t>
            </a:r>
            <a:endParaRPr lang="en-US" sz="1200" dirty="0"/>
          </a:p>
        </p:txBody>
      </p:sp>
      <p:sp>
        <p:nvSpPr>
          <p:cNvPr id="36" name="Text 34"/>
          <p:cNvSpPr/>
          <p:nvPr/>
        </p:nvSpPr>
        <p:spPr>
          <a:xfrm>
            <a:off x="6144768" y="1371600"/>
            <a:ext cx="5486400" cy="310896"/>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Model configuration</a:t>
            </a:r>
            <a:endParaRPr lang="en-US" sz="15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144768" y="1737360"/>
          <a:ext cx="5486400" cy="3895344"/>
        </p:xfrm>
        <a:graphic>
          <a:graphicData uri="http://schemas.openxmlformats.org/drawingml/2006/table">
            <a:tbl>
              <a:tblPr/>
              <a:tblGrid>
                <a:gridCol w="19202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420624">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Parameter</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tc>
                  <a:txBody>
                    <a:bodyPr/>
                    <a:lstStyle/>
                    <a:p>
                      <a:pPr marL="0" indent="0" algn="ctr">
                        <a:buNone/>
                      </a:pPr>
                      <a:r>
                        <a:rPr lang="en-US" sz="1150" b="1" dirty="0">
                          <a:solidFill>
                            <a:srgbClr val="FFFFFF"/>
                          </a:solidFill>
                          <a:latin typeface="Segoe UI Semibold" pitchFamily="34" charset="0"/>
                          <a:ea typeface="Segoe UI Semibold" pitchFamily="34" charset="-122"/>
                          <a:cs typeface="Segoe UI Semibold" pitchFamily="34" charset="-120"/>
                        </a:rPr>
                        <a:t>Random Forest</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091C2"/>
                    </a:solidFill>
                  </a:tcPr>
                </a:tc>
                <a:tc>
                  <a:txBody>
                    <a:bodyPr/>
                    <a:lstStyle/>
                    <a:p>
                      <a:pPr marL="0" indent="0" algn="ctr">
                        <a:buNone/>
                      </a:pPr>
                      <a:r>
                        <a:rPr lang="en-US" sz="1150" b="1" dirty="0">
                          <a:solidFill>
                            <a:srgbClr val="FFFFFF"/>
                          </a:solidFill>
                          <a:latin typeface="Segoe UI Semibold" pitchFamily="34" charset="0"/>
                          <a:ea typeface="Segoe UI Semibold" pitchFamily="34" charset="-122"/>
                          <a:cs typeface="Segoe UI Semibold" pitchFamily="34" charset="-120"/>
                        </a:rPr>
                        <a:t>LightGBM</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D98A00"/>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Algorithm</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Bagged trees</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Gradient boosting</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Estimators</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Max depth</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6</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6</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Learning rate</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0.05</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Num leaves</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31</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6656">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Regularization</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class_weight=</a:t>
                      </a:r>
                      <a:endParaRPr lang="en-US" sz="1100" dirty="0">
                        <a:latin typeface="Consolas" charset="0"/>
                        <a:ea typeface="Consolas" charset="0"/>
                        <a:cs typeface="Consolas" charset="0"/>
                      </a:endParaRPr>
                    </a:p>
                    <a:p>
                      <a:pPr marL="0" indent="0" algn="ctr">
                        <a:buNone/>
                      </a:pPr>
                      <a:r>
                        <a:rPr lang="en-US" sz="1100" dirty="0">
                          <a:solidFill>
                            <a:srgbClr val="33405B"/>
                          </a:solidFill>
                          <a:latin typeface="Consolas" pitchFamily="34" charset="0"/>
                          <a:ea typeface="Consolas" pitchFamily="34" charset="-122"/>
                          <a:cs typeface="Consolas" pitchFamily="34" charset="-120"/>
                        </a:rPr>
                        <a:t>balanced</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L1 0.1 · L2 0.1</a:t>
                      </a:r>
                      <a:endParaRPr lang="en-US" sz="1100" dirty="0">
                        <a:latin typeface="Consolas" charset="0"/>
                        <a:ea typeface="Consolas" charset="0"/>
                        <a:cs typeface="Consolas" charset="0"/>
                      </a:endParaRPr>
                    </a:p>
                    <a:p>
                      <a:pPr marL="0" indent="0" algn="ctr">
                        <a:buNone/>
                      </a:pPr>
                      <a:r>
                        <a:rPr lang="en-US" sz="1100" dirty="0">
                          <a:solidFill>
                            <a:srgbClr val="33405B"/>
                          </a:solidFill>
                          <a:latin typeface="Consolas" pitchFamily="34" charset="0"/>
                          <a:ea typeface="Consolas" pitchFamily="34" charset="-122"/>
                          <a:cs typeface="Consolas" pitchFamily="34" charset="-120"/>
                        </a:rPr>
                        <a:t>subsample 0.8</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Target horizon</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5 days / +1.5%</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10 days / +3%</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Random state</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42</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05B"/>
                          </a:solidFill>
                          <a:latin typeface="Consolas" pitchFamily="34" charset="0"/>
                          <a:ea typeface="Consolas" pitchFamily="34" charset="-122"/>
                          <a:cs typeface="Consolas" pitchFamily="34" charset="-120"/>
                        </a:rPr>
                        <a:t>42</a:t>
                      </a:r>
                      <a:endParaRPr lang="en-US" sz="1100" dirty="0">
                        <a:latin typeface="Consolas" charset="0"/>
                        <a:ea typeface="Consolas" charset="0"/>
                        <a:cs typeface="Consolas"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38" name="Text 35"/>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39" name="Text 36"/>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08</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SIGNALS &amp; RISK MANAGEMENT</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From probability to a risk-managed trade</a:t>
            </a:r>
            <a:endParaRPr lang="en-US" sz="2700" dirty="0"/>
          </a:p>
        </p:txBody>
      </p:sp>
      <p:sp>
        <p:nvSpPr>
          <p:cNvPr id="6" name="Shape 4"/>
          <p:cNvSpPr/>
          <p:nvPr/>
        </p:nvSpPr>
        <p:spPr>
          <a:xfrm>
            <a:off x="548640" y="1417320"/>
            <a:ext cx="5440680" cy="3657600"/>
          </a:xfrm>
          <a:prstGeom prst="roundRect">
            <a:avLst>
              <a:gd name="adj" fmla="val 3000"/>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7" name="Text 5"/>
          <p:cNvSpPr/>
          <p:nvPr/>
        </p:nvSpPr>
        <p:spPr>
          <a:xfrm>
            <a:off x="822960" y="1618488"/>
            <a:ext cx="4892040" cy="329184"/>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Signal decision framework</a:t>
            </a:r>
            <a:endParaRPr lang="en-US" sz="1500" dirty="0"/>
          </a:p>
        </p:txBody>
      </p:sp>
      <p:sp>
        <p:nvSpPr>
          <p:cNvPr id="8" name="Text 6"/>
          <p:cNvSpPr/>
          <p:nvPr/>
        </p:nvSpPr>
        <p:spPr>
          <a:xfrm>
            <a:off x="859536" y="1984248"/>
            <a:ext cx="4892040" cy="2926080"/>
          </a:xfrm>
          <a:prstGeom prst="rect">
            <a:avLst/>
          </a:prstGeom>
          <a:noFill/>
          <a:ln/>
        </p:spPr>
        <p:txBody>
          <a:bodyPr wrap="square" lIns="0" tIns="0" rIns="0" bIns="0" rtlCol="0" anchor="t"/>
          <a:lstStyle/>
          <a:p>
            <a:pPr marL="203200" indent="-203200">
              <a:buSzPct val="100000"/>
              <a:buChar char="•"/>
            </a:pPr>
            <a:r>
              <a:rPr lang="en-US" sz="1200" b="1" dirty="0">
                <a:solidFill>
                  <a:srgbClr val="0091C2"/>
                </a:solidFill>
                <a:latin typeface="Segoe UI" pitchFamily="34" charset="0"/>
                <a:ea typeface="Segoe UI" pitchFamily="34" charset="-122"/>
                <a:cs typeface="Segoe UI" pitchFamily="34" charset="-120"/>
              </a:rPr>
              <a:t>ML probability gate</a:t>
            </a:r>
            <a:endParaRPr lang="en-US" sz="1200" dirty="0"/>
          </a:p>
          <a:p>
            <a:pPr marL="0" lvl="1" indent="0">
              <a:spcAft>
                <a:spcPts val="800"/>
              </a:spcAft>
              <a:buNone/>
            </a:pPr>
            <a:r>
              <a:rPr lang="en-US" sz="1200" dirty="0">
                <a:solidFill>
                  <a:srgbClr val="33405B"/>
                </a:solidFill>
                <a:latin typeface="Segoe UI" pitchFamily="34" charset="0"/>
                <a:ea typeface="Segoe UI" pitchFamily="34" charset="-122"/>
                <a:cs typeface="Segoe UI" pitchFamily="34" charset="-120"/>
              </a:rPr>
              <a:t>RF ≥ 0.55 / 0.65  ·  LightGBM dynamic 90–95th percentile (floors 0.45 / 0.50)</a:t>
            </a:r>
            <a:endParaRPr lang="en-US" sz="1200" dirty="0"/>
          </a:p>
          <a:p>
            <a:pPr marL="203200" indent="-203200">
              <a:buSzPct val="100000"/>
              <a:buChar char="•"/>
            </a:pPr>
            <a:r>
              <a:rPr lang="en-US" sz="1200" b="1" dirty="0">
                <a:solidFill>
                  <a:srgbClr val="12936A"/>
                </a:solidFill>
                <a:latin typeface="Segoe UI" pitchFamily="34" charset="0"/>
                <a:ea typeface="Segoe UI" pitchFamily="34" charset="-122"/>
                <a:cs typeface="Segoe UI" pitchFamily="34" charset="-120"/>
              </a:rPr>
              <a:t>+ Quant confirmations (≥2 → BUY, ≥3 → STRONG BUY)</a:t>
            </a:r>
            <a:endParaRPr lang="en-US" sz="1200" dirty="0"/>
          </a:p>
          <a:p>
            <a:pPr marL="0" lvl="1" indent="0">
              <a:spcAft>
                <a:spcPts val="800"/>
              </a:spcAft>
              <a:buNone/>
            </a:pPr>
            <a:r>
              <a:rPr lang="en-US" sz="1200" dirty="0">
                <a:solidFill>
                  <a:srgbClr val="33405B"/>
                </a:solidFill>
                <a:latin typeface="Segoe UI" pitchFamily="34" charset="0"/>
                <a:ea typeface="Segoe UI" pitchFamily="34" charset="-122"/>
                <a:cs typeface="Segoe UI" pitchFamily="34" charset="-120"/>
              </a:rPr>
              <a:t>trend (Close &gt; EMA-50) · MACD_Hist &gt; 0 · Volume ratio ≥ 1.2</a:t>
            </a:r>
            <a:endParaRPr lang="en-US" sz="1200" dirty="0"/>
          </a:p>
          <a:p>
            <a:pPr marL="203200" indent="-203200">
              <a:buSzPct val="100000"/>
              <a:buChar char="•"/>
            </a:pPr>
            <a:r>
              <a:rPr lang="en-US" sz="1200" b="1" dirty="0">
                <a:solidFill>
                  <a:srgbClr val="6A36DE"/>
                </a:solidFill>
                <a:latin typeface="Segoe UI" pitchFamily="34" charset="0"/>
                <a:ea typeface="Segoe UI" pitchFamily="34" charset="-122"/>
                <a:cs typeface="Segoe UI" pitchFamily="34" charset="-120"/>
              </a:rPr>
              <a:t>+ Regime filter</a:t>
            </a:r>
            <a:endParaRPr lang="en-US" sz="1200" dirty="0"/>
          </a:p>
          <a:p>
            <a:pPr marL="0" lvl="1" indent="0">
              <a:spcAft>
                <a:spcPts val="800"/>
              </a:spcAft>
              <a:buNone/>
            </a:pPr>
            <a:r>
              <a:rPr lang="en-US" sz="1200" dirty="0">
                <a:solidFill>
                  <a:srgbClr val="33405B"/>
                </a:solidFill>
                <a:latin typeface="Segoe UI" pitchFamily="34" charset="0"/>
                <a:ea typeface="Segoe UI" pitchFamily="34" charset="-122"/>
                <a:cs typeface="Segoe UI" pitchFamily="34" charset="-120"/>
              </a:rPr>
              <a:t>minimum liquidity (Vol_MA20) and volatility (ATR%)</a:t>
            </a:r>
            <a:endParaRPr lang="en-US" sz="1200" dirty="0"/>
          </a:p>
          <a:p>
            <a:pPr marL="203200" indent="-203200">
              <a:buSzPct val="100000"/>
              <a:buChar char="•"/>
            </a:pPr>
            <a:r>
              <a:rPr lang="en-US" sz="1200" b="1" dirty="0">
                <a:solidFill>
                  <a:srgbClr val="C9485B"/>
                </a:solidFill>
                <a:latin typeface="Segoe UI" pitchFamily="34" charset="0"/>
                <a:ea typeface="Segoe UI" pitchFamily="34" charset="-122"/>
                <a:cs typeface="Segoe UI" pitchFamily="34" charset="-120"/>
              </a:rPr>
              <a:t>– Overbought reject</a:t>
            </a:r>
            <a:endParaRPr lang="en-US" sz="1200" dirty="0"/>
          </a:p>
          <a:p>
            <a:pPr marL="0" lvl="1" indent="0">
              <a:buNone/>
            </a:pPr>
            <a:r>
              <a:rPr lang="en-US" sz="1200" dirty="0">
                <a:solidFill>
                  <a:srgbClr val="33405B"/>
                </a:solidFill>
                <a:latin typeface="Segoe UI" pitchFamily="34" charset="0"/>
                <a:ea typeface="Segoe UI" pitchFamily="34" charset="-122"/>
                <a:cs typeface="Segoe UI" pitchFamily="34" charset="-120"/>
              </a:rPr>
              <a:t>skip if RSI_7D &gt; 75 / 80  →  otherwise HOLD</a:t>
            </a:r>
            <a:endParaRPr lang="en-US" sz="1200" dirty="0"/>
          </a:p>
        </p:txBody>
      </p:sp>
      <p:sp>
        <p:nvSpPr>
          <p:cNvPr id="9" name="Shape 7"/>
          <p:cNvSpPr/>
          <p:nvPr/>
        </p:nvSpPr>
        <p:spPr>
          <a:xfrm>
            <a:off x="6199632" y="1417320"/>
            <a:ext cx="5440680" cy="3657600"/>
          </a:xfrm>
          <a:prstGeom prst="roundRect">
            <a:avLst>
              <a:gd name="adj" fmla="val 3000"/>
            </a:avLst>
          </a:prstGeom>
          <a:solidFill>
            <a:srgbClr val="0B1233"/>
          </a:solidFill>
          <a:ln w="12700">
            <a:solidFill>
              <a:srgbClr val="D9E1F1"/>
            </a:solidFill>
            <a:prstDash val="solid"/>
          </a:ln>
          <a:effectLst>
            <a:outerShdw blurRad="88900" dist="25400" dir="5400000" algn="bl" rotWithShape="0">
              <a:srgbClr val="5B6B92">
                <a:alpha val="18000"/>
              </a:srgbClr>
            </a:outerShdw>
          </a:effectLst>
        </p:spPr>
      </p:sp>
      <p:sp>
        <p:nvSpPr>
          <p:cNvPr id="10" name="Text 8"/>
          <p:cNvSpPr/>
          <p:nvPr/>
        </p:nvSpPr>
        <p:spPr>
          <a:xfrm>
            <a:off x="6473952" y="1618488"/>
            <a:ext cx="4892040" cy="329184"/>
          </a:xfrm>
          <a:prstGeom prst="rect">
            <a:avLst/>
          </a:prstGeom>
          <a:noFill/>
          <a:ln/>
        </p:spPr>
        <p:txBody>
          <a:bodyPr wrap="square" lIns="0" tIns="0" rIns="0" bIns="0" rtlCol="0" anchor="ctr"/>
          <a:lstStyle/>
          <a:p>
            <a:pPr marL="0" indent="0">
              <a:buNone/>
            </a:pPr>
            <a:r>
              <a:rPr lang="en-US" sz="1500" b="1" dirty="0">
                <a:solidFill>
                  <a:srgbClr val="FFB703"/>
                </a:solidFill>
                <a:latin typeface="Segoe UI Semibold" pitchFamily="34" charset="0"/>
                <a:ea typeface="Segoe UI Semibold" pitchFamily="34" charset="-122"/>
                <a:cs typeface="Segoe UI Semibold" pitchFamily="34" charset="-120"/>
              </a:rPr>
              <a:t>Risk-managed backtest engine</a:t>
            </a:r>
            <a:endParaRPr lang="en-US" sz="1500" dirty="0"/>
          </a:p>
        </p:txBody>
      </p:sp>
      <p:sp>
        <p:nvSpPr>
          <p:cNvPr id="11" name="Text 9"/>
          <p:cNvSpPr/>
          <p:nvPr/>
        </p:nvSpPr>
        <p:spPr>
          <a:xfrm>
            <a:off x="6510528" y="1984248"/>
            <a:ext cx="4892040" cy="2926080"/>
          </a:xfrm>
          <a:prstGeom prst="rect">
            <a:avLst/>
          </a:prstGeom>
          <a:noFill/>
          <a:ln/>
        </p:spPr>
        <p:txBody>
          <a:bodyPr wrap="square" lIns="0" tIns="0" rIns="0" bIns="0" rtlCol="0" anchor="t"/>
          <a:lstStyle/>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Rs. 100,000 start · max 2 concurrent positions (sweepable 2–10)</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ATR trailing stops (2–2.5× ATR) + hard loss cap: 10% RF / 8% LGBM</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Reward targets (3–4× ATR), break-even lock-in, time stop (15–30 days)</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Risk-based position sizing (LGBM: 2% risk, 12% max position)</a:t>
            </a:r>
            <a:endParaRPr lang="en-US" sz="1250" dirty="0"/>
          </a:p>
          <a:p>
            <a:pPr marL="203200" indent="-203200">
              <a:lnSpc>
                <a:spcPct val="102000"/>
              </a:lnSpc>
              <a:buSzPct val="100000"/>
              <a:buChar char="•"/>
            </a:pPr>
            <a:r>
              <a:rPr lang="en-US" sz="1250" dirty="0">
                <a:solidFill>
                  <a:srgbClr val="C8D6F4"/>
                </a:solidFill>
                <a:latin typeface="Segoe UI" pitchFamily="34" charset="0"/>
                <a:ea typeface="Segoe UI" pitchFamily="34" charset="-122"/>
                <a:cs typeface="Segoe UI" pitchFamily="34" charset="-120"/>
              </a:rPr>
              <a:t>Trade log, equity curve &amp; position-sensitivity sweep exported to CSV</a:t>
            </a:r>
            <a:endParaRPr lang="en-US" sz="1250" dirty="0"/>
          </a:p>
        </p:txBody>
      </p:sp>
      <p:sp>
        <p:nvSpPr>
          <p:cNvPr id="12" name="Shape 10"/>
          <p:cNvSpPr/>
          <p:nvPr/>
        </p:nvSpPr>
        <p:spPr>
          <a:xfrm>
            <a:off x="548640" y="5349240"/>
            <a:ext cx="1467612" cy="566928"/>
          </a:xfrm>
          <a:prstGeom prst="roundRect">
            <a:avLst>
              <a:gd name="adj" fmla="val 16129"/>
            </a:avLst>
          </a:prstGeom>
          <a:solidFill>
            <a:srgbClr val="EAEFF9"/>
          </a:solidFill>
          <a:ln w="12700">
            <a:solidFill>
              <a:srgbClr val="D9E1F1"/>
            </a:solidFill>
            <a:prstDash val="solid"/>
          </a:ln>
        </p:spPr>
      </p:sp>
      <p:sp>
        <p:nvSpPr>
          <p:cNvPr id="13" name="Text 11"/>
          <p:cNvSpPr/>
          <p:nvPr/>
        </p:nvSpPr>
        <p:spPr>
          <a:xfrm>
            <a:off x="603504" y="5349240"/>
            <a:ext cx="1357884" cy="566928"/>
          </a:xfrm>
          <a:prstGeom prst="rect">
            <a:avLst/>
          </a:prstGeom>
          <a:noFill/>
          <a:ln/>
        </p:spPr>
        <p:txBody>
          <a:bodyPr wrap="square" lIns="0" tIns="0" rIns="0" bIns="0" rtlCol="0" anchor="ctr"/>
          <a:lstStyle/>
          <a:p>
            <a:pPr marL="0" indent="0" algn="ctr">
              <a:lnSpc>
                <a:spcPct val="92000"/>
              </a:lnSpc>
              <a:buNone/>
            </a:pPr>
            <a:r>
              <a:rPr lang="en-US" sz="1050" b="1" dirty="0">
                <a:solidFill>
                  <a:srgbClr val="0B1233"/>
                </a:solidFill>
                <a:latin typeface="Segoe UI Semibold" pitchFamily="34" charset="0"/>
                <a:ea typeface="Segoe UI Semibold" pitchFamily="34" charset="-122"/>
                <a:cs typeface="Segoe UI Semibold" pitchFamily="34" charset="-120"/>
              </a:rPr>
              <a:t>ML probability</a:t>
            </a:r>
            <a:endParaRPr lang="en-US" sz="1050" dirty="0"/>
          </a:p>
        </p:txBody>
      </p:sp>
      <p:sp>
        <p:nvSpPr>
          <p:cNvPr id="14" name="Text 12"/>
          <p:cNvSpPr/>
          <p:nvPr/>
        </p:nvSpPr>
        <p:spPr>
          <a:xfrm>
            <a:off x="2071116" y="5349240"/>
            <a:ext cx="347472" cy="566928"/>
          </a:xfrm>
          <a:prstGeom prst="rect">
            <a:avLst/>
          </a:prstGeom>
          <a:noFill/>
          <a:ln/>
        </p:spPr>
        <p:txBody>
          <a:bodyPr wrap="square" lIns="0" tIns="0" rIns="0" bIns="0" rtlCol="0" anchor="ctr"/>
          <a:lstStyle/>
          <a:p>
            <a:pPr marL="0" indent="0" algn="ctr">
              <a:buNone/>
            </a:pPr>
            <a:r>
              <a:rPr lang="en-US" sz="1300" dirty="0">
                <a:solidFill>
                  <a:srgbClr val="0091C2"/>
                </a:solidFill>
                <a:latin typeface="Segoe UI" pitchFamily="34" charset="0"/>
                <a:ea typeface="Segoe UI" pitchFamily="34" charset="-122"/>
                <a:cs typeface="Segoe UI" pitchFamily="34" charset="-120"/>
              </a:rPr>
              <a:t>▶</a:t>
            </a:r>
            <a:endParaRPr lang="en-US" sz="1300" dirty="0"/>
          </a:p>
        </p:txBody>
      </p:sp>
      <p:sp>
        <p:nvSpPr>
          <p:cNvPr id="15" name="Shape 13"/>
          <p:cNvSpPr/>
          <p:nvPr/>
        </p:nvSpPr>
        <p:spPr>
          <a:xfrm>
            <a:off x="2473452" y="5349240"/>
            <a:ext cx="1467612" cy="566928"/>
          </a:xfrm>
          <a:prstGeom prst="roundRect">
            <a:avLst>
              <a:gd name="adj" fmla="val 16129"/>
            </a:avLst>
          </a:prstGeom>
          <a:solidFill>
            <a:srgbClr val="EAEFF9"/>
          </a:solidFill>
          <a:ln w="12700">
            <a:solidFill>
              <a:srgbClr val="D9E1F1"/>
            </a:solidFill>
            <a:prstDash val="solid"/>
          </a:ln>
        </p:spPr>
      </p:sp>
      <p:sp>
        <p:nvSpPr>
          <p:cNvPr id="16" name="Text 14"/>
          <p:cNvSpPr/>
          <p:nvPr/>
        </p:nvSpPr>
        <p:spPr>
          <a:xfrm>
            <a:off x="2528316" y="5349240"/>
            <a:ext cx="1357884" cy="566928"/>
          </a:xfrm>
          <a:prstGeom prst="rect">
            <a:avLst/>
          </a:prstGeom>
          <a:noFill/>
          <a:ln/>
        </p:spPr>
        <p:txBody>
          <a:bodyPr wrap="square" lIns="0" tIns="0" rIns="0" bIns="0" rtlCol="0" anchor="ctr"/>
          <a:lstStyle/>
          <a:p>
            <a:pPr marL="0" indent="0" algn="ctr">
              <a:lnSpc>
                <a:spcPct val="92000"/>
              </a:lnSpc>
              <a:buNone/>
            </a:pPr>
            <a:r>
              <a:rPr lang="en-US" sz="1050" b="1" dirty="0">
                <a:solidFill>
                  <a:srgbClr val="0B1233"/>
                </a:solidFill>
                <a:latin typeface="Segoe UI Semibold" pitchFamily="34" charset="0"/>
                <a:ea typeface="Segoe UI Semibold" pitchFamily="34" charset="-122"/>
                <a:cs typeface="Segoe UI Semibold" pitchFamily="34" charset="-120"/>
              </a:rPr>
              <a:t>Quant confirmations</a:t>
            </a:r>
            <a:endParaRPr lang="en-US" sz="1050" dirty="0"/>
          </a:p>
        </p:txBody>
      </p:sp>
      <p:sp>
        <p:nvSpPr>
          <p:cNvPr id="17" name="Text 15"/>
          <p:cNvSpPr/>
          <p:nvPr/>
        </p:nvSpPr>
        <p:spPr>
          <a:xfrm>
            <a:off x="3995928" y="5349240"/>
            <a:ext cx="347472" cy="566928"/>
          </a:xfrm>
          <a:prstGeom prst="rect">
            <a:avLst/>
          </a:prstGeom>
          <a:noFill/>
          <a:ln/>
        </p:spPr>
        <p:txBody>
          <a:bodyPr wrap="square" lIns="0" tIns="0" rIns="0" bIns="0" rtlCol="0" anchor="ctr"/>
          <a:lstStyle/>
          <a:p>
            <a:pPr marL="0" indent="0" algn="ctr">
              <a:buNone/>
            </a:pPr>
            <a:r>
              <a:rPr lang="en-US" sz="1300" dirty="0">
                <a:solidFill>
                  <a:srgbClr val="0091C2"/>
                </a:solidFill>
                <a:latin typeface="Segoe UI" pitchFamily="34" charset="0"/>
                <a:ea typeface="Segoe UI" pitchFamily="34" charset="-122"/>
                <a:cs typeface="Segoe UI" pitchFamily="34" charset="-120"/>
              </a:rPr>
              <a:t>▶</a:t>
            </a:r>
            <a:endParaRPr lang="en-US" sz="1300" dirty="0"/>
          </a:p>
        </p:txBody>
      </p:sp>
      <p:sp>
        <p:nvSpPr>
          <p:cNvPr id="18" name="Shape 16"/>
          <p:cNvSpPr/>
          <p:nvPr/>
        </p:nvSpPr>
        <p:spPr>
          <a:xfrm>
            <a:off x="4398264" y="5349240"/>
            <a:ext cx="1467612" cy="566928"/>
          </a:xfrm>
          <a:prstGeom prst="roundRect">
            <a:avLst>
              <a:gd name="adj" fmla="val 16129"/>
            </a:avLst>
          </a:prstGeom>
          <a:solidFill>
            <a:srgbClr val="EAEFF9"/>
          </a:solidFill>
          <a:ln w="12700">
            <a:solidFill>
              <a:srgbClr val="D9E1F1"/>
            </a:solidFill>
            <a:prstDash val="solid"/>
          </a:ln>
        </p:spPr>
      </p:sp>
      <p:sp>
        <p:nvSpPr>
          <p:cNvPr id="19" name="Text 17"/>
          <p:cNvSpPr/>
          <p:nvPr/>
        </p:nvSpPr>
        <p:spPr>
          <a:xfrm>
            <a:off x="4453128" y="5349240"/>
            <a:ext cx="1357884" cy="566928"/>
          </a:xfrm>
          <a:prstGeom prst="rect">
            <a:avLst/>
          </a:prstGeom>
          <a:noFill/>
          <a:ln/>
        </p:spPr>
        <p:txBody>
          <a:bodyPr wrap="square" lIns="0" tIns="0" rIns="0" bIns="0" rtlCol="0" anchor="ctr"/>
          <a:lstStyle/>
          <a:p>
            <a:pPr marL="0" indent="0" algn="ctr">
              <a:lnSpc>
                <a:spcPct val="92000"/>
              </a:lnSpc>
              <a:buNone/>
            </a:pPr>
            <a:r>
              <a:rPr lang="en-US" sz="1050" b="1" dirty="0">
                <a:solidFill>
                  <a:srgbClr val="0B1233"/>
                </a:solidFill>
                <a:latin typeface="Segoe UI Semibold" pitchFamily="34" charset="0"/>
                <a:ea typeface="Segoe UI Semibold" pitchFamily="34" charset="-122"/>
                <a:cs typeface="Segoe UI Semibold" pitchFamily="34" charset="-120"/>
              </a:rPr>
              <a:t>Regime filter</a:t>
            </a:r>
            <a:endParaRPr lang="en-US" sz="1050" dirty="0"/>
          </a:p>
        </p:txBody>
      </p:sp>
      <p:sp>
        <p:nvSpPr>
          <p:cNvPr id="20" name="Text 18"/>
          <p:cNvSpPr/>
          <p:nvPr/>
        </p:nvSpPr>
        <p:spPr>
          <a:xfrm>
            <a:off x="5920740" y="5349240"/>
            <a:ext cx="347472" cy="566928"/>
          </a:xfrm>
          <a:prstGeom prst="rect">
            <a:avLst/>
          </a:prstGeom>
          <a:noFill/>
          <a:ln/>
        </p:spPr>
        <p:txBody>
          <a:bodyPr wrap="square" lIns="0" tIns="0" rIns="0" bIns="0" rtlCol="0" anchor="ctr"/>
          <a:lstStyle/>
          <a:p>
            <a:pPr marL="0" indent="0" algn="ctr">
              <a:buNone/>
            </a:pPr>
            <a:r>
              <a:rPr lang="en-US" sz="1300" dirty="0">
                <a:solidFill>
                  <a:srgbClr val="0091C2"/>
                </a:solidFill>
                <a:latin typeface="Segoe UI" pitchFamily="34" charset="0"/>
                <a:ea typeface="Segoe UI" pitchFamily="34" charset="-122"/>
                <a:cs typeface="Segoe UI" pitchFamily="34" charset="-120"/>
              </a:rPr>
              <a:t>▶</a:t>
            </a:r>
            <a:endParaRPr lang="en-US" sz="1300" dirty="0"/>
          </a:p>
        </p:txBody>
      </p:sp>
      <p:sp>
        <p:nvSpPr>
          <p:cNvPr id="21" name="Shape 19"/>
          <p:cNvSpPr/>
          <p:nvPr/>
        </p:nvSpPr>
        <p:spPr>
          <a:xfrm>
            <a:off x="6323076" y="5349240"/>
            <a:ext cx="1467612" cy="566928"/>
          </a:xfrm>
          <a:prstGeom prst="roundRect">
            <a:avLst>
              <a:gd name="adj" fmla="val 16129"/>
            </a:avLst>
          </a:prstGeom>
          <a:solidFill>
            <a:srgbClr val="EAEFF9"/>
          </a:solidFill>
          <a:ln w="12700">
            <a:solidFill>
              <a:srgbClr val="D9E1F1"/>
            </a:solidFill>
            <a:prstDash val="solid"/>
          </a:ln>
        </p:spPr>
      </p:sp>
      <p:sp>
        <p:nvSpPr>
          <p:cNvPr id="22" name="Text 20"/>
          <p:cNvSpPr/>
          <p:nvPr/>
        </p:nvSpPr>
        <p:spPr>
          <a:xfrm>
            <a:off x="6377940" y="5349240"/>
            <a:ext cx="1357884" cy="566928"/>
          </a:xfrm>
          <a:prstGeom prst="rect">
            <a:avLst/>
          </a:prstGeom>
          <a:noFill/>
          <a:ln/>
        </p:spPr>
        <p:txBody>
          <a:bodyPr wrap="square" lIns="0" tIns="0" rIns="0" bIns="0" rtlCol="0" anchor="ctr"/>
          <a:lstStyle/>
          <a:p>
            <a:pPr marL="0" indent="0" algn="ctr">
              <a:lnSpc>
                <a:spcPct val="92000"/>
              </a:lnSpc>
              <a:buNone/>
            </a:pPr>
            <a:r>
              <a:rPr lang="en-US" sz="1050" b="1" dirty="0">
                <a:solidFill>
                  <a:srgbClr val="0B1233"/>
                </a:solidFill>
                <a:latin typeface="Segoe UI Semibold" pitchFamily="34" charset="0"/>
                <a:ea typeface="Segoe UI Semibold" pitchFamily="34" charset="-122"/>
                <a:cs typeface="Segoe UI Semibold" pitchFamily="34" charset="-120"/>
              </a:rPr>
              <a:t>BUY / STRONG BUY</a:t>
            </a:r>
            <a:endParaRPr lang="en-US" sz="1050" dirty="0"/>
          </a:p>
        </p:txBody>
      </p:sp>
      <p:sp>
        <p:nvSpPr>
          <p:cNvPr id="23" name="Text 21"/>
          <p:cNvSpPr/>
          <p:nvPr/>
        </p:nvSpPr>
        <p:spPr>
          <a:xfrm>
            <a:off x="7845552" y="5349240"/>
            <a:ext cx="347472" cy="566928"/>
          </a:xfrm>
          <a:prstGeom prst="rect">
            <a:avLst/>
          </a:prstGeom>
          <a:noFill/>
          <a:ln/>
        </p:spPr>
        <p:txBody>
          <a:bodyPr wrap="square" lIns="0" tIns="0" rIns="0" bIns="0" rtlCol="0" anchor="ctr"/>
          <a:lstStyle/>
          <a:p>
            <a:pPr marL="0" indent="0" algn="ctr">
              <a:buNone/>
            </a:pPr>
            <a:r>
              <a:rPr lang="en-US" sz="1300" dirty="0">
                <a:solidFill>
                  <a:srgbClr val="0091C2"/>
                </a:solidFill>
                <a:latin typeface="Segoe UI" pitchFamily="34" charset="0"/>
                <a:ea typeface="Segoe UI" pitchFamily="34" charset="-122"/>
                <a:cs typeface="Segoe UI" pitchFamily="34" charset="-120"/>
              </a:rPr>
              <a:t>▶</a:t>
            </a:r>
            <a:endParaRPr lang="en-US" sz="1300" dirty="0"/>
          </a:p>
        </p:txBody>
      </p:sp>
      <p:sp>
        <p:nvSpPr>
          <p:cNvPr id="24" name="Shape 22"/>
          <p:cNvSpPr/>
          <p:nvPr/>
        </p:nvSpPr>
        <p:spPr>
          <a:xfrm>
            <a:off x="8247888" y="5349240"/>
            <a:ext cx="1467612" cy="566928"/>
          </a:xfrm>
          <a:prstGeom prst="roundRect">
            <a:avLst>
              <a:gd name="adj" fmla="val 16129"/>
            </a:avLst>
          </a:prstGeom>
          <a:solidFill>
            <a:srgbClr val="EAEFF9"/>
          </a:solidFill>
          <a:ln w="12700">
            <a:solidFill>
              <a:srgbClr val="D9E1F1"/>
            </a:solidFill>
            <a:prstDash val="solid"/>
          </a:ln>
        </p:spPr>
      </p:sp>
      <p:sp>
        <p:nvSpPr>
          <p:cNvPr id="25" name="Text 23"/>
          <p:cNvSpPr/>
          <p:nvPr/>
        </p:nvSpPr>
        <p:spPr>
          <a:xfrm>
            <a:off x="8302752" y="5349240"/>
            <a:ext cx="1357884" cy="566928"/>
          </a:xfrm>
          <a:prstGeom prst="rect">
            <a:avLst/>
          </a:prstGeom>
          <a:noFill/>
          <a:ln/>
        </p:spPr>
        <p:txBody>
          <a:bodyPr wrap="square" lIns="0" tIns="0" rIns="0" bIns="0" rtlCol="0" anchor="ctr"/>
          <a:lstStyle/>
          <a:p>
            <a:pPr marL="0" indent="0" algn="ctr">
              <a:lnSpc>
                <a:spcPct val="92000"/>
              </a:lnSpc>
              <a:buNone/>
            </a:pPr>
            <a:r>
              <a:rPr lang="en-US" sz="1050" b="1" dirty="0">
                <a:solidFill>
                  <a:srgbClr val="0B1233"/>
                </a:solidFill>
                <a:latin typeface="Segoe UI Semibold" pitchFamily="34" charset="0"/>
                <a:ea typeface="Segoe UI Semibold" pitchFamily="34" charset="-122"/>
                <a:cs typeface="Segoe UI Semibold" pitchFamily="34" charset="-120"/>
              </a:rPr>
              <a:t>Position sizing</a:t>
            </a:r>
            <a:endParaRPr lang="en-US" sz="1050" dirty="0"/>
          </a:p>
        </p:txBody>
      </p:sp>
      <p:sp>
        <p:nvSpPr>
          <p:cNvPr id="26" name="Text 24"/>
          <p:cNvSpPr/>
          <p:nvPr/>
        </p:nvSpPr>
        <p:spPr>
          <a:xfrm>
            <a:off x="9770364" y="5349240"/>
            <a:ext cx="347472" cy="566928"/>
          </a:xfrm>
          <a:prstGeom prst="rect">
            <a:avLst/>
          </a:prstGeom>
          <a:noFill/>
          <a:ln/>
        </p:spPr>
        <p:txBody>
          <a:bodyPr wrap="square" lIns="0" tIns="0" rIns="0" bIns="0" rtlCol="0" anchor="ctr"/>
          <a:lstStyle/>
          <a:p>
            <a:pPr marL="0" indent="0" algn="ctr">
              <a:buNone/>
            </a:pPr>
            <a:r>
              <a:rPr lang="en-US" sz="1300" dirty="0">
                <a:solidFill>
                  <a:srgbClr val="0091C2"/>
                </a:solidFill>
                <a:latin typeface="Segoe UI" pitchFamily="34" charset="0"/>
                <a:ea typeface="Segoe UI" pitchFamily="34" charset="-122"/>
                <a:cs typeface="Segoe UI" pitchFamily="34" charset="-120"/>
              </a:rPr>
              <a:t>▶</a:t>
            </a:r>
            <a:endParaRPr lang="en-US" sz="1300" dirty="0"/>
          </a:p>
        </p:txBody>
      </p:sp>
      <p:sp>
        <p:nvSpPr>
          <p:cNvPr id="27" name="Shape 25"/>
          <p:cNvSpPr/>
          <p:nvPr/>
        </p:nvSpPr>
        <p:spPr>
          <a:xfrm>
            <a:off x="10172700" y="5349240"/>
            <a:ext cx="1467612" cy="566928"/>
          </a:xfrm>
          <a:prstGeom prst="roundRect">
            <a:avLst>
              <a:gd name="adj" fmla="val 16129"/>
            </a:avLst>
          </a:prstGeom>
          <a:solidFill>
            <a:srgbClr val="EAEFF9"/>
          </a:solidFill>
          <a:ln w="12700">
            <a:solidFill>
              <a:srgbClr val="D9E1F1"/>
            </a:solidFill>
            <a:prstDash val="solid"/>
          </a:ln>
        </p:spPr>
      </p:sp>
      <p:sp>
        <p:nvSpPr>
          <p:cNvPr id="28" name="Text 26"/>
          <p:cNvSpPr/>
          <p:nvPr/>
        </p:nvSpPr>
        <p:spPr>
          <a:xfrm>
            <a:off x="10227564" y="5349240"/>
            <a:ext cx="1357884" cy="566928"/>
          </a:xfrm>
          <a:prstGeom prst="rect">
            <a:avLst/>
          </a:prstGeom>
          <a:noFill/>
          <a:ln/>
        </p:spPr>
        <p:txBody>
          <a:bodyPr wrap="square" lIns="0" tIns="0" rIns="0" bIns="0" rtlCol="0" anchor="ctr"/>
          <a:lstStyle/>
          <a:p>
            <a:pPr marL="0" indent="0" algn="ctr">
              <a:lnSpc>
                <a:spcPct val="92000"/>
              </a:lnSpc>
              <a:buNone/>
            </a:pPr>
            <a:r>
              <a:rPr lang="en-US" sz="1050" b="1" dirty="0">
                <a:solidFill>
                  <a:srgbClr val="0B1233"/>
                </a:solidFill>
                <a:latin typeface="Segoe UI Semibold" pitchFamily="34" charset="0"/>
                <a:ea typeface="Segoe UI Semibold" pitchFamily="34" charset="-122"/>
                <a:cs typeface="Segoe UI Semibold" pitchFamily="34" charset="-120"/>
              </a:rPr>
              <a:t>Stops &amp; targets</a:t>
            </a:r>
            <a:endParaRPr lang="en-US" sz="1050" dirty="0"/>
          </a:p>
        </p:txBody>
      </p:sp>
      <p:sp>
        <p:nvSpPr>
          <p:cNvPr id="29" name="Text 27"/>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30" name="Text 28"/>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09</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BACKTEST RESULTS</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Out-of-sample performance (last 12 months)</a:t>
            </a:r>
            <a:endParaRPr lang="en-US" sz="2700" dirty="0"/>
          </a:p>
        </p:txBody>
      </p:sp>
      <p:sp>
        <p:nvSpPr>
          <p:cNvPr id="6" name="Shape 4"/>
          <p:cNvSpPr/>
          <p:nvPr/>
        </p:nvSpPr>
        <p:spPr>
          <a:xfrm>
            <a:off x="548640" y="1371600"/>
            <a:ext cx="2670048" cy="950976"/>
          </a:xfrm>
          <a:prstGeom prst="roundRect">
            <a:avLst>
              <a:gd name="adj" fmla="val 11538"/>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7" name="Shape 5"/>
          <p:cNvSpPr/>
          <p:nvPr/>
        </p:nvSpPr>
        <p:spPr>
          <a:xfrm>
            <a:off x="548640" y="1536192"/>
            <a:ext cx="54864" cy="621792"/>
          </a:xfrm>
          <a:prstGeom prst="rect">
            <a:avLst/>
          </a:prstGeom>
          <a:solidFill>
            <a:srgbClr val="0091C2"/>
          </a:solidFill>
          <a:ln w="12700">
            <a:solidFill>
              <a:srgbClr val="333333"/>
            </a:solidFill>
            <a:prstDash val="solid"/>
          </a:ln>
        </p:spPr>
      </p:sp>
      <p:sp>
        <p:nvSpPr>
          <p:cNvPr id="8" name="Text 6"/>
          <p:cNvSpPr/>
          <p:nvPr/>
        </p:nvSpPr>
        <p:spPr>
          <a:xfrm>
            <a:off x="749808" y="1481328"/>
            <a:ext cx="2340864" cy="475488"/>
          </a:xfrm>
          <a:prstGeom prst="rect">
            <a:avLst/>
          </a:prstGeom>
          <a:noFill/>
          <a:ln/>
        </p:spPr>
        <p:txBody>
          <a:bodyPr wrap="square" lIns="0" tIns="0" rIns="0" bIns="0" rtlCol="0" anchor="ctr"/>
          <a:lstStyle/>
          <a:p>
            <a:pPr marL="0" indent="0">
              <a:buNone/>
            </a:pPr>
            <a:r>
              <a:rPr lang="en-US" sz="2100" b="1" dirty="0">
                <a:solidFill>
                  <a:srgbClr val="0B1233"/>
                </a:solidFill>
                <a:latin typeface="Segoe UI Black" pitchFamily="34" charset="0"/>
                <a:ea typeface="Segoe UI Black" pitchFamily="34" charset="-122"/>
                <a:cs typeface="Segoe UI Black" pitchFamily="34" charset="-120"/>
              </a:rPr>
              <a:t>+139.3%</a:t>
            </a:r>
            <a:endParaRPr lang="en-US" sz="2100" dirty="0"/>
          </a:p>
        </p:txBody>
      </p:sp>
      <p:sp>
        <p:nvSpPr>
          <p:cNvPr id="9" name="Text 7"/>
          <p:cNvSpPr/>
          <p:nvPr/>
        </p:nvSpPr>
        <p:spPr>
          <a:xfrm>
            <a:off x="749808" y="1956816"/>
            <a:ext cx="2340864" cy="310896"/>
          </a:xfrm>
          <a:prstGeom prst="rect">
            <a:avLst/>
          </a:prstGeom>
          <a:noFill/>
          <a:ln/>
        </p:spPr>
        <p:txBody>
          <a:bodyPr wrap="square" lIns="0" tIns="0" rIns="0" bIns="0" rtlCol="0" anchor="ctr"/>
          <a:lstStyle/>
          <a:p>
            <a:pPr marL="0" indent="0">
              <a:buNone/>
            </a:pPr>
            <a:r>
              <a:rPr lang="en-US" sz="1000" dirty="0">
                <a:solidFill>
                  <a:srgbClr val="6B7796"/>
                </a:solidFill>
                <a:latin typeface="Segoe UI" pitchFamily="34" charset="0"/>
                <a:ea typeface="Segoe UI" pitchFamily="34" charset="-122"/>
                <a:cs typeface="Segoe UI" pitchFamily="34" charset="-120"/>
              </a:rPr>
              <a:t>Random Forest portfolio ROI</a:t>
            </a:r>
            <a:endParaRPr lang="en-US" sz="1000" dirty="0"/>
          </a:p>
        </p:txBody>
      </p:sp>
      <p:sp>
        <p:nvSpPr>
          <p:cNvPr id="10" name="Shape 8"/>
          <p:cNvSpPr/>
          <p:nvPr/>
        </p:nvSpPr>
        <p:spPr>
          <a:xfrm>
            <a:off x="3410712" y="1371600"/>
            <a:ext cx="2670048" cy="950976"/>
          </a:xfrm>
          <a:prstGeom prst="roundRect">
            <a:avLst>
              <a:gd name="adj" fmla="val 11538"/>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1" name="Shape 9"/>
          <p:cNvSpPr/>
          <p:nvPr/>
        </p:nvSpPr>
        <p:spPr>
          <a:xfrm>
            <a:off x="3410712" y="1536192"/>
            <a:ext cx="54864" cy="621792"/>
          </a:xfrm>
          <a:prstGeom prst="rect">
            <a:avLst/>
          </a:prstGeom>
          <a:solidFill>
            <a:srgbClr val="12936A"/>
          </a:solidFill>
          <a:ln w="12700">
            <a:solidFill>
              <a:srgbClr val="333333"/>
            </a:solidFill>
            <a:prstDash val="solid"/>
          </a:ln>
        </p:spPr>
      </p:sp>
      <p:sp>
        <p:nvSpPr>
          <p:cNvPr id="12" name="Text 10"/>
          <p:cNvSpPr/>
          <p:nvPr/>
        </p:nvSpPr>
        <p:spPr>
          <a:xfrm>
            <a:off x="3611880" y="1481328"/>
            <a:ext cx="2340864" cy="475488"/>
          </a:xfrm>
          <a:prstGeom prst="rect">
            <a:avLst/>
          </a:prstGeom>
          <a:noFill/>
          <a:ln/>
        </p:spPr>
        <p:txBody>
          <a:bodyPr wrap="square" lIns="0" tIns="0" rIns="0" bIns="0" rtlCol="0" anchor="ctr"/>
          <a:lstStyle/>
          <a:p>
            <a:pPr marL="0" indent="0">
              <a:buNone/>
            </a:pPr>
            <a:r>
              <a:rPr lang="en-US" sz="2100" b="1" dirty="0">
                <a:solidFill>
                  <a:srgbClr val="0B1233"/>
                </a:solidFill>
                <a:latin typeface="Segoe UI Black" pitchFamily="34" charset="0"/>
                <a:ea typeface="Segoe UI Black" pitchFamily="34" charset="-122"/>
                <a:cs typeface="Segoe UI Black" pitchFamily="34" charset="-120"/>
              </a:rPr>
              <a:t>Rs. 239,322</a:t>
            </a:r>
            <a:endParaRPr lang="en-US" sz="2100" dirty="0"/>
          </a:p>
        </p:txBody>
      </p:sp>
      <p:sp>
        <p:nvSpPr>
          <p:cNvPr id="13" name="Text 11"/>
          <p:cNvSpPr/>
          <p:nvPr/>
        </p:nvSpPr>
        <p:spPr>
          <a:xfrm>
            <a:off x="3611880" y="1956816"/>
            <a:ext cx="2340864" cy="310896"/>
          </a:xfrm>
          <a:prstGeom prst="rect">
            <a:avLst/>
          </a:prstGeom>
          <a:noFill/>
          <a:ln/>
        </p:spPr>
        <p:txBody>
          <a:bodyPr wrap="square" lIns="0" tIns="0" rIns="0" bIns="0" rtlCol="0" anchor="ctr"/>
          <a:lstStyle/>
          <a:p>
            <a:pPr marL="0" indent="0">
              <a:buNone/>
            </a:pPr>
            <a:r>
              <a:rPr lang="en-US" sz="1000" dirty="0">
                <a:solidFill>
                  <a:srgbClr val="6B7796"/>
                </a:solidFill>
                <a:latin typeface="Segoe UI" pitchFamily="34" charset="0"/>
                <a:ea typeface="Segoe UI" pitchFamily="34" charset="-122"/>
                <a:cs typeface="Segoe UI" pitchFamily="34" charset="-120"/>
              </a:rPr>
              <a:t>RF final equity (from Rs. 100k)</a:t>
            </a:r>
            <a:endParaRPr lang="en-US" sz="1000" dirty="0"/>
          </a:p>
        </p:txBody>
      </p:sp>
      <p:sp>
        <p:nvSpPr>
          <p:cNvPr id="14" name="Shape 12"/>
          <p:cNvSpPr/>
          <p:nvPr/>
        </p:nvSpPr>
        <p:spPr>
          <a:xfrm>
            <a:off x="6272784" y="1371600"/>
            <a:ext cx="2670048" cy="950976"/>
          </a:xfrm>
          <a:prstGeom prst="roundRect">
            <a:avLst>
              <a:gd name="adj" fmla="val 11538"/>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5" name="Shape 13"/>
          <p:cNvSpPr/>
          <p:nvPr/>
        </p:nvSpPr>
        <p:spPr>
          <a:xfrm>
            <a:off x="6272784" y="1536192"/>
            <a:ext cx="54864" cy="621792"/>
          </a:xfrm>
          <a:prstGeom prst="rect">
            <a:avLst/>
          </a:prstGeom>
          <a:solidFill>
            <a:srgbClr val="D98A00"/>
          </a:solidFill>
          <a:ln w="12700">
            <a:solidFill>
              <a:srgbClr val="333333"/>
            </a:solidFill>
            <a:prstDash val="solid"/>
          </a:ln>
        </p:spPr>
      </p:sp>
      <p:sp>
        <p:nvSpPr>
          <p:cNvPr id="16" name="Text 14"/>
          <p:cNvSpPr/>
          <p:nvPr/>
        </p:nvSpPr>
        <p:spPr>
          <a:xfrm>
            <a:off x="6473952" y="1481328"/>
            <a:ext cx="2340864" cy="475488"/>
          </a:xfrm>
          <a:prstGeom prst="rect">
            <a:avLst/>
          </a:prstGeom>
          <a:noFill/>
          <a:ln/>
        </p:spPr>
        <p:txBody>
          <a:bodyPr wrap="square" lIns="0" tIns="0" rIns="0" bIns="0" rtlCol="0" anchor="ctr"/>
          <a:lstStyle/>
          <a:p>
            <a:pPr marL="0" indent="0">
              <a:buNone/>
            </a:pPr>
            <a:r>
              <a:rPr lang="en-US" sz="2100" b="1" dirty="0">
                <a:solidFill>
                  <a:srgbClr val="0B1233"/>
                </a:solidFill>
                <a:latin typeface="Segoe UI Black" pitchFamily="34" charset="0"/>
                <a:ea typeface="Segoe UI Black" pitchFamily="34" charset="-122"/>
                <a:cs typeface="Segoe UI Black" pitchFamily="34" charset="-120"/>
              </a:rPr>
              <a:t>+14.8%</a:t>
            </a:r>
            <a:endParaRPr lang="en-US" sz="2100" dirty="0"/>
          </a:p>
        </p:txBody>
      </p:sp>
      <p:sp>
        <p:nvSpPr>
          <p:cNvPr id="17" name="Text 15"/>
          <p:cNvSpPr/>
          <p:nvPr/>
        </p:nvSpPr>
        <p:spPr>
          <a:xfrm>
            <a:off x="6473952" y="1956816"/>
            <a:ext cx="2340864" cy="310896"/>
          </a:xfrm>
          <a:prstGeom prst="rect">
            <a:avLst/>
          </a:prstGeom>
          <a:noFill/>
          <a:ln/>
        </p:spPr>
        <p:txBody>
          <a:bodyPr wrap="square" lIns="0" tIns="0" rIns="0" bIns="0" rtlCol="0" anchor="ctr"/>
          <a:lstStyle/>
          <a:p>
            <a:pPr marL="0" indent="0">
              <a:buNone/>
            </a:pPr>
            <a:r>
              <a:rPr lang="en-US" sz="1000" dirty="0">
                <a:solidFill>
                  <a:srgbClr val="6B7796"/>
                </a:solidFill>
                <a:latin typeface="Segoe UI" pitchFamily="34" charset="0"/>
                <a:ea typeface="Segoe UI" pitchFamily="34" charset="-122"/>
                <a:cs typeface="Segoe UI" pitchFamily="34" charset="-120"/>
              </a:rPr>
              <a:t>LightGBM portfolio ROI</a:t>
            </a:r>
            <a:endParaRPr lang="en-US" sz="1000" dirty="0"/>
          </a:p>
        </p:txBody>
      </p:sp>
      <p:sp>
        <p:nvSpPr>
          <p:cNvPr id="18" name="Shape 16"/>
          <p:cNvSpPr/>
          <p:nvPr/>
        </p:nvSpPr>
        <p:spPr>
          <a:xfrm>
            <a:off x="9134856" y="1371600"/>
            <a:ext cx="2670048" cy="950976"/>
          </a:xfrm>
          <a:prstGeom prst="roundRect">
            <a:avLst>
              <a:gd name="adj" fmla="val 11538"/>
            </a:avLst>
          </a:prstGeom>
          <a:solidFill>
            <a:srgbClr val="F5F7FC"/>
          </a:solidFill>
          <a:ln w="12700">
            <a:solidFill>
              <a:srgbClr val="D9E1F1"/>
            </a:solidFill>
            <a:prstDash val="solid"/>
          </a:ln>
          <a:effectLst>
            <a:outerShdw blurRad="88900" dist="25400" dir="5400000" algn="bl" rotWithShape="0">
              <a:srgbClr val="5B6B92">
                <a:alpha val="18000"/>
              </a:srgbClr>
            </a:outerShdw>
          </a:effectLst>
        </p:spPr>
      </p:sp>
      <p:sp>
        <p:nvSpPr>
          <p:cNvPr id="19" name="Shape 17"/>
          <p:cNvSpPr/>
          <p:nvPr/>
        </p:nvSpPr>
        <p:spPr>
          <a:xfrm>
            <a:off x="9134856" y="1536192"/>
            <a:ext cx="54864" cy="621792"/>
          </a:xfrm>
          <a:prstGeom prst="rect">
            <a:avLst/>
          </a:prstGeom>
          <a:solidFill>
            <a:srgbClr val="6A36DE"/>
          </a:solidFill>
          <a:ln w="12700">
            <a:solidFill>
              <a:srgbClr val="333333"/>
            </a:solidFill>
            <a:prstDash val="solid"/>
          </a:ln>
        </p:spPr>
      </p:sp>
      <p:sp>
        <p:nvSpPr>
          <p:cNvPr id="20" name="Text 18"/>
          <p:cNvSpPr/>
          <p:nvPr/>
        </p:nvSpPr>
        <p:spPr>
          <a:xfrm>
            <a:off x="9336024" y="1481328"/>
            <a:ext cx="2340864" cy="475488"/>
          </a:xfrm>
          <a:prstGeom prst="rect">
            <a:avLst/>
          </a:prstGeom>
          <a:noFill/>
          <a:ln/>
        </p:spPr>
        <p:txBody>
          <a:bodyPr wrap="square" lIns="0" tIns="0" rIns="0" bIns="0" rtlCol="0" anchor="ctr"/>
          <a:lstStyle/>
          <a:p>
            <a:pPr marL="0" indent="0">
              <a:buNone/>
            </a:pPr>
            <a:r>
              <a:rPr lang="en-US" sz="2100" b="1" dirty="0">
                <a:solidFill>
                  <a:srgbClr val="0B1233"/>
                </a:solidFill>
                <a:latin typeface="Segoe UI Black" pitchFamily="34" charset="0"/>
                <a:ea typeface="Segoe UI Black" pitchFamily="34" charset="-122"/>
                <a:cs typeface="Segoe UI Black" pitchFamily="34" charset="-120"/>
              </a:rPr>
              <a:t>90</a:t>
            </a:r>
            <a:endParaRPr lang="en-US" sz="2100" dirty="0"/>
          </a:p>
        </p:txBody>
      </p:sp>
      <p:sp>
        <p:nvSpPr>
          <p:cNvPr id="21" name="Text 19"/>
          <p:cNvSpPr/>
          <p:nvPr/>
        </p:nvSpPr>
        <p:spPr>
          <a:xfrm>
            <a:off x="9336024" y="1956816"/>
            <a:ext cx="2340864" cy="310896"/>
          </a:xfrm>
          <a:prstGeom prst="rect">
            <a:avLst/>
          </a:prstGeom>
          <a:noFill/>
          <a:ln/>
        </p:spPr>
        <p:txBody>
          <a:bodyPr wrap="square" lIns="0" tIns="0" rIns="0" bIns="0" rtlCol="0" anchor="ctr"/>
          <a:lstStyle/>
          <a:p>
            <a:pPr marL="0" indent="0">
              <a:buNone/>
            </a:pPr>
            <a:r>
              <a:rPr lang="en-US" sz="1000" dirty="0">
                <a:solidFill>
                  <a:srgbClr val="6B7796"/>
                </a:solidFill>
                <a:latin typeface="Segoe UI" pitchFamily="34" charset="0"/>
                <a:ea typeface="Segoe UI" pitchFamily="34" charset="-122"/>
                <a:cs typeface="Segoe UI" pitchFamily="34" charset="-120"/>
              </a:rPr>
              <a:t>Trades executed (RF 39 · LGBM 51)</a:t>
            </a:r>
            <a:endParaRPr lang="en-US" sz="1000" dirty="0"/>
          </a:p>
        </p:txBody>
      </p:sp>
      <p:sp>
        <p:nvSpPr>
          <p:cNvPr id="22" name="Text 20"/>
          <p:cNvSpPr/>
          <p:nvPr/>
        </p:nvSpPr>
        <p:spPr>
          <a:xfrm>
            <a:off x="548640" y="2514600"/>
            <a:ext cx="5532120" cy="310896"/>
          </a:xfrm>
          <a:prstGeom prst="rect">
            <a:avLst/>
          </a:prstGeom>
          <a:noFill/>
          <a:ln/>
        </p:spPr>
        <p:txBody>
          <a:bodyPr wrap="square" lIns="0" tIns="0" rIns="0" bIns="0" rtlCol="0" anchor="ctr"/>
          <a:lstStyle/>
          <a:p>
            <a:pPr marL="0" indent="0">
              <a:buNone/>
            </a:pPr>
            <a:r>
              <a:rPr lang="en-US" sz="1500" b="1" dirty="0">
                <a:solidFill>
                  <a:srgbClr val="0B1233"/>
                </a:solidFill>
                <a:latin typeface="Segoe UI Semibold" pitchFamily="34" charset="0"/>
                <a:ea typeface="Segoe UI Semibold" pitchFamily="34" charset="-122"/>
                <a:cs typeface="Segoe UI Semibold" pitchFamily="34" charset="-120"/>
              </a:rPr>
              <a:t>Random Forest vs LightGBM</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871216"/>
          <a:ext cx="5532120" cy="3346704"/>
        </p:xfrm>
        <a:graphic>
          <a:graphicData uri="http://schemas.openxmlformats.org/drawingml/2006/table">
            <a:tbl>
              <a:tblPr/>
              <a:tblGrid>
                <a:gridCol w="2057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20624">
                <a:tc>
                  <a:txBody>
                    <a:bodyPr/>
                    <a:lstStyle/>
                    <a:p>
                      <a:pPr marL="0" indent="0" algn="l">
                        <a:buNone/>
                      </a:pPr>
                      <a:r>
                        <a:rPr lang="en-US" sz="1150" b="1" dirty="0">
                          <a:solidFill>
                            <a:srgbClr val="FFFFFF"/>
                          </a:solidFill>
                          <a:latin typeface="Segoe UI Semibold" pitchFamily="34" charset="0"/>
                          <a:ea typeface="Segoe UI Semibold" pitchFamily="34" charset="-122"/>
                          <a:cs typeface="Segoe UI Semibold" pitchFamily="34" charset="-120"/>
                        </a:rPr>
                        <a:t>Metric</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B1233"/>
                    </a:solidFill>
                  </a:tcPr>
                </a:tc>
                <a:tc>
                  <a:txBody>
                    <a:bodyPr/>
                    <a:lstStyle/>
                    <a:p>
                      <a:pPr marL="0" indent="0" algn="ctr">
                        <a:buNone/>
                      </a:pPr>
                      <a:r>
                        <a:rPr lang="en-US" sz="1150" b="1" dirty="0">
                          <a:solidFill>
                            <a:srgbClr val="FFFFFF"/>
                          </a:solidFill>
                          <a:latin typeface="Segoe UI Semibold" pitchFamily="34" charset="0"/>
                          <a:ea typeface="Segoe UI Semibold" pitchFamily="34" charset="-122"/>
                          <a:cs typeface="Segoe UI Semibold" pitchFamily="34" charset="-120"/>
                        </a:rPr>
                        <a:t>Random Forest</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0091C2"/>
                    </a:solidFill>
                  </a:tcPr>
                </a:tc>
                <a:tc>
                  <a:txBody>
                    <a:bodyPr/>
                    <a:lstStyle/>
                    <a:p>
                      <a:pPr marL="0" indent="0" algn="ctr">
                        <a:buNone/>
                      </a:pPr>
                      <a:r>
                        <a:rPr lang="en-US" sz="1150" b="1" dirty="0">
                          <a:solidFill>
                            <a:srgbClr val="FFFFFF"/>
                          </a:solidFill>
                          <a:latin typeface="Segoe UI Semibold" pitchFamily="34" charset="0"/>
                          <a:ea typeface="Segoe UI Semibold" pitchFamily="34" charset="-122"/>
                          <a:cs typeface="Segoe UI Semibold" pitchFamily="34" charset="-120"/>
                        </a:rPr>
                        <a:t>LightGBM</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D98A00"/>
                    </a:solidFill>
                  </a:tcPr>
                </a:tc>
                <a:extLst>
                  <a:ext uri="{0D108BD9-81ED-4DB2-BD59-A6C34878D82A}">
                    <a16:rowId xmlns:a16="http://schemas.microsoft.com/office/drawing/2014/main" val="10000"/>
                  </a:ext>
                </a:extLst>
              </a:tr>
              <a:tr h="41148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Final equity</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Rs. 239,322</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Rs. 114,829</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Net profit</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Rs. 139,322</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Rs. 14,829</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Portfolio ROI</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+139.3%</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+14.8%</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Trades</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39</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51</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Win rate</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46.2%</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43.1%</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Avg trade ROI</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+5.3%</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+1.9%</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150" b="1" dirty="0">
                          <a:solidFill>
                            <a:srgbClr val="0B1233"/>
                          </a:solidFill>
                          <a:latin typeface="Segoe UI Semibold" pitchFamily="34" charset="0"/>
                          <a:ea typeface="Segoe UI Semibold" pitchFamily="34" charset="-122"/>
                          <a:cs typeface="Segoe UI Semibold" pitchFamily="34" charset="-120"/>
                        </a:rPr>
                        <a:t>Best / worst trade</a:t>
                      </a:r>
                      <a:endParaRPr lang="en-US" sz="1150" dirty="0">
                        <a:latin typeface="Segoe UI Semibold" charset="0"/>
                        <a:ea typeface="Segoe UI Semibold" charset="0"/>
                        <a:cs typeface="Segoe UI Semibold"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+48.2% / -18.2%</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05B"/>
                          </a:solidFill>
                          <a:latin typeface="Segoe UI" pitchFamily="34" charset="0"/>
                          <a:ea typeface="Segoe UI" pitchFamily="34" charset="-122"/>
                          <a:cs typeface="Segoe UI" pitchFamily="34" charset="-120"/>
                        </a:rPr>
                        <a:t>+46.4% / -10.0%</a:t>
                      </a:r>
                      <a:endParaRPr lang="en-US" sz="1150" dirty="0">
                        <a:latin typeface="Segoe UI" charset="0"/>
                        <a:ea typeface="Segoe UI" charset="0"/>
                        <a:cs typeface="Segoe UI" charset="0"/>
                      </a:endParaRPr>
                    </a:p>
                  </a:txBody>
                  <a:tcPr anchor="ctr">
                    <a:lnL w="9525" cap="flat" cmpd="sng" algn="ctr">
                      <a:solidFill>
                        <a:srgbClr val="D9E1F1"/>
                      </a:solidFill>
                      <a:prstDash val="solid"/>
                      <a:round/>
                      <a:headEnd type="none" w="med" len="med"/>
                      <a:tailEnd type="none" w="med" len="med"/>
                    </a:lnL>
                    <a:lnR w="9525" cap="flat" cmpd="sng" algn="ctr">
                      <a:solidFill>
                        <a:srgbClr val="D9E1F1"/>
                      </a:solidFill>
                      <a:prstDash val="solid"/>
                      <a:round/>
                      <a:headEnd type="none" w="med" len="med"/>
                      <a:tailEnd type="none" w="med" len="med"/>
                    </a:lnR>
                    <a:lnT w="9525" cap="flat" cmpd="sng" algn="ctr">
                      <a:solidFill>
                        <a:srgbClr val="D9E1F1"/>
                      </a:solidFill>
                      <a:prstDash val="solid"/>
                      <a:round/>
                      <a:headEnd type="none" w="med" len="med"/>
                      <a:tailEnd type="none" w="med" len="med"/>
                    </a:lnT>
                    <a:lnB w="9525" cap="flat" cmpd="sng" algn="ctr">
                      <a:solidFill>
                        <a:srgbClr val="D9E1F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24" name="Chart 0"/>
          <p:cNvGraphicFramePr/>
          <p:nvPr/>
        </p:nvGraphicFramePr>
        <p:xfrm>
          <a:off x="6327648" y="2743200"/>
          <a:ext cx="53035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1"/>
          <p:cNvSpPr/>
          <p:nvPr/>
        </p:nvSpPr>
        <p:spPr>
          <a:xfrm>
            <a:off x="6327648" y="5120640"/>
            <a:ext cx="5303520" cy="1143000"/>
          </a:xfrm>
          <a:prstGeom prst="roundRect">
            <a:avLst>
              <a:gd name="adj" fmla="val 9600"/>
            </a:avLst>
          </a:prstGeom>
          <a:solidFill>
            <a:srgbClr val="F5F7FC"/>
          </a:solidFill>
          <a:ln w="12700">
            <a:solidFill>
              <a:srgbClr val="D9E1F1"/>
            </a:solidFill>
            <a:prstDash val="solid"/>
          </a:ln>
        </p:spPr>
      </p:sp>
      <p:sp>
        <p:nvSpPr>
          <p:cNvPr id="26" name="Text 22"/>
          <p:cNvSpPr/>
          <p:nvPr/>
        </p:nvSpPr>
        <p:spPr>
          <a:xfrm>
            <a:off x="6547104" y="5230368"/>
            <a:ext cx="4864608" cy="960120"/>
          </a:xfrm>
          <a:prstGeom prst="rect">
            <a:avLst/>
          </a:prstGeom>
          <a:noFill/>
          <a:ln/>
        </p:spPr>
        <p:txBody>
          <a:bodyPr wrap="square" lIns="0" tIns="0" rIns="0" bIns="0" rtlCol="0" anchor="t"/>
          <a:lstStyle/>
          <a:p>
            <a:pPr marL="0" indent="0">
              <a:lnSpc>
                <a:spcPct val="100000"/>
              </a:lnSpc>
              <a:buNone/>
            </a:pPr>
            <a:r>
              <a:rPr lang="en-US" sz="1100" b="1" dirty="0">
                <a:solidFill>
                  <a:srgbClr val="0B1233"/>
                </a:solidFill>
                <a:latin typeface="Segoe UI" pitchFamily="34" charset="0"/>
                <a:ea typeface="Segoe UI" pitchFamily="34" charset="-122"/>
                <a:cs typeface="Segoe UI" pitchFamily="34" charset="-120"/>
              </a:rPr>
              <a:t>Sensitivity:  </a:t>
            </a:r>
            <a:r>
              <a:rPr lang="en-US" sz="1100" dirty="0">
                <a:solidFill>
                  <a:srgbClr val="33405B"/>
                </a:solidFill>
                <a:latin typeface="Segoe UI" pitchFamily="34" charset="0"/>
                <a:ea typeface="Segoe UI" pitchFamily="34" charset="-122"/>
                <a:cs typeface="Segoe UI" pitchFamily="34" charset="-120"/>
              </a:rPr>
              <a:t>RF peaks near +144% ROI at 3 positions; LightGBM keeps improving with more slots (up to ≈ +83% at 9).</a:t>
            </a:r>
            <a:endParaRPr lang="en-US" sz="1100" dirty="0"/>
          </a:p>
          <a:p>
            <a:pPr marL="0" indent="0">
              <a:lnSpc>
                <a:spcPct val="100000"/>
              </a:lnSpc>
              <a:buNone/>
            </a:pPr>
            <a:r>
              <a:rPr lang="en-US" sz="1100" b="1" dirty="0">
                <a:solidFill>
                  <a:srgbClr val="C9485B"/>
                </a:solidFill>
                <a:latin typeface="Segoe UI" pitchFamily="34" charset="0"/>
                <a:ea typeface="Segoe UI" pitchFamily="34" charset="-122"/>
                <a:cs typeface="Segoe UI" pitchFamily="34" charset="-120"/>
              </a:rPr>
              <a:t>Note:  </a:t>
            </a:r>
            <a:r>
              <a:rPr lang="en-US" sz="1100" i="1" dirty="0">
                <a:solidFill>
                  <a:srgbClr val="6B7796"/>
                </a:solidFill>
                <a:latin typeface="Segoe UI" pitchFamily="34" charset="0"/>
                <a:ea typeface="Segoe UI" pitchFamily="34" charset="-122"/>
                <a:cs typeface="Segoe UI" pitchFamily="34" charset="-120"/>
              </a:rPr>
              <a:t>Backtested, out-of-sample (Mar 2025 – Mar 2026), max 2 positions. Educational simulation — not financial advice.</a:t>
            </a:r>
            <a:endParaRPr lang="en-US" sz="1100" dirty="0"/>
          </a:p>
        </p:txBody>
      </p:sp>
      <p:sp>
        <p:nvSpPr>
          <p:cNvPr id="27" name="Text 23"/>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28" name="Text 24"/>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20624"/>
            <a:ext cx="512064" cy="512064"/>
          </a:xfrm>
          <a:prstGeom prst="roundRect">
            <a:avLst>
              <a:gd name="adj" fmla="val 17857"/>
            </a:avLst>
          </a:prstGeom>
          <a:solidFill>
            <a:srgbClr val="0B1233"/>
          </a:solidFill>
          <a:ln w="12700">
            <a:solidFill>
              <a:srgbClr val="333333"/>
            </a:solidFill>
            <a:prstDash val="solid"/>
          </a:ln>
          <a:effectLst>
            <a:outerShdw blurRad="76200" dist="25400" dir="5400000" algn="bl" rotWithShape="0">
              <a:srgbClr val="0B1233">
                <a:alpha val="18000"/>
              </a:srgbClr>
            </a:outerShdw>
          </a:effectLst>
        </p:spPr>
      </p:sp>
      <p:sp>
        <p:nvSpPr>
          <p:cNvPr id="3" name="Text 1"/>
          <p:cNvSpPr/>
          <p:nvPr/>
        </p:nvSpPr>
        <p:spPr>
          <a:xfrm>
            <a:off x="548640" y="420624"/>
            <a:ext cx="512064" cy="512064"/>
          </a:xfrm>
          <a:prstGeom prst="rect">
            <a:avLst/>
          </a:prstGeom>
          <a:noFill/>
          <a:ln/>
        </p:spPr>
        <p:txBody>
          <a:bodyPr wrap="square" lIns="0" tIns="0" rIns="0" bIns="0" rtlCol="0" anchor="ctr"/>
          <a:lstStyle/>
          <a:p>
            <a:pPr marL="0" indent="0" algn="ctr">
              <a:buNone/>
            </a:pPr>
            <a:r>
              <a:rPr lang="en-US" sz="1800" b="1" dirty="0">
                <a:solidFill>
                  <a:srgbClr val="00D4FF"/>
                </a:solidFill>
                <a:latin typeface="Segoe UI Black" pitchFamily="34" charset="0"/>
                <a:ea typeface="Segoe UI Black" pitchFamily="34" charset="-122"/>
                <a:cs typeface="Segoe UI Black" pitchFamily="34" charset="-120"/>
              </a:rPr>
              <a:t>10</a:t>
            </a:r>
            <a:endParaRPr lang="en-US" sz="1800" dirty="0"/>
          </a:p>
        </p:txBody>
      </p:sp>
      <p:sp>
        <p:nvSpPr>
          <p:cNvPr id="4" name="Text 2"/>
          <p:cNvSpPr/>
          <p:nvPr/>
        </p:nvSpPr>
        <p:spPr>
          <a:xfrm>
            <a:off x="1188720" y="420624"/>
            <a:ext cx="10424160" cy="237744"/>
          </a:xfrm>
          <a:prstGeom prst="rect">
            <a:avLst/>
          </a:prstGeom>
          <a:noFill/>
          <a:ln/>
        </p:spPr>
        <p:txBody>
          <a:bodyPr wrap="square" lIns="0" tIns="0" rIns="0" bIns="0" rtlCol="0" anchor="ctr"/>
          <a:lstStyle/>
          <a:p>
            <a:pPr marL="0" indent="0">
              <a:buNone/>
            </a:pPr>
            <a:r>
              <a:rPr lang="en-US" sz="1100" b="1" kern="0" spc="250" dirty="0">
                <a:solidFill>
                  <a:srgbClr val="0091C2"/>
                </a:solidFill>
                <a:latin typeface="Segoe UI Semibold" pitchFamily="34" charset="0"/>
                <a:ea typeface="Segoe UI Semibold" pitchFamily="34" charset="-122"/>
                <a:cs typeface="Segoe UI Semibold" pitchFamily="34" charset="-120"/>
              </a:rPr>
              <a:t>INTERACTIVE DASHBOARD</a:t>
            </a:r>
            <a:endParaRPr lang="en-US" sz="1100" dirty="0"/>
          </a:p>
        </p:txBody>
      </p:sp>
      <p:sp>
        <p:nvSpPr>
          <p:cNvPr id="5" name="Text 3"/>
          <p:cNvSpPr/>
          <p:nvPr/>
        </p:nvSpPr>
        <p:spPr>
          <a:xfrm>
            <a:off x="1188720" y="640080"/>
            <a:ext cx="10424160" cy="502920"/>
          </a:xfrm>
          <a:prstGeom prst="rect">
            <a:avLst/>
          </a:prstGeom>
          <a:noFill/>
          <a:ln/>
        </p:spPr>
        <p:txBody>
          <a:bodyPr wrap="square" lIns="0" tIns="0" rIns="0" bIns="0" rtlCol="0" anchor="ctr"/>
          <a:lstStyle/>
          <a:p>
            <a:pPr marL="0" indent="0">
              <a:buNone/>
            </a:pPr>
            <a:r>
              <a:rPr lang="en-US" sz="2700" b="1" dirty="0">
                <a:solidFill>
                  <a:srgbClr val="0B1233"/>
                </a:solidFill>
                <a:latin typeface="Segoe UI Semibold" pitchFamily="34" charset="0"/>
                <a:ea typeface="Segoe UI Semibold" pitchFamily="34" charset="-122"/>
                <a:cs typeface="Segoe UI Semibold" pitchFamily="34" charset="-120"/>
              </a:rPr>
              <a:t>Streamlit model-comparison dashboard</a:t>
            </a:r>
            <a:endParaRPr lang="en-US" sz="2700" dirty="0"/>
          </a:p>
        </p:txBody>
      </p:sp>
      <p:sp>
        <p:nvSpPr>
          <p:cNvPr id="6" name="Text 4"/>
          <p:cNvSpPr/>
          <p:nvPr/>
        </p:nvSpPr>
        <p:spPr>
          <a:xfrm>
            <a:off x="548640" y="1417320"/>
            <a:ext cx="5029200" cy="310896"/>
          </a:xfrm>
          <a:prstGeom prst="rect">
            <a:avLst/>
          </a:prstGeom>
          <a:noFill/>
          <a:ln/>
        </p:spPr>
        <p:txBody>
          <a:bodyPr wrap="square" lIns="0" tIns="0" rIns="0" bIns="0" rtlCol="0" anchor="ctr"/>
          <a:lstStyle/>
          <a:p>
            <a:pPr marL="0" indent="0">
              <a:buNone/>
            </a:pPr>
            <a:r>
              <a:rPr lang="en-US" sz="1400" b="1" dirty="0">
                <a:solidFill>
                  <a:srgbClr val="0B1233"/>
                </a:solidFill>
                <a:latin typeface="Segoe UI Semibold" pitchFamily="34" charset="0"/>
                <a:ea typeface="Segoe UI Semibold" pitchFamily="34" charset="-122"/>
                <a:cs typeface="Segoe UI Semibold" pitchFamily="34" charset="-120"/>
              </a:rPr>
              <a:t>How it loads</a:t>
            </a:r>
            <a:endParaRPr lang="en-US" sz="1400" dirty="0"/>
          </a:p>
        </p:txBody>
      </p:sp>
      <p:sp>
        <p:nvSpPr>
          <p:cNvPr id="7" name="Shape 5"/>
          <p:cNvSpPr/>
          <p:nvPr/>
        </p:nvSpPr>
        <p:spPr>
          <a:xfrm>
            <a:off x="548640" y="1810512"/>
            <a:ext cx="5029200" cy="713232"/>
          </a:xfrm>
          <a:prstGeom prst="roundRect">
            <a:avLst>
              <a:gd name="adj" fmla="val 12821"/>
            </a:avLst>
          </a:prstGeom>
          <a:solidFill>
            <a:srgbClr val="F5F7FC"/>
          </a:solidFill>
          <a:ln w="12700">
            <a:solidFill>
              <a:srgbClr val="D9E1F1"/>
            </a:solidFill>
            <a:prstDash val="solid"/>
          </a:ln>
        </p:spPr>
      </p:sp>
      <p:sp>
        <p:nvSpPr>
          <p:cNvPr id="8" name="Shape 6"/>
          <p:cNvSpPr/>
          <p:nvPr/>
        </p:nvSpPr>
        <p:spPr>
          <a:xfrm>
            <a:off x="548640" y="1938528"/>
            <a:ext cx="64008" cy="457200"/>
          </a:xfrm>
          <a:prstGeom prst="rect">
            <a:avLst/>
          </a:prstGeom>
          <a:solidFill>
            <a:srgbClr val="0091C2"/>
          </a:solidFill>
          <a:ln w="12700">
            <a:solidFill>
              <a:srgbClr val="333333"/>
            </a:solidFill>
            <a:prstDash val="solid"/>
          </a:ln>
        </p:spPr>
      </p:sp>
      <p:sp>
        <p:nvSpPr>
          <p:cNvPr id="9" name="Text 7"/>
          <p:cNvSpPr/>
          <p:nvPr/>
        </p:nvSpPr>
        <p:spPr>
          <a:xfrm>
            <a:off x="786384" y="1901952"/>
            <a:ext cx="4572000" cy="329184"/>
          </a:xfrm>
          <a:prstGeom prst="rect">
            <a:avLst/>
          </a:prstGeom>
          <a:noFill/>
          <a:ln/>
        </p:spPr>
        <p:txBody>
          <a:bodyPr wrap="square" lIns="0" tIns="0" rIns="0" bIns="0" rtlCol="0" anchor="ctr"/>
          <a:lstStyle/>
          <a:p>
            <a:pPr marL="0" indent="0">
              <a:buNone/>
            </a:pPr>
            <a:r>
              <a:rPr lang="en-US" sz="1300" b="1" dirty="0">
                <a:solidFill>
                  <a:srgbClr val="0B1233"/>
                </a:solidFill>
                <a:latin typeface="Consolas" pitchFamily="34" charset="0"/>
                <a:ea typeface="Consolas" pitchFamily="34" charset="-122"/>
                <a:cs typeface="Consolas" pitchFamily="34" charset="-120"/>
              </a:rPr>
              <a:t>Model output CSVs</a:t>
            </a:r>
            <a:endParaRPr lang="en-US" sz="1300" dirty="0"/>
          </a:p>
        </p:txBody>
      </p:sp>
      <p:sp>
        <p:nvSpPr>
          <p:cNvPr id="10" name="Text 8"/>
          <p:cNvSpPr/>
          <p:nvPr/>
        </p:nvSpPr>
        <p:spPr>
          <a:xfrm>
            <a:off x="786384" y="2194560"/>
            <a:ext cx="4572000" cy="292608"/>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RF + LightGBM signals, trades, portfolio, sensitivity</a:t>
            </a:r>
            <a:endParaRPr lang="en-US" sz="1050" dirty="0"/>
          </a:p>
        </p:txBody>
      </p:sp>
      <p:sp>
        <p:nvSpPr>
          <p:cNvPr id="11" name="Text 9"/>
          <p:cNvSpPr/>
          <p:nvPr/>
        </p:nvSpPr>
        <p:spPr>
          <a:xfrm>
            <a:off x="2834640" y="2560320"/>
            <a:ext cx="457200" cy="182880"/>
          </a:xfrm>
          <a:prstGeom prst="rect">
            <a:avLst/>
          </a:prstGeom>
          <a:noFill/>
          <a:ln/>
        </p:spPr>
        <p:txBody>
          <a:bodyPr wrap="square" lIns="0" tIns="0" rIns="0" bIns="0" rtlCol="0" anchor="ctr"/>
          <a:lstStyle/>
          <a:p>
            <a:pPr marL="0" indent="0" algn="ctr">
              <a:buNone/>
            </a:pPr>
            <a:r>
              <a:rPr lang="en-US" sz="1200" dirty="0">
                <a:solidFill>
                  <a:srgbClr val="0091C2"/>
                </a:solidFill>
                <a:latin typeface="Segoe UI" pitchFamily="34" charset="0"/>
                <a:ea typeface="Segoe UI" pitchFamily="34" charset="-122"/>
                <a:cs typeface="Segoe UI" pitchFamily="34" charset="-120"/>
              </a:rPr>
              <a:t>▼</a:t>
            </a:r>
            <a:endParaRPr lang="en-US" sz="1200" dirty="0"/>
          </a:p>
        </p:txBody>
      </p:sp>
      <p:sp>
        <p:nvSpPr>
          <p:cNvPr id="12" name="Shape 10"/>
          <p:cNvSpPr/>
          <p:nvPr/>
        </p:nvSpPr>
        <p:spPr>
          <a:xfrm>
            <a:off x="548640" y="2770632"/>
            <a:ext cx="5029200" cy="713232"/>
          </a:xfrm>
          <a:prstGeom prst="roundRect">
            <a:avLst>
              <a:gd name="adj" fmla="val 12821"/>
            </a:avLst>
          </a:prstGeom>
          <a:solidFill>
            <a:srgbClr val="F5F7FC"/>
          </a:solidFill>
          <a:ln w="12700">
            <a:solidFill>
              <a:srgbClr val="D9E1F1"/>
            </a:solidFill>
            <a:prstDash val="solid"/>
          </a:ln>
        </p:spPr>
      </p:sp>
      <p:sp>
        <p:nvSpPr>
          <p:cNvPr id="13" name="Shape 11"/>
          <p:cNvSpPr/>
          <p:nvPr/>
        </p:nvSpPr>
        <p:spPr>
          <a:xfrm>
            <a:off x="548640" y="2898648"/>
            <a:ext cx="64008" cy="457200"/>
          </a:xfrm>
          <a:prstGeom prst="rect">
            <a:avLst/>
          </a:prstGeom>
          <a:solidFill>
            <a:srgbClr val="6A36DE"/>
          </a:solidFill>
          <a:ln w="12700">
            <a:solidFill>
              <a:srgbClr val="333333"/>
            </a:solidFill>
            <a:prstDash val="solid"/>
          </a:ln>
        </p:spPr>
      </p:sp>
      <p:sp>
        <p:nvSpPr>
          <p:cNvPr id="14" name="Text 12"/>
          <p:cNvSpPr/>
          <p:nvPr/>
        </p:nvSpPr>
        <p:spPr>
          <a:xfrm>
            <a:off x="786384" y="2862072"/>
            <a:ext cx="4572000" cy="329184"/>
          </a:xfrm>
          <a:prstGeom prst="rect">
            <a:avLst/>
          </a:prstGeom>
          <a:noFill/>
          <a:ln/>
        </p:spPr>
        <p:txBody>
          <a:bodyPr wrap="square" lIns="0" tIns="0" rIns="0" bIns="0" rtlCol="0" anchor="ctr"/>
          <a:lstStyle/>
          <a:p>
            <a:pPr marL="0" indent="0">
              <a:buNone/>
            </a:pPr>
            <a:r>
              <a:rPr lang="en-US" sz="1300" b="1" dirty="0">
                <a:solidFill>
                  <a:srgbClr val="0B1233"/>
                </a:solidFill>
                <a:latin typeface="Consolas" pitchFamily="34" charset="0"/>
                <a:ea typeface="Consolas" pitchFamily="34" charset="-122"/>
                <a:cs typeface="Consolas" pitchFamily="34" charset="-120"/>
              </a:rPr>
              <a:t>load_model_outputs()</a:t>
            </a:r>
            <a:endParaRPr lang="en-US" sz="1300" dirty="0"/>
          </a:p>
        </p:txBody>
      </p:sp>
      <p:sp>
        <p:nvSpPr>
          <p:cNvPr id="15" name="Text 13"/>
          <p:cNvSpPr/>
          <p:nvPr/>
        </p:nvSpPr>
        <p:spPr>
          <a:xfrm>
            <a:off x="786384" y="3154680"/>
            <a:ext cx="4572000" cy="292608"/>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cached with @st.cache_data, path fallbacks</a:t>
            </a:r>
            <a:endParaRPr lang="en-US" sz="1050" dirty="0"/>
          </a:p>
        </p:txBody>
      </p:sp>
      <p:sp>
        <p:nvSpPr>
          <p:cNvPr id="16" name="Text 14"/>
          <p:cNvSpPr/>
          <p:nvPr/>
        </p:nvSpPr>
        <p:spPr>
          <a:xfrm>
            <a:off x="2834640" y="3520440"/>
            <a:ext cx="457200" cy="182880"/>
          </a:xfrm>
          <a:prstGeom prst="rect">
            <a:avLst/>
          </a:prstGeom>
          <a:noFill/>
          <a:ln/>
        </p:spPr>
        <p:txBody>
          <a:bodyPr wrap="square" lIns="0" tIns="0" rIns="0" bIns="0" rtlCol="0" anchor="ctr"/>
          <a:lstStyle/>
          <a:p>
            <a:pPr marL="0" indent="0" algn="ctr">
              <a:buNone/>
            </a:pPr>
            <a:r>
              <a:rPr lang="en-US" sz="1200" dirty="0">
                <a:solidFill>
                  <a:srgbClr val="6A36DE"/>
                </a:solidFill>
                <a:latin typeface="Segoe UI" pitchFamily="34" charset="0"/>
                <a:ea typeface="Segoe UI" pitchFamily="34" charset="-122"/>
                <a:cs typeface="Segoe UI" pitchFamily="34" charset="-120"/>
              </a:rPr>
              <a:t>▼</a:t>
            </a:r>
            <a:endParaRPr lang="en-US" sz="1200" dirty="0"/>
          </a:p>
        </p:txBody>
      </p:sp>
      <p:sp>
        <p:nvSpPr>
          <p:cNvPr id="17" name="Shape 15"/>
          <p:cNvSpPr/>
          <p:nvPr/>
        </p:nvSpPr>
        <p:spPr>
          <a:xfrm>
            <a:off x="548640" y="3730752"/>
            <a:ext cx="5029200" cy="713232"/>
          </a:xfrm>
          <a:prstGeom prst="roundRect">
            <a:avLst>
              <a:gd name="adj" fmla="val 12821"/>
            </a:avLst>
          </a:prstGeom>
          <a:solidFill>
            <a:srgbClr val="F5F7FC"/>
          </a:solidFill>
          <a:ln w="12700">
            <a:solidFill>
              <a:srgbClr val="D9E1F1"/>
            </a:solidFill>
            <a:prstDash val="solid"/>
          </a:ln>
        </p:spPr>
      </p:sp>
      <p:sp>
        <p:nvSpPr>
          <p:cNvPr id="18" name="Shape 16"/>
          <p:cNvSpPr/>
          <p:nvPr/>
        </p:nvSpPr>
        <p:spPr>
          <a:xfrm>
            <a:off x="548640" y="3858768"/>
            <a:ext cx="64008" cy="457200"/>
          </a:xfrm>
          <a:prstGeom prst="rect">
            <a:avLst/>
          </a:prstGeom>
          <a:solidFill>
            <a:srgbClr val="D98A00"/>
          </a:solidFill>
          <a:ln w="12700">
            <a:solidFill>
              <a:srgbClr val="333333"/>
            </a:solidFill>
            <a:prstDash val="solid"/>
          </a:ln>
        </p:spPr>
      </p:sp>
      <p:sp>
        <p:nvSpPr>
          <p:cNvPr id="19" name="Text 17"/>
          <p:cNvSpPr/>
          <p:nvPr/>
        </p:nvSpPr>
        <p:spPr>
          <a:xfrm>
            <a:off x="786384" y="3822192"/>
            <a:ext cx="4572000" cy="329184"/>
          </a:xfrm>
          <a:prstGeom prst="rect">
            <a:avLst/>
          </a:prstGeom>
          <a:noFill/>
          <a:ln/>
        </p:spPr>
        <p:txBody>
          <a:bodyPr wrap="square" lIns="0" tIns="0" rIns="0" bIns="0" rtlCol="0" anchor="ctr"/>
          <a:lstStyle/>
          <a:p>
            <a:pPr marL="0" indent="0">
              <a:buNone/>
            </a:pPr>
            <a:r>
              <a:rPr lang="en-US" sz="1300" b="1" dirty="0">
                <a:solidFill>
                  <a:srgbClr val="0B1233"/>
                </a:solidFill>
                <a:latin typeface="Consolas" pitchFamily="34" charset="0"/>
                <a:ea typeface="Consolas" pitchFamily="34" charset="-122"/>
                <a:cs typeface="Consolas" pitchFamily="34" charset="-120"/>
              </a:rPr>
              <a:t>Unified metrics &amp; frames</a:t>
            </a:r>
            <a:endParaRPr lang="en-US" sz="1300" dirty="0"/>
          </a:p>
        </p:txBody>
      </p:sp>
      <p:sp>
        <p:nvSpPr>
          <p:cNvPr id="20" name="Text 18"/>
          <p:cNvSpPr/>
          <p:nvPr/>
        </p:nvSpPr>
        <p:spPr>
          <a:xfrm>
            <a:off x="786384" y="4114800"/>
            <a:ext cx="4572000" cy="292608"/>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ROI, win rate, profit factor per model</a:t>
            </a:r>
            <a:endParaRPr lang="en-US" sz="1050" dirty="0"/>
          </a:p>
        </p:txBody>
      </p:sp>
      <p:sp>
        <p:nvSpPr>
          <p:cNvPr id="21" name="Text 19"/>
          <p:cNvSpPr/>
          <p:nvPr/>
        </p:nvSpPr>
        <p:spPr>
          <a:xfrm>
            <a:off x="2834640" y="4480560"/>
            <a:ext cx="457200" cy="182880"/>
          </a:xfrm>
          <a:prstGeom prst="rect">
            <a:avLst/>
          </a:prstGeom>
          <a:noFill/>
          <a:ln/>
        </p:spPr>
        <p:txBody>
          <a:bodyPr wrap="square" lIns="0" tIns="0" rIns="0" bIns="0" rtlCol="0" anchor="ctr"/>
          <a:lstStyle/>
          <a:p>
            <a:pPr marL="0" indent="0" algn="ctr">
              <a:buNone/>
            </a:pPr>
            <a:r>
              <a:rPr lang="en-US" sz="1200" dirty="0">
                <a:solidFill>
                  <a:srgbClr val="D98A00"/>
                </a:solidFill>
                <a:latin typeface="Segoe UI" pitchFamily="34" charset="0"/>
                <a:ea typeface="Segoe UI" pitchFamily="34" charset="-122"/>
                <a:cs typeface="Segoe UI" pitchFamily="34" charset="-120"/>
              </a:rPr>
              <a:t>▼</a:t>
            </a:r>
            <a:endParaRPr lang="en-US" sz="1200" dirty="0"/>
          </a:p>
        </p:txBody>
      </p:sp>
      <p:sp>
        <p:nvSpPr>
          <p:cNvPr id="22" name="Shape 20"/>
          <p:cNvSpPr/>
          <p:nvPr/>
        </p:nvSpPr>
        <p:spPr>
          <a:xfrm>
            <a:off x="548640" y="4690872"/>
            <a:ext cx="5029200" cy="713232"/>
          </a:xfrm>
          <a:prstGeom prst="roundRect">
            <a:avLst>
              <a:gd name="adj" fmla="val 12821"/>
            </a:avLst>
          </a:prstGeom>
          <a:solidFill>
            <a:srgbClr val="F5F7FC"/>
          </a:solidFill>
          <a:ln w="12700">
            <a:solidFill>
              <a:srgbClr val="D9E1F1"/>
            </a:solidFill>
            <a:prstDash val="solid"/>
          </a:ln>
        </p:spPr>
      </p:sp>
      <p:sp>
        <p:nvSpPr>
          <p:cNvPr id="23" name="Shape 21"/>
          <p:cNvSpPr/>
          <p:nvPr/>
        </p:nvSpPr>
        <p:spPr>
          <a:xfrm>
            <a:off x="548640" y="4818888"/>
            <a:ext cx="64008" cy="457200"/>
          </a:xfrm>
          <a:prstGeom prst="rect">
            <a:avLst/>
          </a:prstGeom>
          <a:solidFill>
            <a:srgbClr val="12936A"/>
          </a:solidFill>
          <a:ln w="12700">
            <a:solidFill>
              <a:srgbClr val="333333"/>
            </a:solidFill>
            <a:prstDash val="solid"/>
          </a:ln>
        </p:spPr>
      </p:sp>
      <p:sp>
        <p:nvSpPr>
          <p:cNvPr id="24" name="Text 22"/>
          <p:cNvSpPr/>
          <p:nvPr/>
        </p:nvSpPr>
        <p:spPr>
          <a:xfrm>
            <a:off x="786384" y="4782312"/>
            <a:ext cx="4572000" cy="329184"/>
          </a:xfrm>
          <a:prstGeom prst="rect">
            <a:avLst/>
          </a:prstGeom>
          <a:noFill/>
          <a:ln/>
        </p:spPr>
        <p:txBody>
          <a:bodyPr wrap="square" lIns="0" tIns="0" rIns="0" bIns="0" rtlCol="0" anchor="ctr"/>
          <a:lstStyle/>
          <a:p>
            <a:pPr marL="0" indent="0">
              <a:buNone/>
            </a:pPr>
            <a:r>
              <a:rPr lang="en-US" sz="1300" b="1" dirty="0">
                <a:solidFill>
                  <a:srgbClr val="0B1233"/>
                </a:solidFill>
                <a:latin typeface="Consolas" pitchFamily="34" charset="0"/>
                <a:ea typeface="Consolas" pitchFamily="34" charset="-122"/>
                <a:cs typeface="Consolas" pitchFamily="34" charset="-120"/>
              </a:rPr>
              <a:t>7 navigable pages</a:t>
            </a:r>
            <a:endParaRPr lang="en-US" sz="1300" dirty="0"/>
          </a:p>
        </p:txBody>
      </p:sp>
      <p:sp>
        <p:nvSpPr>
          <p:cNvPr id="25" name="Text 23"/>
          <p:cNvSpPr/>
          <p:nvPr/>
        </p:nvSpPr>
        <p:spPr>
          <a:xfrm>
            <a:off x="786384" y="5074920"/>
            <a:ext cx="4572000" cy="292608"/>
          </a:xfrm>
          <a:prstGeom prst="rect">
            <a:avLst/>
          </a:prstGeom>
          <a:noFill/>
          <a:ln/>
        </p:spPr>
        <p:txBody>
          <a:bodyPr wrap="square" lIns="0" tIns="0" rIns="0" bIns="0" rtlCol="0" anchor="ctr"/>
          <a:lstStyle/>
          <a:p>
            <a:pPr marL="0" indent="0">
              <a:buNone/>
            </a:pPr>
            <a:r>
              <a:rPr lang="en-US" sz="1050" dirty="0">
                <a:solidFill>
                  <a:srgbClr val="6B7796"/>
                </a:solidFill>
                <a:latin typeface="Segoe UI" pitchFamily="34" charset="0"/>
                <a:ea typeface="Segoe UI" pitchFamily="34" charset="-122"/>
                <a:cs typeface="Segoe UI" pitchFamily="34" charset="-120"/>
              </a:rPr>
              <a:t>Plotly charts + interactive tables</a:t>
            </a:r>
            <a:endParaRPr lang="en-US" sz="1050" dirty="0"/>
          </a:p>
        </p:txBody>
      </p:sp>
      <p:sp>
        <p:nvSpPr>
          <p:cNvPr id="26" name="Text 24"/>
          <p:cNvSpPr/>
          <p:nvPr/>
        </p:nvSpPr>
        <p:spPr>
          <a:xfrm>
            <a:off x="5943600" y="1417320"/>
            <a:ext cx="5696712" cy="310896"/>
          </a:xfrm>
          <a:prstGeom prst="rect">
            <a:avLst/>
          </a:prstGeom>
          <a:noFill/>
          <a:ln/>
        </p:spPr>
        <p:txBody>
          <a:bodyPr wrap="square" lIns="0" tIns="0" rIns="0" bIns="0" rtlCol="0" anchor="ctr"/>
          <a:lstStyle/>
          <a:p>
            <a:pPr marL="0" indent="0">
              <a:buNone/>
            </a:pPr>
            <a:r>
              <a:rPr lang="en-US" sz="1400" b="1" dirty="0">
                <a:solidFill>
                  <a:srgbClr val="0B1233"/>
                </a:solidFill>
                <a:latin typeface="Segoe UI Semibold" pitchFamily="34" charset="0"/>
                <a:ea typeface="Segoe UI Semibold" pitchFamily="34" charset="-122"/>
                <a:cs typeface="Segoe UI Semibold" pitchFamily="34" charset="-120"/>
              </a:rPr>
              <a:t>Seven pages</a:t>
            </a:r>
            <a:endParaRPr lang="en-US" sz="1400" dirty="0"/>
          </a:p>
        </p:txBody>
      </p:sp>
      <p:sp>
        <p:nvSpPr>
          <p:cNvPr id="27" name="Shape 25"/>
          <p:cNvSpPr/>
          <p:nvPr/>
        </p:nvSpPr>
        <p:spPr>
          <a:xfrm>
            <a:off x="5943600" y="1792224"/>
            <a:ext cx="5696712" cy="457200"/>
          </a:xfrm>
          <a:prstGeom prst="rect">
            <a:avLst/>
          </a:prstGeom>
          <a:solidFill>
            <a:srgbClr val="F5F7FC"/>
          </a:solidFill>
          <a:ln w="12700">
            <a:solidFill>
              <a:srgbClr val="333333"/>
            </a:solidFill>
            <a:prstDash val="solid"/>
          </a:ln>
        </p:spPr>
      </p:sp>
      <p:sp>
        <p:nvSpPr>
          <p:cNvPr id="28" name="Text 26"/>
          <p:cNvSpPr/>
          <p:nvPr/>
        </p:nvSpPr>
        <p:spPr>
          <a:xfrm>
            <a:off x="5998464" y="17922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1</a:t>
            </a:r>
            <a:endParaRPr lang="en-US" sz="1200" dirty="0"/>
          </a:p>
        </p:txBody>
      </p:sp>
      <p:sp>
        <p:nvSpPr>
          <p:cNvPr id="29" name="Text 27"/>
          <p:cNvSpPr/>
          <p:nvPr/>
        </p:nvSpPr>
        <p:spPr>
          <a:xfrm>
            <a:off x="6400800" y="17922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Dashboard</a:t>
            </a:r>
            <a:endParaRPr lang="en-US" sz="1250" dirty="0"/>
          </a:p>
        </p:txBody>
      </p:sp>
      <p:sp>
        <p:nvSpPr>
          <p:cNvPr id="30" name="Text 28"/>
          <p:cNvSpPr/>
          <p:nvPr/>
        </p:nvSpPr>
        <p:spPr>
          <a:xfrm>
            <a:off x="8595360" y="17922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KPI cards + equity curve + scoreboard</a:t>
            </a:r>
            <a:endParaRPr lang="en-US" sz="1050" dirty="0"/>
          </a:p>
        </p:txBody>
      </p:sp>
      <p:sp>
        <p:nvSpPr>
          <p:cNvPr id="31" name="Text 29"/>
          <p:cNvSpPr/>
          <p:nvPr/>
        </p:nvSpPr>
        <p:spPr>
          <a:xfrm>
            <a:off x="5998464" y="22494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2</a:t>
            </a:r>
            <a:endParaRPr lang="en-US" sz="1200" dirty="0"/>
          </a:p>
        </p:txBody>
      </p:sp>
      <p:sp>
        <p:nvSpPr>
          <p:cNvPr id="32" name="Text 30"/>
          <p:cNvSpPr/>
          <p:nvPr/>
        </p:nvSpPr>
        <p:spPr>
          <a:xfrm>
            <a:off x="6400800" y="22494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Model Comparison</a:t>
            </a:r>
            <a:endParaRPr lang="en-US" sz="1250" dirty="0"/>
          </a:p>
        </p:txBody>
      </p:sp>
      <p:sp>
        <p:nvSpPr>
          <p:cNvPr id="33" name="Text 31"/>
          <p:cNvSpPr/>
          <p:nvPr/>
        </p:nvSpPr>
        <p:spPr>
          <a:xfrm>
            <a:off x="8595360" y="22494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RF vs LGBM metrics, side-by-side</a:t>
            </a:r>
            <a:endParaRPr lang="en-US" sz="1050" dirty="0"/>
          </a:p>
        </p:txBody>
      </p:sp>
      <p:sp>
        <p:nvSpPr>
          <p:cNvPr id="34" name="Shape 32"/>
          <p:cNvSpPr/>
          <p:nvPr/>
        </p:nvSpPr>
        <p:spPr>
          <a:xfrm>
            <a:off x="5943600" y="2706624"/>
            <a:ext cx="5696712" cy="457200"/>
          </a:xfrm>
          <a:prstGeom prst="rect">
            <a:avLst/>
          </a:prstGeom>
          <a:solidFill>
            <a:srgbClr val="F5F7FC"/>
          </a:solidFill>
          <a:ln w="12700">
            <a:solidFill>
              <a:srgbClr val="333333"/>
            </a:solidFill>
            <a:prstDash val="solid"/>
          </a:ln>
        </p:spPr>
      </p:sp>
      <p:sp>
        <p:nvSpPr>
          <p:cNvPr id="35" name="Text 33"/>
          <p:cNvSpPr/>
          <p:nvPr/>
        </p:nvSpPr>
        <p:spPr>
          <a:xfrm>
            <a:off x="5998464" y="27066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3</a:t>
            </a:r>
            <a:endParaRPr lang="en-US" sz="1200" dirty="0"/>
          </a:p>
        </p:txBody>
      </p:sp>
      <p:sp>
        <p:nvSpPr>
          <p:cNvPr id="36" name="Text 34"/>
          <p:cNvSpPr/>
          <p:nvPr/>
        </p:nvSpPr>
        <p:spPr>
          <a:xfrm>
            <a:off x="6400800" y="27066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Position Sensitivity</a:t>
            </a:r>
            <a:endParaRPr lang="en-US" sz="1250" dirty="0"/>
          </a:p>
        </p:txBody>
      </p:sp>
      <p:sp>
        <p:nvSpPr>
          <p:cNvPr id="37" name="Text 35"/>
          <p:cNvSpPr/>
          <p:nvPr/>
        </p:nvSpPr>
        <p:spPr>
          <a:xfrm>
            <a:off x="8595360" y="27066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ROI / win-rate vs max positions</a:t>
            </a:r>
            <a:endParaRPr lang="en-US" sz="1050" dirty="0"/>
          </a:p>
        </p:txBody>
      </p:sp>
      <p:sp>
        <p:nvSpPr>
          <p:cNvPr id="38" name="Text 36"/>
          <p:cNvSpPr/>
          <p:nvPr/>
        </p:nvSpPr>
        <p:spPr>
          <a:xfrm>
            <a:off x="5998464" y="31638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4</a:t>
            </a:r>
            <a:endParaRPr lang="en-US" sz="1200" dirty="0"/>
          </a:p>
        </p:txBody>
      </p:sp>
      <p:sp>
        <p:nvSpPr>
          <p:cNvPr id="39" name="Text 37"/>
          <p:cNvSpPr/>
          <p:nvPr/>
        </p:nvSpPr>
        <p:spPr>
          <a:xfrm>
            <a:off x="6400800" y="31638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Recommendations</a:t>
            </a:r>
            <a:endParaRPr lang="en-US" sz="1250" dirty="0"/>
          </a:p>
        </p:txBody>
      </p:sp>
      <p:sp>
        <p:nvSpPr>
          <p:cNvPr id="40" name="Text 38"/>
          <p:cNvSpPr/>
          <p:nvPr/>
        </p:nvSpPr>
        <p:spPr>
          <a:xfrm>
            <a:off x="8595360" y="31638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Filterable Buy calls + model overlap</a:t>
            </a:r>
            <a:endParaRPr lang="en-US" sz="1050" dirty="0"/>
          </a:p>
        </p:txBody>
      </p:sp>
      <p:sp>
        <p:nvSpPr>
          <p:cNvPr id="41" name="Shape 39"/>
          <p:cNvSpPr/>
          <p:nvPr/>
        </p:nvSpPr>
        <p:spPr>
          <a:xfrm>
            <a:off x="5943600" y="3621024"/>
            <a:ext cx="5696712" cy="457200"/>
          </a:xfrm>
          <a:prstGeom prst="rect">
            <a:avLst/>
          </a:prstGeom>
          <a:solidFill>
            <a:srgbClr val="F5F7FC"/>
          </a:solidFill>
          <a:ln w="12700">
            <a:solidFill>
              <a:srgbClr val="333333"/>
            </a:solidFill>
            <a:prstDash val="solid"/>
          </a:ln>
        </p:spPr>
      </p:sp>
      <p:sp>
        <p:nvSpPr>
          <p:cNvPr id="42" name="Text 40"/>
          <p:cNvSpPr/>
          <p:nvPr/>
        </p:nvSpPr>
        <p:spPr>
          <a:xfrm>
            <a:off x="5998464" y="36210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5</a:t>
            </a:r>
            <a:endParaRPr lang="en-US" sz="1200" dirty="0"/>
          </a:p>
        </p:txBody>
      </p:sp>
      <p:sp>
        <p:nvSpPr>
          <p:cNvPr id="43" name="Text 41"/>
          <p:cNvSpPr/>
          <p:nvPr/>
        </p:nvSpPr>
        <p:spPr>
          <a:xfrm>
            <a:off x="6400800" y="36210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Simulator</a:t>
            </a:r>
            <a:endParaRPr lang="en-US" sz="1250" dirty="0"/>
          </a:p>
        </p:txBody>
      </p:sp>
      <p:sp>
        <p:nvSpPr>
          <p:cNvPr id="44" name="Text 42"/>
          <p:cNvSpPr/>
          <p:nvPr/>
        </p:nvSpPr>
        <p:spPr>
          <a:xfrm>
            <a:off x="8595360" y="36210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2-stock paper trading (10% stop / 8% target)</a:t>
            </a:r>
            <a:endParaRPr lang="en-US" sz="1050" dirty="0"/>
          </a:p>
        </p:txBody>
      </p:sp>
      <p:sp>
        <p:nvSpPr>
          <p:cNvPr id="45" name="Text 43"/>
          <p:cNvSpPr/>
          <p:nvPr/>
        </p:nvSpPr>
        <p:spPr>
          <a:xfrm>
            <a:off x="5998464" y="40782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6</a:t>
            </a:r>
            <a:endParaRPr lang="en-US" sz="1200" dirty="0"/>
          </a:p>
        </p:txBody>
      </p:sp>
      <p:sp>
        <p:nvSpPr>
          <p:cNvPr id="46" name="Text 44"/>
          <p:cNvSpPr/>
          <p:nvPr/>
        </p:nvSpPr>
        <p:spPr>
          <a:xfrm>
            <a:off x="6400800" y="40782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Trade History</a:t>
            </a:r>
            <a:endParaRPr lang="en-US" sz="1250" dirty="0"/>
          </a:p>
        </p:txBody>
      </p:sp>
      <p:sp>
        <p:nvSpPr>
          <p:cNvPr id="47" name="Text 45"/>
          <p:cNvSpPr/>
          <p:nvPr/>
        </p:nvSpPr>
        <p:spPr>
          <a:xfrm>
            <a:off x="8595360" y="40782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Trade log + exit-reason distribution</a:t>
            </a:r>
            <a:endParaRPr lang="en-US" sz="1050" dirty="0"/>
          </a:p>
        </p:txBody>
      </p:sp>
      <p:sp>
        <p:nvSpPr>
          <p:cNvPr id="48" name="Shape 46"/>
          <p:cNvSpPr/>
          <p:nvPr/>
        </p:nvSpPr>
        <p:spPr>
          <a:xfrm>
            <a:off x="5943600" y="4535424"/>
            <a:ext cx="5696712" cy="457200"/>
          </a:xfrm>
          <a:prstGeom prst="rect">
            <a:avLst/>
          </a:prstGeom>
          <a:solidFill>
            <a:srgbClr val="F5F7FC"/>
          </a:solidFill>
          <a:ln w="12700">
            <a:solidFill>
              <a:srgbClr val="333333"/>
            </a:solidFill>
            <a:prstDash val="solid"/>
          </a:ln>
        </p:spPr>
      </p:sp>
      <p:sp>
        <p:nvSpPr>
          <p:cNvPr id="49" name="Text 47"/>
          <p:cNvSpPr/>
          <p:nvPr/>
        </p:nvSpPr>
        <p:spPr>
          <a:xfrm>
            <a:off x="5998464" y="4535424"/>
            <a:ext cx="365760" cy="457200"/>
          </a:xfrm>
          <a:prstGeom prst="rect">
            <a:avLst/>
          </a:prstGeom>
          <a:noFill/>
          <a:ln/>
        </p:spPr>
        <p:txBody>
          <a:bodyPr wrap="square" lIns="0" tIns="0" rIns="0" bIns="0" rtlCol="0" anchor="ctr"/>
          <a:lstStyle/>
          <a:p>
            <a:pPr marL="0" indent="0" algn="ctr">
              <a:buNone/>
            </a:pPr>
            <a:r>
              <a:rPr lang="en-US" sz="1200" b="1" dirty="0">
                <a:solidFill>
                  <a:srgbClr val="0091C2"/>
                </a:solidFill>
                <a:latin typeface="Segoe UI Black" pitchFamily="34" charset="0"/>
                <a:ea typeface="Segoe UI Black" pitchFamily="34" charset="-122"/>
                <a:cs typeface="Segoe UI Black" pitchFamily="34" charset="-120"/>
              </a:rPr>
              <a:t>7</a:t>
            </a:r>
            <a:endParaRPr lang="en-US" sz="1200" dirty="0"/>
          </a:p>
        </p:txBody>
      </p:sp>
      <p:sp>
        <p:nvSpPr>
          <p:cNvPr id="50" name="Text 48"/>
          <p:cNvSpPr/>
          <p:nvPr/>
        </p:nvSpPr>
        <p:spPr>
          <a:xfrm>
            <a:off x="6400800" y="4535424"/>
            <a:ext cx="2194560" cy="457200"/>
          </a:xfrm>
          <a:prstGeom prst="rect">
            <a:avLst/>
          </a:prstGeom>
          <a:noFill/>
          <a:ln/>
        </p:spPr>
        <p:txBody>
          <a:bodyPr wrap="square" lIns="0" tIns="0" rIns="0" bIns="0" rtlCol="0" anchor="ctr"/>
          <a:lstStyle/>
          <a:p>
            <a:pPr marL="0" indent="0">
              <a:buNone/>
            </a:pPr>
            <a:r>
              <a:rPr lang="en-US" sz="1250" b="1" dirty="0">
                <a:solidFill>
                  <a:srgbClr val="0B1233"/>
                </a:solidFill>
                <a:latin typeface="Segoe UI Semibold" pitchFamily="34" charset="0"/>
                <a:ea typeface="Segoe UI Semibold" pitchFamily="34" charset="-122"/>
                <a:cs typeface="Segoe UI Semibold" pitchFamily="34" charset="-120"/>
              </a:rPr>
              <a:t>Search</a:t>
            </a:r>
            <a:endParaRPr lang="en-US" sz="1250" dirty="0"/>
          </a:p>
        </p:txBody>
      </p:sp>
      <p:sp>
        <p:nvSpPr>
          <p:cNvPr id="51" name="Text 49"/>
          <p:cNvSpPr/>
          <p:nvPr/>
        </p:nvSpPr>
        <p:spPr>
          <a:xfrm>
            <a:off x="8595360" y="4535424"/>
            <a:ext cx="2999232" cy="457200"/>
          </a:xfrm>
          <a:prstGeom prst="rect">
            <a:avLst/>
          </a:prstGeom>
          <a:noFill/>
          <a:ln/>
        </p:spPr>
        <p:txBody>
          <a:bodyPr wrap="square" lIns="0" tIns="0" rIns="0" bIns="0" rtlCol="0" anchor="ctr"/>
          <a:lstStyle/>
          <a:p>
            <a:pPr marL="0" indent="0">
              <a:buNone/>
            </a:pPr>
            <a:r>
              <a:rPr lang="en-US" sz="1050" dirty="0">
                <a:solidFill>
                  <a:srgbClr val="33405B"/>
                </a:solidFill>
                <a:latin typeface="Segoe UI" pitchFamily="34" charset="0"/>
                <a:ea typeface="Segoe UI" pitchFamily="34" charset="-122"/>
                <a:cs typeface="Segoe UI" pitchFamily="34" charset="-120"/>
              </a:rPr>
              <a:t>Query signals &amp; trades across history</a:t>
            </a:r>
            <a:endParaRPr lang="en-US" sz="1050" dirty="0"/>
          </a:p>
        </p:txBody>
      </p:sp>
      <p:sp>
        <p:nvSpPr>
          <p:cNvPr id="52" name="Text 50"/>
          <p:cNvSpPr/>
          <p:nvPr/>
        </p:nvSpPr>
        <p:spPr>
          <a:xfrm>
            <a:off x="5943600" y="5120640"/>
            <a:ext cx="5696712" cy="256032"/>
          </a:xfrm>
          <a:prstGeom prst="rect">
            <a:avLst/>
          </a:prstGeom>
          <a:noFill/>
          <a:ln/>
        </p:spPr>
        <p:txBody>
          <a:bodyPr wrap="square" lIns="0" tIns="0" rIns="0" bIns="0" rtlCol="0" anchor="ctr"/>
          <a:lstStyle/>
          <a:p>
            <a:pPr marL="0" indent="0">
              <a:buNone/>
            </a:pPr>
            <a:r>
              <a:rPr lang="en-US" sz="1150" b="1" kern="0" spc="150" dirty="0">
                <a:solidFill>
                  <a:srgbClr val="6B7796"/>
                </a:solidFill>
                <a:latin typeface="Segoe UI Semibold" pitchFamily="34" charset="0"/>
                <a:ea typeface="Segoe UI Semibold" pitchFamily="34" charset="-122"/>
                <a:cs typeface="Segoe UI Semibold" pitchFamily="34" charset="-120"/>
              </a:rPr>
              <a:t>Built with</a:t>
            </a:r>
            <a:endParaRPr lang="en-US" sz="1150" dirty="0"/>
          </a:p>
        </p:txBody>
      </p:sp>
      <p:sp>
        <p:nvSpPr>
          <p:cNvPr id="53" name="Shape 51"/>
          <p:cNvSpPr/>
          <p:nvPr/>
        </p:nvSpPr>
        <p:spPr>
          <a:xfrm>
            <a:off x="5943600" y="5394960"/>
            <a:ext cx="957377" cy="329184"/>
          </a:xfrm>
          <a:prstGeom prst="roundRect">
            <a:avLst>
              <a:gd name="adj" fmla="val 25000"/>
            </a:avLst>
          </a:prstGeom>
          <a:solidFill>
            <a:srgbClr val="0B1233"/>
          </a:solidFill>
          <a:ln w="12700">
            <a:solidFill>
              <a:srgbClr val="333333"/>
            </a:solidFill>
            <a:prstDash val="solid"/>
          </a:ln>
        </p:spPr>
      </p:sp>
      <p:sp>
        <p:nvSpPr>
          <p:cNvPr id="54" name="Text 52"/>
          <p:cNvSpPr/>
          <p:nvPr/>
        </p:nvSpPr>
        <p:spPr>
          <a:xfrm>
            <a:off x="5943600" y="5394960"/>
            <a:ext cx="957377" cy="329184"/>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Streamlit</a:t>
            </a:r>
            <a:endParaRPr lang="en-US" sz="1100" dirty="0"/>
          </a:p>
        </p:txBody>
      </p:sp>
      <p:sp>
        <p:nvSpPr>
          <p:cNvPr id="55" name="Shape 53"/>
          <p:cNvSpPr/>
          <p:nvPr/>
        </p:nvSpPr>
        <p:spPr>
          <a:xfrm>
            <a:off x="7019849" y="5394960"/>
            <a:ext cx="729691" cy="329184"/>
          </a:xfrm>
          <a:prstGeom prst="roundRect">
            <a:avLst>
              <a:gd name="adj" fmla="val 25000"/>
            </a:avLst>
          </a:prstGeom>
          <a:solidFill>
            <a:srgbClr val="0B1233"/>
          </a:solidFill>
          <a:ln w="12700">
            <a:solidFill>
              <a:srgbClr val="333333"/>
            </a:solidFill>
            <a:prstDash val="solid"/>
          </a:ln>
        </p:spPr>
      </p:sp>
      <p:sp>
        <p:nvSpPr>
          <p:cNvPr id="56" name="Text 54"/>
          <p:cNvSpPr/>
          <p:nvPr/>
        </p:nvSpPr>
        <p:spPr>
          <a:xfrm>
            <a:off x="7019849" y="5394960"/>
            <a:ext cx="729691" cy="329184"/>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Plotly</a:t>
            </a:r>
            <a:endParaRPr lang="en-US" sz="1100" dirty="0"/>
          </a:p>
        </p:txBody>
      </p:sp>
      <p:sp>
        <p:nvSpPr>
          <p:cNvPr id="57" name="Shape 55"/>
          <p:cNvSpPr/>
          <p:nvPr/>
        </p:nvSpPr>
        <p:spPr>
          <a:xfrm>
            <a:off x="7868412" y="5394960"/>
            <a:ext cx="729691" cy="329184"/>
          </a:xfrm>
          <a:prstGeom prst="roundRect">
            <a:avLst>
              <a:gd name="adj" fmla="val 25000"/>
            </a:avLst>
          </a:prstGeom>
          <a:solidFill>
            <a:srgbClr val="0B1233"/>
          </a:solidFill>
          <a:ln w="12700">
            <a:solidFill>
              <a:srgbClr val="333333"/>
            </a:solidFill>
            <a:prstDash val="solid"/>
          </a:ln>
        </p:spPr>
      </p:sp>
      <p:sp>
        <p:nvSpPr>
          <p:cNvPr id="58" name="Text 56"/>
          <p:cNvSpPr/>
          <p:nvPr/>
        </p:nvSpPr>
        <p:spPr>
          <a:xfrm>
            <a:off x="7868412" y="5394960"/>
            <a:ext cx="729691" cy="329184"/>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pandas</a:t>
            </a:r>
            <a:endParaRPr lang="en-US" sz="1100" dirty="0"/>
          </a:p>
        </p:txBody>
      </p:sp>
      <p:sp>
        <p:nvSpPr>
          <p:cNvPr id="59" name="Shape 57"/>
          <p:cNvSpPr/>
          <p:nvPr/>
        </p:nvSpPr>
        <p:spPr>
          <a:xfrm>
            <a:off x="8716975" y="5394960"/>
            <a:ext cx="653796" cy="329184"/>
          </a:xfrm>
          <a:prstGeom prst="roundRect">
            <a:avLst>
              <a:gd name="adj" fmla="val 25000"/>
            </a:avLst>
          </a:prstGeom>
          <a:solidFill>
            <a:srgbClr val="0B1233"/>
          </a:solidFill>
          <a:ln w="12700">
            <a:solidFill>
              <a:srgbClr val="333333"/>
            </a:solidFill>
            <a:prstDash val="solid"/>
          </a:ln>
        </p:spPr>
      </p:sp>
      <p:sp>
        <p:nvSpPr>
          <p:cNvPr id="60" name="Text 58"/>
          <p:cNvSpPr/>
          <p:nvPr/>
        </p:nvSpPr>
        <p:spPr>
          <a:xfrm>
            <a:off x="8716975" y="5394960"/>
            <a:ext cx="653796" cy="329184"/>
          </a:xfrm>
          <a:prstGeom prst="rect">
            <a:avLst/>
          </a:prstGeom>
          <a:noFill/>
          <a:ln/>
        </p:spPr>
        <p:txBody>
          <a:bodyPr wrap="square" lIns="0" tIns="0" rIns="0" bIns="0" rtlCol="0" anchor="ctr"/>
          <a:lstStyle/>
          <a:p>
            <a:pPr marL="0" indent="0" algn="ctr">
              <a:buNone/>
            </a:pPr>
            <a:r>
              <a:rPr lang="en-US" sz="1100" b="1" dirty="0">
                <a:solidFill>
                  <a:srgbClr val="C8D6F4"/>
                </a:solidFill>
                <a:latin typeface="Segoe UI" pitchFamily="34" charset="0"/>
                <a:ea typeface="Segoe UI" pitchFamily="34" charset="-122"/>
                <a:cs typeface="Segoe UI" pitchFamily="34" charset="-120"/>
              </a:rPr>
              <a:t>NumPy</a:t>
            </a:r>
            <a:endParaRPr lang="en-US" sz="1100" dirty="0"/>
          </a:p>
        </p:txBody>
      </p:sp>
      <p:sp>
        <p:nvSpPr>
          <p:cNvPr id="61" name="Text 59"/>
          <p:cNvSpPr/>
          <p:nvPr/>
        </p:nvSpPr>
        <p:spPr>
          <a:xfrm>
            <a:off x="548640" y="6547104"/>
            <a:ext cx="7315200" cy="237744"/>
          </a:xfrm>
          <a:prstGeom prst="rect">
            <a:avLst/>
          </a:prstGeom>
          <a:noFill/>
          <a:ln/>
        </p:spPr>
        <p:txBody>
          <a:bodyPr wrap="square" lIns="0" tIns="0" rIns="0" bIns="0" rtlCol="0" anchor="ctr"/>
          <a:lstStyle/>
          <a:p>
            <a:pPr marL="0" indent="0">
              <a:buNone/>
            </a:pPr>
            <a:r>
              <a:rPr lang="en-US" sz="900" dirty="0">
                <a:solidFill>
                  <a:srgbClr val="6B7796"/>
                </a:solidFill>
                <a:latin typeface="Segoe UI" pitchFamily="34" charset="0"/>
                <a:ea typeface="Segoe UI" pitchFamily="34" charset="-122"/>
                <a:cs typeface="Segoe UI" pitchFamily="34" charset="-120"/>
              </a:rPr>
              <a:t>PSX Buy / Sell Signal Prediction System</a:t>
            </a:r>
            <a:endParaRPr lang="en-US" sz="900" dirty="0"/>
          </a:p>
        </p:txBody>
      </p:sp>
      <p:sp>
        <p:nvSpPr>
          <p:cNvPr id="62" name="Text 60"/>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00" dirty="0">
                <a:solidFill>
                  <a:srgbClr val="6B7796"/>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1E"/>
        </a:solidFill>
        <a:effectLst/>
      </p:bgPr>
    </p:bg>
    <p:spTree>
      <p:nvGrpSpPr>
        <p:cNvPr id="1" name=""/>
        <p:cNvGrpSpPr/>
        <p:nvPr/>
      </p:nvGrpSpPr>
      <p:grpSpPr>
        <a:xfrm>
          <a:off x="0" y="0"/>
          <a:ext cx="0" cy="0"/>
          <a:chOff x="0" y="0"/>
          <a:chExt cx="0" cy="0"/>
        </a:xfrm>
      </p:grpSpPr>
      <p:sp>
        <p:nvSpPr>
          <p:cNvPr id="2" name="Text 0"/>
          <p:cNvSpPr/>
          <p:nvPr/>
        </p:nvSpPr>
        <p:spPr>
          <a:xfrm>
            <a:off x="548640" y="256903"/>
            <a:ext cx="3464379" cy="233499"/>
          </a:xfrm>
          <a:prstGeom prst="rect">
            <a:avLst/>
          </a:prstGeom>
          <a:noFill/>
          <a:ln/>
        </p:spPr>
        <p:txBody>
          <a:bodyPr wrap="square" lIns="0" tIns="0" rIns="0" bIns="0" rtlCol="0" anchor="ctr"/>
          <a:lstStyle/>
          <a:p>
            <a:pPr marL="0" indent="0">
              <a:buNone/>
            </a:pPr>
            <a:r>
              <a:rPr lang="en-US" sz="1200" b="1" kern="0" spc="250" dirty="0">
                <a:solidFill>
                  <a:srgbClr val="00D4FF"/>
                </a:solidFill>
                <a:latin typeface="Segoe UI Semibold" pitchFamily="34" charset="0"/>
                <a:ea typeface="Segoe UI Semibold" pitchFamily="34" charset="-122"/>
                <a:cs typeface="Segoe UI Semibold" pitchFamily="34" charset="-120"/>
              </a:rPr>
              <a:t>DASHBOARD PREVIEW</a:t>
            </a:r>
            <a:endParaRPr lang="en-US" sz="1200" dirty="0"/>
          </a:p>
        </p:txBody>
      </p:sp>
      <p:pic>
        <p:nvPicPr>
          <p:cNvPr id="47" name="Picture 46">
            <a:extLst>
              <a:ext uri="{FF2B5EF4-FFF2-40B4-BE49-F238E27FC236}">
                <a16:creationId xmlns:a16="http://schemas.microsoft.com/office/drawing/2014/main" id="{FF82E90A-99DE-79A7-303E-BE91982CDD3B}"/>
              </a:ext>
            </a:extLst>
          </p:cNvPr>
          <p:cNvPicPr>
            <a:picLocks noChangeAspect="1"/>
          </p:cNvPicPr>
          <p:nvPr/>
        </p:nvPicPr>
        <p:blipFill>
          <a:blip r:embed="rId3"/>
          <a:stretch>
            <a:fillRect/>
          </a:stretch>
        </p:blipFill>
        <p:spPr>
          <a:xfrm>
            <a:off x="299358" y="679520"/>
            <a:ext cx="11572875" cy="58935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C1E"/>
        </a:solidFill>
        <a:effectLst/>
      </p:bgPr>
    </p:bg>
    <p:spTree>
      <p:nvGrpSpPr>
        <p:cNvPr id="1" name="">
          <a:extLst>
            <a:ext uri="{FF2B5EF4-FFF2-40B4-BE49-F238E27FC236}">
              <a16:creationId xmlns:a16="http://schemas.microsoft.com/office/drawing/2014/main" id="{5ED87C5D-C59F-8CBA-685A-61E46620C655}"/>
            </a:ext>
          </a:extLst>
        </p:cNvPr>
        <p:cNvGrpSpPr/>
        <p:nvPr/>
      </p:nvGrpSpPr>
      <p:grpSpPr>
        <a:xfrm>
          <a:off x="0" y="0"/>
          <a:ext cx="0" cy="0"/>
          <a:chOff x="0" y="0"/>
          <a:chExt cx="0" cy="0"/>
        </a:xfrm>
      </p:grpSpPr>
      <p:pic>
        <p:nvPicPr>
          <p:cNvPr id="47" name="Picture 46" descr="A screenshot of a computer&#10;&#10;AI-generated content may be incorrect.">
            <a:extLst>
              <a:ext uri="{FF2B5EF4-FFF2-40B4-BE49-F238E27FC236}">
                <a16:creationId xmlns:a16="http://schemas.microsoft.com/office/drawing/2014/main" id="{ED399D2B-7CF4-458D-011E-7B70FC3C3094}"/>
              </a:ext>
            </a:extLst>
          </p:cNvPr>
          <p:cNvPicPr>
            <a:picLocks noChangeAspect="1"/>
          </p:cNvPicPr>
          <p:nvPr/>
        </p:nvPicPr>
        <p:blipFill>
          <a:blip r:embed="rId3"/>
          <a:stretch>
            <a:fillRect/>
          </a:stretch>
        </p:blipFill>
        <p:spPr>
          <a:xfrm>
            <a:off x="0" y="1181199"/>
            <a:ext cx="12192000" cy="4495602"/>
          </a:xfrm>
          <a:prstGeom prst="rect">
            <a:avLst/>
          </a:prstGeom>
        </p:spPr>
      </p:pic>
      <p:sp>
        <p:nvSpPr>
          <p:cNvPr id="49" name="Text 0">
            <a:extLst>
              <a:ext uri="{FF2B5EF4-FFF2-40B4-BE49-F238E27FC236}">
                <a16:creationId xmlns:a16="http://schemas.microsoft.com/office/drawing/2014/main" id="{DC4B349E-B9BE-C5C8-A4E7-15E0D21B6870}"/>
              </a:ext>
            </a:extLst>
          </p:cNvPr>
          <p:cNvSpPr/>
          <p:nvPr/>
        </p:nvSpPr>
        <p:spPr>
          <a:xfrm>
            <a:off x="460194" y="658314"/>
            <a:ext cx="3464379" cy="233499"/>
          </a:xfrm>
          <a:prstGeom prst="rect">
            <a:avLst/>
          </a:prstGeom>
          <a:noFill/>
          <a:ln/>
        </p:spPr>
        <p:txBody>
          <a:bodyPr wrap="square" lIns="0" tIns="0" rIns="0" bIns="0" rtlCol="0" anchor="ctr"/>
          <a:lstStyle/>
          <a:p>
            <a:r>
              <a:rPr lang="en-US" sz="1200" b="1" kern="0" spc="250">
                <a:solidFill>
                  <a:srgbClr val="00D4FF"/>
                </a:solidFill>
                <a:latin typeface="Segoe UI Semibold"/>
                <a:cs typeface="Segoe UI Semibold"/>
              </a:rPr>
              <a:t>MODEL COMPARISON</a:t>
            </a:r>
            <a:endParaRPr lang="en-US" sz="1200" b="1" kern="0" spc="250" dirty="0">
              <a:solidFill>
                <a:srgbClr val="00D4FF"/>
              </a:solidFill>
              <a:latin typeface="Segoe UI Semibold"/>
              <a:cs typeface="Segoe UI Semibold"/>
            </a:endParaRPr>
          </a:p>
        </p:txBody>
      </p:sp>
    </p:spTree>
    <p:extLst>
      <p:ext uri="{BB962C8B-B14F-4D97-AF65-F5344CB8AC3E}">
        <p14:creationId xmlns:p14="http://schemas.microsoft.com/office/powerpoint/2010/main" val="49400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C1E"/>
        </a:solidFill>
        <a:effectLst/>
      </p:bgPr>
    </p:bg>
    <p:spTree>
      <p:nvGrpSpPr>
        <p:cNvPr id="1" name="">
          <a:extLst>
            <a:ext uri="{FF2B5EF4-FFF2-40B4-BE49-F238E27FC236}">
              <a16:creationId xmlns:a16="http://schemas.microsoft.com/office/drawing/2014/main" id="{C915BB7E-B99A-F264-FFF7-CFCDC58B915C}"/>
            </a:ext>
          </a:extLst>
        </p:cNvPr>
        <p:cNvGrpSpPr/>
        <p:nvPr/>
      </p:nvGrpSpPr>
      <p:grpSpPr>
        <a:xfrm>
          <a:off x="0" y="0"/>
          <a:ext cx="0" cy="0"/>
          <a:chOff x="0" y="0"/>
          <a:chExt cx="0" cy="0"/>
        </a:xfrm>
      </p:grpSpPr>
      <p:pic>
        <p:nvPicPr>
          <p:cNvPr id="47" name="Picture 46" descr="A screenshot of a computer&#10;&#10;AI-generated content may be incorrect.">
            <a:extLst>
              <a:ext uri="{FF2B5EF4-FFF2-40B4-BE49-F238E27FC236}">
                <a16:creationId xmlns:a16="http://schemas.microsoft.com/office/drawing/2014/main" id="{9BDFADC8-72AB-985A-441B-202E2EBCCA8B}"/>
              </a:ext>
            </a:extLst>
          </p:cNvPr>
          <p:cNvPicPr>
            <a:picLocks noChangeAspect="1"/>
          </p:cNvPicPr>
          <p:nvPr/>
        </p:nvPicPr>
        <p:blipFill>
          <a:blip r:embed="rId3"/>
          <a:srcRect l="1149" r="1149" b="26286"/>
          <a:stretch>
            <a:fillRect/>
          </a:stretch>
        </p:blipFill>
        <p:spPr>
          <a:xfrm>
            <a:off x="546740" y="960505"/>
            <a:ext cx="7609297" cy="5442861"/>
          </a:xfrm>
          <a:prstGeom prst="rect">
            <a:avLst/>
          </a:prstGeom>
        </p:spPr>
      </p:pic>
      <p:sp>
        <p:nvSpPr>
          <p:cNvPr id="50" name="Text 0">
            <a:extLst>
              <a:ext uri="{FF2B5EF4-FFF2-40B4-BE49-F238E27FC236}">
                <a16:creationId xmlns:a16="http://schemas.microsoft.com/office/drawing/2014/main" id="{290972EA-5F07-B73F-9D59-067A28040C45}"/>
              </a:ext>
            </a:extLst>
          </p:cNvPr>
          <p:cNvSpPr/>
          <p:nvPr/>
        </p:nvSpPr>
        <p:spPr>
          <a:xfrm>
            <a:off x="548640" y="455407"/>
            <a:ext cx="3464379" cy="233499"/>
          </a:xfrm>
          <a:prstGeom prst="rect">
            <a:avLst/>
          </a:prstGeom>
          <a:noFill/>
          <a:ln/>
        </p:spPr>
        <p:txBody>
          <a:bodyPr wrap="square" lIns="0" tIns="0" rIns="0" bIns="0" rtlCol="0" anchor="ctr"/>
          <a:lstStyle/>
          <a:p>
            <a:r>
              <a:rPr lang="en-US" sz="1200" b="1" kern="0" spc="250">
                <a:solidFill>
                  <a:srgbClr val="00D4FF"/>
                </a:solidFill>
                <a:latin typeface="Segoe UI Semibold"/>
                <a:cs typeface="Segoe UI Semibold"/>
              </a:rPr>
              <a:t>RECOMMENDED STOCKS BUY/SELL</a:t>
            </a:r>
            <a:endParaRPr lang="en-US" sz="1200" b="1" kern="0" spc="250" dirty="0">
              <a:solidFill>
                <a:srgbClr val="00D4FF"/>
              </a:solidFill>
              <a:latin typeface="Segoe UI Semibold"/>
              <a:cs typeface="Segoe UI Semibold"/>
            </a:endParaRPr>
          </a:p>
        </p:txBody>
      </p:sp>
    </p:spTree>
    <p:extLst>
      <p:ext uri="{BB962C8B-B14F-4D97-AF65-F5344CB8AC3E}">
        <p14:creationId xmlns:p14="http://schemas.microsoft.com/office/powerpoint/2010/main" val="3634973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C1E"/>
        </a:solidFill>
        <a:effectLst/>
      </p:bgPr>
    </p:bg>
    <p:spTree>
      <p:nvGrpSpPr>
        <p:cNvPr id="1" name="">
          <a:extLst>
            <a:ext uri="{FF2B5EF4-FFF2-40B4-BE49-F238E27FC236}">
              <a16:creationId xmlns:a16="http://schemas.microsoft.com/office/drawing/2014/main" id="{AD65C7C9-6048-73E9-3D72-ED2873CC7C8B}"/>
            </a:ext>
          </a:extLst>
        </p:cNvPr>
        <p:cNvGrpSpPr/>
        <p:nvPr/>
      </p:nvGrpSpPr>
      <p:grpSpPr>
        <a:xfrm>
          <a:off x="0" y="0"/>
          <a:ext cx="0" cy="0"/>
          <a:chOff x="0" y="0"/>
          <a:chExt cx="0" cy="0"/>
        </a:xfrm>
      </p:grpSpPr>
      <p:pic>
        <p:nvPicPr>
          <p:cNvPr id="47" name="Picture 46" descr="A screenshot of a graph&#10;&#10;AI-generated content may be incorrect.">
            <a:extLst>
              <a:ext uri="{FF2B5EF4-FFF2-40B4-BE49-F238E27FC236}">
                <a16:creationId xmlns:a16="http://schemas.microsoft.com/office/drawing/2014/main" id="{802DF5EF-E395-482F-A3A6-10ECDA193F9C}"/>
              </a:ext>
            </a:extLst>
          </p:cNvPr>
          <p:cNvPicPr>
            <a:picLocks noChangeAspect="1"/>
          </p:cNvPicPr>
          <p:nvPr/>
        </p:nvPicPr>
        <p:blipFill>
          <a:blip r:embed="rId3"/>
          <a:srcRect b="55766"/>
          <a:stretch>
            <a:fillRect/>
          </a:stretch>
        </p:blipFill>
        <p:spPr>
          <a:xfrm>
            <a:off x="285750" y="982324"/>
            <a:ext cx="11552465" cy="2062185"/>
          </a:xfrm>
          <a:prstGeom prst="rect">
            <a:avLst/>
          </a:prstGeom>
        </p:spPr>
      </p:pic>
      <p:pic>
        <p:nvPicPr>
          <p:cNvPr id="48" name="Picture 47" descr="A screen shot of a graph&#10;&#10;AI-generated content may be incorrect.">
            <a:extLst>
              <a:ext uri="{FF2B5EF4-FFF2-40B4-BE49-F238E27FC236}">
                <a16:creationId xmlns:a16="http://schemas.microsoft.com/office/drawing/2014/main" id="{8ECA7866-5825-B471-7A57-C159612B44D2}"/>
              </a:ext>
            </a:extLst>
          </p:cNvPr>
          <p:cNvPicPr>
            <a:picLocks noChangeAspect="1"/>
          </p:cNvPicPr>
          <p:nvPr/>
        </p:nvPicPr>
        <p:blipFill>
          <a:blip r:embed="rId4"/>
          <a:srcRect l="88" r="-81" b="32714"/>
          <a:stretch>
            <a:fillRect/>
          </a:stretch>
        </p:blipFill>
        <p:spPr>
          <a:xfrm>
            <a:off x="283062" y="3333514"/>
            <a:ext cx="11565273" cy="3067452"/>
          </a:xfrm>
          <a:prstGeom prst="rect">
            <a:avLst/>
          </a:prstGeom>
        </p:spPr>
      </p:pic>
      <p:sp>
        <p:nvSpPr>
          <p:cNvPr id="50" name="Text 0">
            <a:extLst>
              <a:ext uri="{FF2B5EF4-FFF2-40B4-BE49-F238E27FC236}">
                <a16:creationId xmlns:a16="http://schemas.microsoft.com/office/drawing/2014/main" id="{2537952F-F368-ED15-57D9-219116FABF7C}"/>
              </a:ext>
            </a:extLst>
          </p:cNvPr>
          <p:cNvSpPr/>
          <p:nvPr/>
        </p:nvSpPr>
        <p:spPr>
          <a:xfrm>
            <a:off x="453390" y="637903"/>
            <a:ext cx="3464379" cy="233499"/>
          </a:xfrm>
          <a:prstGeom prst="rect">
            <a:avLst/>
          </a:prstGeom>
          <a:noFill/>
          <a:ln/>
        </p:spPr>
        <p:txBody>
          <a:bodyPr wrap="square" lIns="0" tIns="0" rIns="0" bIns="0" rtlCol="0" anchor="ctr"/>
          <a:lstStyle/>
          <a:p>
            <a:r>
              <a:rPr lang="en-US" sz="1200" b="1" kern="0" spc="250">
                <a:solidFill>
                  <a:srgbClr val="00D4FF"/>
                </a:solidFill>
                <a:latin typeface="Segoe UI Semibold"/>
                <a:cs typeface="Segoe UI Semibold"/>
              </a:rPr>
              <a:t>DECISION RECOMMENDERS</a:t>
            </a:r>
            <a:endParaRPr lang="en-US" sz="1200" b="1" kern="0" spc="250" dirty="0">
              <a:solidFill>
                <a:srgbClr val="00D4FF"/>
              </a:solidFill>
              <a:latin typeface="Segoe UI Semibold"/>
              <a:cs typeface="Segoe UI Semibold"/>
            </a:endParaRPr>
          </a:p>
        </p:txBody>
      </p:sp>
    </p:spTree>
    <p:extLst>
      <p:ext uri="{BB962C8B-B14F-4D97-AF65-F5344CB8AC3E}">
        <p14:creationId xmlns:p14="http://schemas.microsoft.com/office/powerpoint/2010/main" val="2961627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B1233"/>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00D4FF">
              <a:alpha val="14000"/>
            </a:srgbClr>
          </a:solidFill>
          <a:ln w="12700">
            <a:solidFill>
              <a:srgbClr val="333333"/>
            </a:solidFill>
            <a:prstDash val="solid"/>
          </a:ln>
        </p:spPr>
      </p:sp>
      <p:sp>
        <p:nvSpPr>
          <p:cNvPr id="3" name="Shape 1"/>
          <p:cNvSpPr/>
          <p:nvPr/>
        </p:nvSpPr>
        <p:spPr>
          <a:xfrm>
            <a:off x="9448495" y="4023360"/>
            <a:ext cx="4297680" cy="4297680"/>
          </a:xfrm>
          <a:prstGeom prst="ellipse">
            <a:avLst/>
          </a:prstGeom>
          <a:solidFill>
            <a:srgbClr val="D81E7A">
              <a:alpha val="12000"/>
            </a:srgbClr>
          </a:solidFill>
          <a:ln w="12700">
            <a:solidFill>
              <a:srgbClr val="333333"/>
            </a:solidFill>
            <a:prstDash val="solid"/>
          </a:ln>
        </p:spPr>
      </p:sp>
      <p:sp>
        <p:nvSpPr>
          <p:cNvPr id="4" name="Shape 2"/>
          <p:cNvSpPr/>
          <p:nvPr/>
        </p:nvSpPr>
        <p:spPr>
          <a:xfrm>
            <a:off x="7985455" y="-2011680"/>
            <a:ext cx="3657600" cy="3657600"/>
          </a:xfrm>
          <a:prstGeom prst="ellipse">
            <a:avLst/>
          </a:prstGeom>
          <a:solidFill>
            <a:srgbClr val="FFB703">
              <a:alpha val="10000"/>
            </a:srgbClr>
          </a:solidFill>
          <a:ln w="12700">
            <a:solidFill>
              <a:srgbClr val="333333"/>
            </a:solidFill>
            <a:prstDash val="solid"/>
          </a:ln>
        </p:spPr>
      </p:sp>
      <p:sp>
        <p:nvSpPr>
          <p:cNvPr id="5" name="Text 3"/>
          <p:cNvSpPr/>
          <p:nvPr/>
        </p:nvSpPr>
        <p:spPr>
          <a:xfrm>
            <a:off x="548640" y="640080"/>
            <a:ext cx="7315200" cy="274320"/>
          </a:xfrm>
          <a:prstGeom prst="rect">
            <a:avLst/>
          </a:prstGeom>
          <a:noFill/>
          <a:ln/>
        </p:spPr>
        <p:txBody>
          <a:bodyPr wrap="square" lIns="0" tIns="0" rIns="0" bIns="0" rtlCol="0" anchor="ctr"/>
          <a:lstStyle/>
          <a:p>
            <a:pPr marL="0" indent="0">
              <a:buNone/>
            </a:pPr>
            <a:r>
              <a:rPr lang="en-US" sz="1250" b="1" kern="0" spc="300" dirty="0">
                <a:solidFill>
                  <a:srgbClr val="00D4FF"/>
                </a:solidFill>
                <a:latin typeface="Segoe UI Semibold" pitchFamily="34" charset="0"/>
                <a:ea typeface="Segoe UI Semibold" pitchFamily="34" charset="-122"/>
                <a:cs typeface="Segoe UI Semibold" pitchFamily="34" charset="-120"/>
              </a:rPr>
              <a:t>CONCLUSION</a:t>
            </a:r>
            <a:endParaRPr lang="en-US" sz="1250" dirty="0"/>
          </a:p>
        </p:txBody>
      </p:sp>
      <p:sp>
        <p:nvSpPr>
          <p:cNvPr id="6" name="Text 4"/>
          <p:cNvSpPr/>
          <p:nvPr/>
        </p:nvSpPr>
        <p:spPr>
          <a:xfrm>
            <a:off x="548640" y="914400"/>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Segoe UI Semibold" pitchFamily="34" charset="0"/>
                <a:ea typeface="Segoe UI Semibold" pitchFamily="34" charset="-122"/>
                <a:cs typeface="Segoe UI Semibold" pitchFamily="34" charset="-120"/>
              </a:rPr>
              <a:t>What we built — and where it goes next</a:t>
            </a:r>
            <a:endParaRPr lang="en-US" sz="3000" dirty="0"/>
          </a:p>
        </p:txBody>
      </p:sp>
      <p:sp>
        <p:nvSpPr>
          <p:cNvPr id="7" name="Shape 5"/>
          <p:cNvSpPr/>
          <p:nvPr/>
        </p:nvSpPr>
        <p:spPr>
          <a:xfrm>
            <a:off x="548640" y="1828800"/>
            <a:ext cx="5440680" cy="3154680"/>
          </a:xfrm>
          <a:prstGeom prst="roundRect">
            <a:avLst>
              <a:gd name="adj" fmla="val 3478"/>
            </a:avLst>
          </a:prstGeom>
          <a:solidFill>
            <a:srgbClr val="14213F"/>
          </a:solidFill>
          <a:ln w="12700">
            <a:solidFill>
              <a:srgbClr val="2B3A66"/>
            </a:solidFill>
            <a:prstDash val="solid"/>
          </a:ln>
          <a:effectLst>
            <a:outerShdw blurRad="88900" dist="25400" dir="5400000" algn="bl" rotWithShape="0">
              <a:srgbClr val="5B6B92">
                <a:alpha val="18000"/>
              </a:srgbClr>
            </a:outerShdw>
          </a:effectLst>
        </p:spPr>
      </p:sp>
      <p:sp>
        <p:nvSpPr>
          <p:cNvPr id="8" name="Text 6"/>
          <p:cNvSpPr/>
          <p:nvPr/>
        </p:nvSpPr>
        <p:spPr>
          <a:xfrm>
            <a:off x="822960" y="2029968"/>
            <a:ext cx="4892040" cy="329184"/>
          </a:xfrm>
          <a:prstGeom prst="rect">
            <a:avLst/>
          </a:prstGeom>
          <a:noFill/>
          <a:ln/>
        </p:spPr>
        <p:txBody>
          <a:bodyPr wrap="square" lIns="0" tIns="0" rIns="0" bIns="0" rtlCol="0" anchor="ctr"/>
          <a:lstStyle/>
          <a:p>
            <a:pPr marL="0" indent="0">
              <a:buNone/>
            </a:pPr>
            <a:r>
              <a:rPr lang="en-US" sz="1600" b="1" dirty="0">
                <a:solidFill>
                  <a:srgbClr val="00D4FF"/>
                </a:solidFill>
                <a:latin typeface="Segoe UI Semibold" pitchFamily="34" charset="0"/>
                <a:ea typeface="Segoe UI Semibold" pitchFamily="34" charset="-122"/>
                <a:cs typeface="Segoe UI Semibold" pitchFamily="34" charset="-120"/>
              </a:rPr>
              <a:t>What we delivered</a:t>
            </a:r>
            <a:endParaRPr lang="en-US" sz="1600" dirty="0"/>
          </a:p>
        </p:txBody>
      </p:sp>
      <p:sp>
        <p:nvSpPr>
          <p:cNvPr id="9" name="Text 7"/>
          <p:cNvSpPr/>
          <p:nvPr/>
        </p:nvSpPr>
        <p:spPr>
          <a:xfrm>
            <a:off x="859536" y="2414016"/>
            <a:ext cx="4873752" cy="2423160"/>
          </a:xfrm>
          <a:prstGeom prst="rect">
            <a:avLst/>
          </a:prstGeom>
          <a:noFill/>
          <a:ln/>
        </p:spPr>
        <p:txBody>
          <a:bodyPr wrap="square" lIns="0" tIns="0" rIns="0" bIns="0" rtlCol="0" anchor="t"/>
          <a:lstStyle/>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A complete, automated PSX ML pipeline (one command end-to-end)</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Two models — Random Forest &amp; LightGBM — on a 5-year, 3,768-ticker dataset</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Explainable BUY / SELL signals with strict, ATR-based risk controls</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A risk-managed backtest with a full trade log and equity curve</a:t>
            </a:r>
            <a:endParaRPr lang="en-US" sz="1250" dirty="0"/>
          </a:p>
          <a:p>
            <a:pPr marL="203200" indent="-203200">
              <a:lnSpc>
                <a:spcPct val="102000"/>
              </a:lnSpc>
              <a:buSzPct val="100000"/>
              <a:buChar char="•"/>
            </a:pPr>
            <a:r>
              <a:rPr lang="en-US" sz="1250" dirty="0">
                <a:solidFill>
                  <a:srgbClr val="C8D6F4"/>
                </a:solidFill>
                <a:latin typeface="Segoe UI" pitchFamily="34" charset="0"/>
                <a:ea typeface="Segoe UI" pitchFamily="34" charset="-122"/>
                <a:cs typeface="Segoe UI" pitchFamily="34" charset="-120"/>
              </a:rPr>
              <a:t>An interactive 7-page Streamlit comparison dashboard &amp; paper simulator</a:t>
            </a:r>
            <a:endParaRPr lang="en-US" sz="1250" dirty="0"/>
          </a:p>
        </p:txBody>
      </p:sp>
      <p:sp>
        <p:nvSpPr>
          <p:cNvPr id="10" name="Shape 8"/>
          <p:cNvSpPr/>
          <p:nvPr/>
        </p:nvSpPr>
        <p:spPr>
          <a:xfrm>
            <a:off x="6199632" y="1828800"/>
            <a:ext cx="5440680" cy="3154680"/>
          </a:xfrm>
          <a:prstGeom prst="roundRect">
            <a:avLst>
              <a:gd name="adj" fmla="val 3478"/>
            </a:avLst>
          </a:prstGeom>
          <a:solidFill>
            <a:srgbClr val="14213F"/>
          </a:solidFill>
          <a:ln w="12700">
            <a:solidFill>
              <a:srgbClr val="2B3A66"/>
            </a:solidFill>
            <a:prstDash val="solid"/>
          </a:ln>
          <a:effectLst>
            <a:outerShdw blurRad="88900" dist="25400" dir="5400000" algn="bl" rotWithShape="0">
              <a:srgbClr val="5B6B92">
                <a:alpha val="18000"/>
              </a:srgbClr>
            </a:outerShdw>
          </a:effectLst>
        </p:spPr>
      </p:sp>
      <p:sp>
        <p:nvSpPr>
          <p:cNvPr id="11" name="Text 9"/>
          <p:cNvSpPr/>
          <p:nvPr/>
        </p:nvSpPr>
        <p:spPr>
          <a:xfrm>
            <a:off x="6473952" y="2029968"/>
            <a:ext cx="4892040" cy="329184"/>
          </a:xfrm>
          <a:prstGeom prst="rect">
            <a:avLst/>
          </a:prstGeom>
          <a:noFill/>
          <a:ln/>
        </p:spPr>
        <p:txBody>
          <a:bodyPr wrap="square" lIns="0" tIns="0" rIns="0" bIns="0" rtlCol="0" anchor="ctr"/>
          <a:lstStyle/>
          <a:p>
            <a:pPr marL="0" indent="0">
              <a:buNone/>
            </a:pPr>
            <a:r>
              <a:rPr lang="en-US" sz="1600" b="1" dirty="0">
                <a:solidFill>
                  <a:srgbClr val="FFB703"/>
                </a:solidFill>
                <a:latin typeface="Segoe UI Semibold" pitchFamily="34" charset="0"/>
                <a:ea typeface="Segoe UI Semibold" pitchFamily="34" charset="-122"/>
                <a:cs typeface="Segoe UI Semibold" pitchFamily="34" charset="-120"/>
              </a:rPr>
              <a:t>Limitations &amp; next steps</a:t>
            </a:r>
            <a:endParaRPr lang="en-US" sz="1600" dirty="0"/>
          </a:p>
        </p:txBody>
      </p:sp>
      <p:sp>
        <p:nvSpPr>
          <p:cNvPr id="12" name="Text 10"/>
          <p:cNvSpPr/>
          <p:nvPr/>
        </p:nvSpPr>
        <p:spPr>
          <a:xfrm>
            <a:off x="6510528" y="2414016"/>
            <a:ext cx="4873752" cy="2423160"/>
          </a:xfrm>
          <a:prstGeom prst="rect">
            <a:avLst/>
          </a:prstGeom>
          <a:noFill/>
          <a:ln/>
        </p:spPr>
        <p:txBody>
          <a:bodyPr wrap="square" lIns="0" tIns="0" rIns="0" bIns="0" rtlCol="0" anchor="t"/>
          <a:lstStyle/>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Add walk-forward validation &amp; guard against look-ahead bias</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Model transaction costs, slippage &amp; liquidity limits</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Explore deep-learning sequence models (LSTM / Transformers)</a:t>
            </a:r>
            <a:endParaRPr lang="en-US" sz="1250" dirty="0"/>
          </a:p>
          <a:p>
            <a:pPr marL="203200" indent="-203200">
              <a:lnSpc>
                <a:spcPct val="102000"/>
              </a:lnSpc>
              <a:spcAft>
                <a:spcPts val="900"/>
              </a:spcAft>
              <a:buSzPct val="100000"/>
              <a:buChar char="•"/>
            </a:pPr>
            <a:r>
              <a:rPr lang="en-US" sz="1250" dirty="0">
                <a:solidFill>
                  <a:srgbClr val="C8D6F4"/>
                </a:solidFill>
                <a:latin typeface="Segoe UI" pitchFamily="34" charset="0"/>
                <a:ea typeface="Segoe UI" pitchFamily="34" charset="-122"/>
                <a:cs typeface="Segoe UI" pitchFamily="34" charset="-120"/>
              </a:rPr>
              <a:t>Live data feed with scheduled refresh &amp; signal alerts</a:t>
            </a:r>
            <a:endParaRPr lang="en-US" sz="1250" dirty="0"/>
          </a:p>
          <a:p>
            <a:pPr marL="203200" indent="-203200">
              <a:lnSpc>
                <a:spcPct val="102000"/>
              </a:lnSpc>
              <a:buSzPct val="100000"/>
              <a:buChar char="•"/>
            </a:pPr>
            <a:r>
              <a:rPr lang="en-US" sz="1250" dirty="0">
                <a:solidFill>
                  <a:srgbClr val="C8D6F4"/>
                </a:solidFill>
                <a:latin typeface="Segoe UI" pitchFamily="34" charset="0"/>
                <a:ea typeface="Segoe UI" pitchFamily="34" charset="-122"/>
                <a:cs typeface="Segoe UI" pitchFamily="34" charset="-120"/>
              </a:rPr>
              <a:t>Add fundamental &amp; news-sentiment features</a:t>
            </a:r>
            <a:endParaRPr lang="en-US" sz="1250" dirty="0"/>
          </a:p>
        </p:txBody>
      </p:sp>
      <p:sp>
        <p:nvSpPr>
          <p:cNvPr id="13" name="Text 11"/>
          <p:cNvSpPr/>
          <p:nvPr/>
        </p:nvSpPr>
        <p:spPr>
          <a:xfrm>
            <a:off x="548640" y="5257800"/>
            <a:ext cx="5486400" cy="457200"/>
          </a:xfrm>
          <a:prstGeom prst="rect">
            <a:avLst/>
          </a:prstGeom>
          <a:noFill/>
          <a:ln/>
        </p:spPr>
        <p:txBody>
          <a:bodyPr wrap="square" lIns="0" tIns="0" rIns="0" bIns="0" rtlCol="0" anchor="ctr"/>
          <a:lstStyle/>
          <a:p>
            <a:pPr marL="0" indent="0">
              <a:buNone/>
            </a:pPr>
            <a:r>
              <a:rPr lang="en-US" sz="2600" b="1" dirty="0">
                <a:solidFill>
                  <a:srgbClr val="FFFFFF"/>
                </a:solidFill>
                <a:latin typeface="Segoe UI Black" pitchFamily="34" charset="0"/>
                <a:ea typeface="Segoe UI Black" pitchFamily="34" charset="-122"/>
                <a:cs typeface="Segoe UI Black" pitchFamily="34" charset="-120"/>
              </a:rPr>
              <a:t>Thank you</a:t>
            </a:r>
            <a:endParaRPr lang="en-US" sz="2600" dirty="0"/>
          </a:p>
        </p:txBody>
      </p:sp>
      <p:sp>
        <p:nvSpPr>
          <p:cNvPr id="14" name="Text 12"/>
          <p:cNvSpPr/>
          <p:nvPr/>
        </p:nvSpPr>
        <p:spPr>
          <a:xfrm>
            <a:off x="548640" y="5760720"/>
            <a:ext cx="7315200" cy="310896"/>
          </a:xfrm>
          <a:prstGeom prst="rect">
            <a:avLst/>
          </a:prstGeom>
          <a:noFill/>
          <a:ln/>
        </p:spPr>
        <p:txBody>
          <a:bodyPr wrap="square" lIns="0" tIns="0" rIns="0" bIns="0" rtlCol="0" anchor="ctr"/>
          <a:lstStyle/>
          <a:p>
            <a:pPr marL="0" indent="0">
              <a:buNone/>
            </a:pPr>
            <a:r>
              <a:rPr lang="en-US" sz="1300" dirty="0">
                <a:solidFill>
                  <a:srgbClr val="C8D6F4"/>
                </a:solidFill>
                <a:latin typeface="Segoe UI" pitchFamily="34" charset="0"/>
                <a:ea typeface="Segoe UI" pitchFamily="34" charset="-122"/>
                <a:cs typeface="Segoe UI" pitchFamily="34" charset="-120"/>
              </a:rPr>
              <a:t>Muhammad Abdullah (Lead)  ·  Sheeraz  ·  Rabia</a:t>
            </a:r>
            <a:endParaRPr lang="en-US" sz="1300" dirty="0"/>
          </a:p>
        </p:txBody>
      </p:sp>
      <p:sp>
        <p:nvSpPr>
          <p:cNvPr id="15" name="Text 13"/>
          <p:cNvSpPr/>
          <p:nvPr/>
        </p:nvSpPr>
        <p:spPr>
          <a:xfrm>
            <a:off x="8899855" y="5440680"/>
            <a:ext cx="2743200" cy="457200"/>
          </a:xfrm>
          <a:prstGeom prst="rect">
            <a:avLst/>
          </a:prstGeom>
          <a:noFill/>
          <a:ln/>
        </p:spPr>
        <p:txBody>
          <a:bodyPr wrap="square" lIns="0" tIns="0" rIns="0" bIns="0" rtlCol="0" anchor="ctr"/>
          <a:lstStyle/>
          <a:p>
            <a:pPr marL="0" indent="0" algn="r">
              <a:buNone/>
            </a:pPr>
            <a:r>
              <a:rPr lang="en-US" sz="2000" b="1" dirty="0">
                <a:solidFill>
                  <a:srgbClr val="FFB703"/>
                </a:solidFill>
                <a:latin typeface="Segoe UI Semibold" pitchFamily="34" charset="0"/>
                <a:ea typeface="Segoe UI Semibold" pitchFamily="34" charset="-122"/>
                <a:cs typeface="Segoe UI Semibold" pitchFamily="34" charset="-120"/>
              </a:rPr>
              <a:t>Questions?</a:t>
            </a:r>
            <a:endParaRPr lang="en-US" sz="2000" dirty="0"/>
          </a:p>
        </p:txBody>
      </p:sp>
      <p:sp>
        <p:nvSpPr>
          <p:cNvPr id="16" name="Shape 14"/>
          <p:cNvSpPr/>
          <p:nvPr/>
        </p:nvSpPr>
        <p:spPr>
          <a:xfrm>
            <a:off x="7345375" y="5943600"/>
            <a:ext cx="688294" cy="310896"/>
          </a:xfrm>
          <a:prstGeom prst="roundRect">
            <a:avLst>
              <a:gd name="adj" fmla="val 26471"/>
            </a:avLst>
          </a:prstGeom>
          <a:solidFill>
            <a:srgbClr val="18244C"/>
          </a:solidFill>
          <a:ln w="12700">
            <a:solidFill>
              <a:srgbClr val="333333"/>
            </a:solidFill>
            <a:prstDash val="solid"/>
          </a:ln>
        </p:spPr>
      </p:sp>
      <p:sp>
        <p:nvSpPr>
          <p:cNvPr id="17" name="Text 15"/>
          <p:cNvSpPr/>
          <p:nvPr/>
        </p:nvSpPr>
        <p:spPr>
          <a:xfrm>
            <a:off x="7345375" y="5943600"/>
            <a:ext cx="688294" cy="310896"/>
          </a:xfrm>
          <a:prstGeom prst="rect">
            <a:avLst/>
          </a:prstGeom>
          <a:noFill/>
          <a:ln/>
        </p:spPr>
        <p:txBody>
          <a:bodyPr wrap="square" lIns="0" tIns="0" rIns="0" bIns="0" rtlCol="0" anchor="ctr"/>
          <a:lstStyle/>
          <a:p>
            <a:pPr marL="0" indent="0" algn="ctr">
              <a:buNone/>
            </a:pPr>
            <a:r>
              <a:rPr lang="en-US" sz="1000" b="1" dirty="0">
                <a:solidFill>
                  <a:srgbClr val="C8D6F4"/>
                </a:solidFill>
                <a:latin typeface="Segoe UI" pitchFamily="34" charset="0"/>
                <a:ea typeface="Segoe UI" pitchFamily="34" charset="-122"/>
                <a:cs typeface="Segoe UI" pitchFamily="34" charset="-120"/>
              </a:rPr>
              <a:t>Python</a:t>
            </a:r>
            <a:endParaRPr lang="en-US" sz="1000" dirty="0"/>
          </a:p>
        </p:txBody>
      </p:sp>
      <p:sp>
        <p:nvSpPr>
          <p:cNvPr id="18" name="Shape 16"/>
          <p:cNvSpPr/>
          <p:nvPr/>
        </p:nvSpPr>
        <p:spPr>
          <a:xfrm>
            <a:off x="8143397" y="5943600"/>
            <a:ext cx="1102268" cy="310896"/>
          </a:xfrm>
          <a:prstGeom prst="roundRect">
            <a:avLst>
              <a:gd name="adj" fmla="val 26471"/>
            </a:avLst>
          </a:prstGeom>
          <a:solidFill>
            <a:srgbClr val="18244C"/>
          </a:solidFill>
          <a:ln w="12700">
            <a:solidFill>
              <a:srgbClr val="333333"/>
            </a:solidFill>
            <a:prstDash val="solid"/>
          </a:ln>
        </p:spPr>
      </p:sp>
      <p:sp>
        <p:nvSpPr>
          <p:cNvPr id="19" name="Text 17"/>
          <p:cNvSpPr/>
          <p:nvPr/>
        </p:nvSpPr>
        <p:spPr>
          <a:xfrm>
            <a:off x="8143397" y="5943600"/>
            <a:ext cx="1102268" cy="310896"/>
          </a:xfrm>
          <a:prstGeom prst="rect">
            <a:avLst/>
          </a:prstGeom>
          <a:noFill/>
          <a:ln/>
        </p:spPr>
        <p:txBody>
          <a:bodyPr wrap="square" lIns="0" tIns="0" rIns="0" bIns="0" rtlCol="0" anchor="ctr"/>
          <a:lstStyle/>
          <a:p>
            <a:pPr marL="0" indent="0" algn="ctr">
              <a:buNone/>
            </a:pPr>
            <a:r>
              <a:rPr lang="en-US" sz="1000" b="1" dirty="0">
                <a:solidFill>
                  <a:srgbClr val="C8D6F4"/>
                </a:solidFill>
                <a:latin typeface="Segoe UI" pitchFamily="34" charset="0"/>
                <a:ea typeface="Segoe UI" pitchFamily="34" charset="-122"/>
                <a:cs typeface="Segoe UI" pitchFamily="34" charset="-120"/>
              </a:rPr>
              <a:t>scikit-learn</a:t>
            </a:r>
            <a:endParaRPr lang="en-US" sz="1000" dirty="0"/>
          </a:p>
        </p:txBody>
      </p:sp>
      <p:sp>
        <p:nvSpPr>
          <p:cNvPr id="20" name="Shape 18"/>
          <p:cNvSpPr/>
          <p:nvPr/>
        </p:nvSpPr>
        <p:spPr>
          <a:xfrm>
            <a:off x="9355393" y="5943600"/>
            <a:ext cx="826285" cy="310896"/>
          </a:xfrm>
          <a:prstGeom prst="roundRect">
            <a:avLst>
              <a:gd name="adj" fmla="val 26471"/>
            </a:avLst>
          </a:prstGeom>
          <a:solidFill>
            <a:srgbClr val="18244C"/>
          </a:solidFill>
          <a:ln w="12700">
            <a:solidFill>
              <a:srgbClr val="333333"/>
            </a:solidFill>
            <a:prstDash val="solid"/>
          </a:ln>
        </p:spPr>
      </p:sp>
      <p:sp>
        <p:nvSpPr>
          <p:cNvPr id="21" name="Text 19"/>
          <p:cNvSpPr/>
          <p:nvPr/>
        </p:nvSpPr>
        <p:spPr>
          <a:xfrm>
            <a:off x="9355393" y="5943600"/>
            <a:ext cx="826285" cy="310896"/>
          </a:xfrm>
          <a:prstGeom prst="rect">
            <a:avLst/>
          </a:prstGeom>
          <a:noFill/>
          <a:ln/>
        </p:spPr>
        <p:txBody>
          <a:bodyPr wrap="square" lIns="0" tIns="0" rIns="0" bIns="0" rtlCol="0" anchor="ctr"/>
          <a:lstStyle/>
          <a:p>
            <a:pPr marL="0" indent="0" algn="ctr">
              <a:buNone/>
            </a:pPr>
            <a:r>
              <a:rPr lang="en-US" sz="1000" b="1" dirty="0">
                <a:solidFill>
                  <a:srgbClr val="C8D6F4"/>
                </a:solidFill>
                <a:latin typeface="Segoe UI" pitchFamily="34" charset="0"/>
                <a:ea typeface="Segoe UI" pitchFamily="34" charset="-122"/>
                <a:cs typeface="Segoe UI" pitchFamily="34" charset="-120"/>
              </a:rPr>
              <a:t>LightGBM</a:t>
            </a:r>
            <a:endParaRPr lang="en-US" sz="1000" dirty="0"/>
          </a:p>
        </p:txBody>
      </p:sp>
      <p:sp>
        <p:nvSpPr>
          <p:cNvPr id="22" name="Shape 20"/>
          <p:cNvSpPr/>
          <p:nvPr/>
        </p:nvSpPr>
        <p:spPr>
          <a:xfrm>
            <a:off x="10291406" y="5943600"/>
            <a:ext cx="895281" cy="310896"/>
          </a:xfrm>
          <a:prstGeom prst="roundRect">
            <a:avLst>
              <a:gd name="adj" fmla="val 26471"/>
            </a:avLst>
          </a:prstGeom>
          <a:solidFill>
            <a:srgbClr val="18244C"/>
          </a:solidFill>
          <a:ln w="12700">
            <a:solidFill>
              <a:srgbClr val="333333"/>
            </a:solidFill>
            <a:prstDash val="solid"/>
          </a:ln>
        </p:spPr>
      </p:sp>
      <p:sp>
        <p:nvSpPr>
          <p:cNvPr id="23" name="Text 21"/>
          <p:cNvSpPr/>
          <p:nvPr/>
        </p:nvSpPr>
        <p:spPr>
          <a:xfrm>
            <a:off x="10291406" y="5943600"/>
            <a:ext cx="895281" cy="310896"/>
          </a:xfrm>
          <a:prstGeom prst="rect">
            <a:avLst/>
          </a:prstGeom>
          <a:noFill/>
          <a:ln/>
        </p:spPr>
        <p:txBody>
          <a:bodyPr wrap="square" lIns="0" tIns="0" rIns="0" bIns="0" rtlCol="0" anchor="ctr"/>
          <a:lstStyle/>
          <a:p>
            <a:pPr marL="0" indent="0" algn="ctr">
              <a:buNone/>
            </a:pPr>
            <a:r>
              <a:rPr lang="en-US" sz="1000" b="1" dirty="0">
                <a:solidFill>
                  <a:srgbClr val="C8D6F4"/>
                </a:solidFill>
                <a:latin typeface="Segoe UI" pitchFamily="34" charset="0"/>
                <a:ea typeface="Segoe UI" pitchFamily="34" charset="-122"/>
                <a:cs typeface="Segoe UI" pitchFamily="34" charset="-120"/>
              </a:rPr>
              <a:t>Streamlit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4035</Words>
  <Application>Microsoft Office PowerPoint</Application>
  <PresentationFormat>Widescreen</PresentationFormat>
  <Paragraphs>442</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PSX ML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PSX Stock Buy/Sell Signal Prediction System</dc:title>
  <dc:subject>PptxGenJS Presentation</dc:subject>
  <dc:creator>Team Abdullah · Sheeraz · Rabia</dc:creator>
  <cp:lastModifiedBy>Abdullah</cp:lastModifiedBy>
  <cp:revision>88</cp:revision>
  <dcterms:created xsi:type="dcterms:W3CDTF">2026-06-03T15:44:46Z</dcterms:created>
  <dcterms:modified xsi:type="dcterms:W3CDTF">2026-06-04T09:34:30Z</dcterms:modified>
</cp:coreProperties>
</file>